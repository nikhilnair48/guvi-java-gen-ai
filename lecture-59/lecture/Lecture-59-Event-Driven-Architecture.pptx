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f285e8ca5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bf285e8ca5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f285e8ca5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285e8ca5_2_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bf285e8ca5_2_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bf285e8ca5_2_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285e8ca5_0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bf285e8ca5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285e8ca5_2_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f285e8ca5_2_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bf285e8ca5_2_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f285e8ca5_2_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bf285e8ca5_2_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f285e8ca5_2_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f285e8ca5_2_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bf285e8ca5_2_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f285e8ca5_2_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285e8ca5_2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f285e8ca5_2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f285e8ca5_2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f285e8ca5_2_8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f285e8ca5_2_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f285e8ca5_2_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f285e8ca5_2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bf285e8ca5_2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f285e8ca5_2_1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285e8ca5_2_1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bf285e8ca5_2_1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f285e8ca5_2_1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f285e8ca5_2_1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f285e8ca5_2_1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f285e8ca5_2_1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f285e8ca5_2_1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f285e8ca5_2_1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bf285e8ca5_2_1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f285e8ca5_2_1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bf285e8ca5_2_1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bf285e8ca5_2_1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f285e8ca5_2_1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bf285e8ca5_2_1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f285e8ca5_2_1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f285e8ca5_2_1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f285e8ca5_2_1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bf285e8ca5_2_17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f285e8ca5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bf285e8ca5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bf285e8ca5_2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f285e8ca5_0_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f285e8ca5_0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f285e8ca5_2_20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bf285e8ca5_2_20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bf285e8ca5_2_20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f285e8ca5_2_2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f285e8ca5_2_2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f285e8ca5_2_2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f285e8ca5_2_2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bf285e8ca5_2_2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bf285e8ca5_2_2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f285e8ca5_2_2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bf285e8ca5_2_2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f285e8ca5_2_2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f285e8ca5_2_2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bf285e8ca5_2_2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bf285e8ca5_2_2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f285e8ca5_0_1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f285e8ca5_0_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f285e8ca5_2_27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bf285e8ca5_2_2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bf285e8ca5_2_27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f285e8ca5_2_2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bf285e8ca5_2_2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bf285e8ca5_2_2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85e8ca5_2_2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bf285e8ca5_2_2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bf285e8ca5_2_2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85e8ca5_2_2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bf285e8ca5_2_2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bf285e8ca5_2_2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85e8ca5_2_3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bf285e8ca5_2_3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f285e8ca5_2_3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f285e8ca5_0_1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f285e8ca5_0_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f285e8ca5_2_3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bf285e8ca5_2_3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bf285e8ca5_2_3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f285e8ca5_2_3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bf285e8ca5_2_3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bf285e8ca5_2_3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f285e8ca5_2_3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f285e8ca5_2_3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bf285e8ca5_2_3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85e8ca5_2_3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bf285e8ca5_2_3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bf285e8ca5_2_3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f285e8ca5_2_3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bf285e8ca5_2_3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bf285e8ca5_2_3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f285e8ca5_2_37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bf285e8ca5_2_37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bf285e8ca5_2_37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f285e8ca5_2_3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bf285e8ca5_2_3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bf285e8ca5_2_3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85e8ca5_2_3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bf285e8ca5_2_3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bf285e8ca5_2_3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85e8ca5_2_4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bf285e8ca5_2_4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bf285e8ca5_2_4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85e8ca5_0_2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bf285e8ca5_0_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85e8ca5_2_4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bf285e8ca5_2_4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bf285e8ca5_2_4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f285e8ca5_2_4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bf285e8ca5_2_4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bf285e8ca5_2_4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f285e8ca5_2_4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bf285e8ca5_2_4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bf285e8ca5_2_4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f285e8ca5_2_4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bf285e8ca5_2_4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bf285e8ca5_2_4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f285e8ca5_2_4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bf285e8ca5_2_4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bf285e8ca5_2_4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bf285e8ca5_2_4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bf285e8ca5_2_4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bf285e8ca5_2_4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f285e8ca5_2_5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bf285e8ca5_2_5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bf285e8ca5_2_5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f285e8ca5_2_5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bf285e8ca5_2_5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bf285e8ca5_2_5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f285e8ca5_2_52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bf285e8ca5_2_52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bf285e8ca5_2_52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85e8ca5_0_3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bf285e8ca5_0_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85e8ca5_2_5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bf285e8ca5_2_5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bf285e8ca5_2_5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85e8ca5_2_5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bf285e8ca5_2_5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bf285e8ca5_2_5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f285e8ca5_2_5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bf285e8ca5_2_5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bf285e8ca5_2_5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f285e8ca5_2_5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bf285e8ca5_2_5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bf285e8ca5_2_57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f285e8ca5_2_58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bf285e8ca5_2_58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bf285e8ca5_2_58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bf285e8ca5_2_5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3bf285e8ca5_2_5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bf285e8ca5_2_5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Eventual_consistency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82930" y="822960"/>
            <a:ext cx="79779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SDE with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582930" y="1371600"/>
            <a:ext cx="797791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Event-Driven Architecture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82930" y="2057400"/>
            <a:ext cx="79779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Kafka and ZooKeeper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82930" y="2640330"/>
            <a:ext cx="2194560" cy="8229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582930" y="2914650"/>
            <a:ext cx="7977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Roadmap Day 47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82930" y="462915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Presented by Nikhil Nair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Today Plan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Define monolith and microservices using our Spring Boot project as the reference.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Define synchronous and asynchronous communication with concrete API examples.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Understand Kafka basics needed for producers, consumers, topics, offsets, and groups.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local install and startup of ZooKeeper and Kafka, then CLI produce and consume.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Live coding: Java producer and consumer for topic guvi.events with key:value messages.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Warm Up Quiz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Answer multiple choice questions. Reply format: 1 / 2 / 3 /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Topics: OpenAPI, Swagger UI, Postman auth, headers, environment 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Goal: refresh testing fundamentals before we introduce async systems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Swagger Purpose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What is the main purpose of OpenAPI and Swagger in our backend project?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Generate UI for database tables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Document endpoints and contracts for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Speed up MongoDB queries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Replace Postman completely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Swagger Purpose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What is the main purpose of OpenAPI and Swagger in our backend project?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Generate UI for database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Document endpoints and contracts for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Speed up MongoDB queries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Replace Postman completely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 defines the API contract so humans and tools know what to send and what to expect.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It reduces guesswork during testing by documenting inputs, outputs, and errors.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Swagger Artifact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When you open Swagger UI, what are you actually reading?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A live database dump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The OpenAPI specification for your endpoints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The Maven dependency tree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The Spring Security filter chain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Swagger Artifact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When you open Swagger UI, what are you actually reading?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A live database dump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The OpenAPI specification for your endpoints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The Maven dependency tree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The Spring Security filter chain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Swagger UI is a viewer that renders the OpenAPI spec into a readable page.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spec describes routes, request fields, response fields, and status codes.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401 in Postman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 call GET /api/courses and get 401 in Postman. What is most likely missing?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Query param size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Authorization header with credentials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Content Type header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Response body schema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401 in Postman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 call GET /api/courses and get 401 in Postman. What is most likely missing?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Query param 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Authorization header with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Content Type header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Response body schema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401 means the server did not receive valid credentials for a protected endpoint.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Adding valid auth is required before the controller logic runs.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Basic Auth Header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 Basic Auth, what does Postman send in the request?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A JWT token in the body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Username and password encoded in the Authorization header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A session id cookie generated by MongoDB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A random API key from Swagger 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Basic Auth Header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 Basic Auth, what does Postman send in the request?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A JWT token in the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Username and password encoded in the Authorization header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A session id cookie generated by 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A random API key from Swagger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Basic Auth is transmitted through the Authorization header, not the JSON body.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Postman formats it for you when you choose Basic Auth in the Authorization tab.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Environment Variables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Your teammate’s Postman collection works, yours fails. What should you check first?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Rename the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Verify environment variables like url and credentials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Delete the collection and import again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Restart MongoDB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Environment Variables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Your teammate’s Postman collection works, yours fails. What should you check first?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Rename the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Verify environment variables like url and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Delete the collection and import again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Restart 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If base URL or saved credential variables are wrong, every request can fail.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Fixing environment values is faster than changing requests.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Fast Verification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9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After a Postman request, what is the quickest reliable proof it worked?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The response looks long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Status code matches expectation and key fields are present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The request name is green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The console has no logs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Fast Verification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"/>
          <p:cNvSpPr/>
          <p:nvPr/>
        </p:nvSpPr>
        <p:spPr>
          <a:xfrm>
            <a:off x="651498" y="1289300"/>
            <a:ext cx="7840800" cy="4458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After a Postman request, what is the quickest reliable proof it worked?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651510" y="1748790"/>
            <a:ext cx="7840751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The response looks long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Status code matches expectation and key fields are present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The request name is green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The console has no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Status code confirms the outcome and key fields confirm the response shape.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“Looks fine” is unreliable without those two checks.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Monolith vs Microservices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What Is a Monolith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651504" y="1337300"/>
            <a:ext cx="48498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monolith is a single backend application that contains many features in one codebase and runs as one server process.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Inside a monolith, features call each other using normal method calls, not network calls.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monolith usually uses one shared database for the whole application, so data access is centralized.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Myth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Monoliths are the </a:t>
            </a:r>
            <a:r>
              <a:rPr i="1"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way of building software. 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 at all - a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monolith 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remains an effective way to 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build software, given project specific modifications.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754" y="1798208"/>
            <a:ext cx="3337896" cy="2472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Monolith in Our Code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3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One Spring Boot application starts from one main class and runs on one port.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Multiple features live in the same server: students, courses, enrollments, and authentication.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These features are organized as controllers, services, and repositories, but still run in the same JVM.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When EnrollmentService needs Student info, it reads from the same database, not from a remote service.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is why our application feels like one system. Everything is inside one running app.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4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What Are Microservices?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"/>
          <p:cNvSpPr/>
          <p:nvPr/>
        </p:nvSpPr>
        <p:spPr>
          <a:xfrm>
            <a:off x="651500" y="1337300"/>
            <a:ext cx="4796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Microservices split a system into multiple small backend applications, each focused on one capability.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Each microservice runs as its own server process, has its own deployment, and can fail independently.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Microservices communicate over the network, so failures and delays are normal and must be handled by design.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realistic split for our project: Students Service, Courses Service, Enrollments Service, Auth Service.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Microservices are not folders. They are separate applications that talk to each other.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2050" y="2180325"/>
            <a:ext cx="3070251" cy="17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5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When Microservices Help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5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Multiple teams can release independently because each team owns one service boundary.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 can scale only the hot part of the system instead of scaling everything together.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Failure isolation improves because one service crash does not automatically kill all features.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Integrations become easier because you can add consumers or services without rewriting the core app.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Microservices help when your system and organization grow. They are not required for every product.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When Microservices Hurt?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6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More network calls means more latency and more failure cases than in-process method calls.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Debugging becomes harder because one user action can touch many services, logs, and data stores.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Testing becomes harder because you must test not only services, but also service-to-service failures.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 modeling becomes harder because you lose the simple “single database” view.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Microservices have real costs. Choose them when benefits outweigh overhead.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Synchronous vs Asynchronous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Synchronous Communication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8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Synchronous communication means Service A sends a request to Service B and waits for a response.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caller cannot finish until the callee returns success or failure, so the user experience depends on the slowest dependency.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If the dependency is slow or down, the caller may time out or return an error, which can cascade failures.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Example: Postman calls a protected endpoint and waits for 200 or 401 before it can move 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Think of it like a phone call: you ask a question and stay on the call until you hear the answer.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Asynchronous Communication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9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Asynchronous communication means Service A sends a message or event and does not wait for downstream work to finish.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message is stored in a broker so consumers can process later, retry safely, and scale independently.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main request returns after saving core data, while extra work happens in the background.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Example: enrollment API saves enrollment and publishes EnrollmentCreated, notification consumer sends email later.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Think of it like a courier drop: you hand off the parcel and do not wait for delivery.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0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Use Cases for </a:t>
            </a:r>
            <a:r>
              <a:rPr b="1" lang="en" sz="26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Asynchronous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0"/>
          <p:cNvSpPr/>
          <p:nvPr/>
        </p:nvSpPr>
        <p:spPr>
          <a:xfrm>
            <a:off x="651500" y="1337300"/>
            <a:ext cx="7840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Async is useful when the main request should finish quickly and extra work can happen after core data is saved.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Notifications: when a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enrollment is </a:t>
            </a: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send an email or SMS.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Audit logs: record important events without slowing down the API response.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Background jobs: exports, reports, heavy computations, and sync jobs run after the response.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Fan out: one event triggers multiple consumers such as audit, analytics, and notifications.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525" y="3015500"/>
            <a:ext cx="4492726" cy="17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1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1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1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Sync vs Async Tradeoffs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1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Sync is easier to reason about but tightly couples services and makes failures spread faster.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Async reduces coupling and supports fan out, but introduces </a:t>
            </a:r>
            <a:r>
              <a:rPr b="0" i="0" lang="en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eventual consistency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because results may arrive later.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Eventual consistency means that changes don’t instantly appear everywhere, but given enough time, all copies will reflect the same value. Eg: when you send a bank transfer: your account shows the deduction right away, but the recipient’s balance may take a little while to reflect the change.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Async requires handling retries and duplicates because the same message can be delivered more than once.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Rule of thumb: sync when the user needs an immediate answer, async when work can complete after the main transaction.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Today we learn mechanics with Kafka. Reliability patterns come in the next sessions.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2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2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2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2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Scenario Check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2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2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Enrollment created, then send email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Answer: async, because email can happen after enrollment is saved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Payment status check during checkout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Answer: sync, because user needs an immediate yes or 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Generate a report and send a link later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Answer: async, because it is heavy work and can complete later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Driven Architecture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4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4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4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Event Driven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4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4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Event-driven architecture means systems publish events that represent facts, instead of calling each other for every step.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An event is something that happened: EnrollmentCreated, CourseUpdated, PasswordChanged.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 such an architecture, </a:t>
            </a:r>
            <a:r>
              <a:rPr i="1"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1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roducers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publish events without knowing </a:t>
            </a:r>
            <a:r>
              <a:rPr b="0" i="1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consumers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which reduces </a:t>
            </a:r>
            <a:r>
              <a:rPr b="0" i="1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coupling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and makes the system easier to extend.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Consumers subscribe and react when ready, supporting retries and scaling under load.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we’ll learn about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Kafka, which stores, delivers, and lets us replay these events reliably.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5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5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5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Event Flow Example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5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5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Consider a scenario: sending a notification after successfully enrolling a student.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How does this work in an event driven scenario?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Step 1: EnrollmentController saves enrollment using EnrollmentService and EnrollmentRepository.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Step 2: After saving, publish EnrollmentCreated to Kafka on a topic.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Step 3: Notification service consumes and sends email without blocking the enrollment API.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Step 4: Audit service consumes the same event and writes an audit log.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API stays fast and new consumers can be added without changing the producer.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Producer and Consumer Roles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6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Roles &amp; Responsibilities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Producer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publish the right event to the right topic with enough data for consumers.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process events safely, retry on failure, and avoid incorrect duplicates.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benefit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dd a new consumer like analytics without changing the producer code.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Keep this mental model when we integrate Kafka into Spring Boot later.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7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7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Kafka and ZooKeeper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651500" y="1337306"/>
            <a:ext cx="7840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Kafka is a broker that stores events and delivers them to consumers using topics.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ZooKeeper is required for today’s local setup mode and must be started before Kafka.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 will prove Kafka works using CLI tools, then write Java code that produces and consumes messages.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47"/>
          <p:cNvPicPr preferRelativeResize="0"/>
          <p:nvPr/>
        </p:nvPicPr>
        <p:blipFill rotWithShape="1">
          <a:blip r:embed="rId3">
            <a:alphaModFix/>
          </a:blip>
          <a:srcRect b="22530" l="0" r="0" t="14429"/>
          <a:stretch/>
        </p:blipFill>
        <p:spPr>
          <a:xfrm>
            <a:off x="2677189" y="2922250"/>
            <a:ext cx="3789400" cy="13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Broker and Topic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8"/>
          <p:cNvSpPr/>
          <p:nvPr/>
        </p:nvSpPr>
        <p:spPr>
          <a:xfrm>
            <a:off x="651500" y="1337300"/>
            <a:ext cx="43992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Broker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the Kafka server that stores events and serves producers and consumers.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named stream of events, like guvi.events, that producers write to and consumers read from.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Think of a topic as a shared channel name for one kind of event flow.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 our demo, producer and consumer meet through the topic, not by calling each other directly.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48"/>
          <p:cNvPicPr preferRelativeResize="0"/>
          <p:nvPr/>
        </p:nvPicPr>
        <p:blipFill rotWithShape="1">
          <a:blip r:embed="rId3">
            <a:alphaModFix/>
          </a:blip>
          <a:srcRect b="21180" l="0" r="0" t="7334"/>
          <a:stretch/>
        </p:blipFill>
        <p:spPr>
          <a:xfrm>
            <a:off x="5301825" y="1859800"/>
            <a:ext cx="3489599" cy="20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Partition, Offset, Consumer Group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9"/>
          <p:cNvSpPr/>
          <p:nvPr/>
        </p:nvSpPr>
        <p:spPr>
          <a:xfrm>
            <a:off x="651500" y="1337292"/>
            <a:ext cx="49818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topic is split into partitions so Kafka can scale and process events in parallel.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Offset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each event in a partition has a position number; consumers use offsets to track progress and replay.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 group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set of consumers that share work so messages are balanced across instances.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groups means fan out: each group gets its own copy of the events.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○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Microservice mapping: notification and audit are different groups reading the same topic.</a:t>
            </a:r>
            <a:endParaRPr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These three ideas decide scaling, replay, and fan out in microservice systems.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300" y="2234925"/>
            <a:ext cx="3262873" cy="17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0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0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0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Partitions </a:t>
            </a:r>
            <a:r>
              <a:rPr b="1" lang="en" sz="26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(contd.)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0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0"/>
          <p:cNvSpPr/>
          <p:nvPr/>
        </p:nvSpPr>
        <p:spPr>
          <a:xfrm>
            <a:off x="651500" y="1337306"/>
            <a:ext cx="78408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Topics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are where producers publish and consumers subscribe.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Partitions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allow parallel reading because different consumers can read different partitions.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Ordering is guaranteed only within a partition, not across the whole topic.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For today, we use one partition so behavior is predictable.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3" name="Google Shape;4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4713" y="2728481"/>
            <a:ext cx="4674350" cy="1861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1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1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1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1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Offsets</a:t>
            </a:r>
            <a:r>
              <a:rPr b="1" lang="en" sz="26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(contd.)</a:t>
            </a:r>
            <a:endParaRPr b="1" sz="2600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1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1"/>
          <p:cNvSpPr/>
          <p:nvPr/>
        </p:nvSpPr>
        <p:spPr>
          <a:xfrm>
            <a:off x="651500" y="1337306"/>
            <a:ext cx="784080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Offsets enable replay and progress tracking: consumers store the last offset they processed.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From beginning means start from the earliest offset and replay the history.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Restarting a consumer uses offsets to continue where it left off, depending on group and config.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Offsets are why Kafka is useful for event history, not just real-time delivery.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275" y="2785613"/>
            <a:ext cx="27432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2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2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2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2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ZooKeeper Role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2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2"/>
          <p:cNvSpPr/>
          <p:nvPr/>
        </p:nvSpPr>
        <p:spPr>
          <a:xfrm>
            <a:off x="651500" y="1337305"/>
            <a:ext cx="78408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ZooKeeper stores coordination information used by Kafka in this mode.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Kafka relies on ZooKeeper being available, which is why ZooKeeper must start first and stay running.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If ZooKeeper stops, Kafka may fail to operate correctly or fail on restarts.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Treat ZooKeeper as a required dependency today.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3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Installation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4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4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4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Local Setup Goal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4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4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start ZooKeeper and Kafka locally in ZooKeeper mode.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create topic guvi.events.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prove it works using console producer and console consumer.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Evidence: capture one proof (topic list output or consumer output).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5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5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5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55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5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Install Checklist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5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5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Java installed and java -version works.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Kafka distribution installed or extracted on your machine.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Two terminals ready: one for ZooKeeper and one for Kafka.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Ports free: 2181 for ZooKeeper, 9092 for Kafka.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Start ZooKeeper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6"/>
          <p:cNvSpPr/>
          <p:nvPr/>
        </p:nvSpPr>
        <p:spPr>
          <a:xfrm>
            <a:off x="514350" y="1062990"/>
            <a:ext cx="754380" cy="24003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6"/>
          <p:cNvSpPr/>
          <p:nvPr/>
        </p:nvSpPr>
        <p:spPr>
          <a:xfrm>
            <a:off x="514350" y="1097280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6"/>
          <p:cNvSpPr/>
          <p:nvPr/>
        </p:nvSpPr>
        <p:spPr>
          <a:xfrm>
            <a:off x="651510" y="1337310"/>
            <a:ext cx="7840751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start ZooKeeper and keep this terminal running for the entire class.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Success signal: process stays running and does not exit with an error.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6"/>
          <p:cNvSpPr/>
          <p:nvPr/>
        </p:nvSpPr>
        <p:spPr>
          <a:xfrm>
            <a:off x="651510" y="3120390"/>
            <a:ext cx="7840751" cy="168021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t" bIns="2375" lIns="2375" spcFirstLastPara="1" rIns="2375" wrap="square" tIns="2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Terminal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bin/zookeeper-server-start.sh config/zookeeper.properties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7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7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7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7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Start Kafka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7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7"/>
          <p:cNvSpPr/>
          <p:nvPr/>
        </p:nvSpPr>
        <p:spPr>
          <a:xfrm>
            <a:off x="514350" y="1062990"/>
            <a:ext cx="754380" cy="24003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7"/>
          <p:cNvSpPr/>
          <p:nvPr/>
        </p:nvSpPr>
        <p:spPr>
          <a:xfrm>
            <a:off x="514350" y="1097280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7"/>
          <p:cNvSpPr/>
          <p:nvPr/>
        </p:nvSpPr>
        <p:spPr>
          <a:xfrm>
            <a:off x="651510" y="1337310"/>
            <a:ext cx="7840751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start Kafka broker after ZooKeeper is running.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Success signal: broker stays running and CLI commands can connect.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651510" y="3120390"/>
            <a:ext cx="7840751" cy="168021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t" bIns="2375" lIns="2375" spcFirstLastPara="1" rIns="2375" wrap="square" tIns="2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Terminal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bin/kafka-server-start.sh config/server.properties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Create Topic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8"/>
          <p:cNvSpPr/>
          <p:nvPr/>
        </p:nvSpPr>
        <p:spPr>
          <a:xfrm>
            <a:off x="514350" y="1062990"/>
            <a:ext cx="754380" cy="24003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8"/>
          <p:cNvSpPr/>
          <p:nvPr/>
        </p:nvSpPr>
        <p:spPr>
          <a:xfrm>
            <a:off x="514350" y="1097280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8"/>
          <p:cNvSpPr/>
          <p:nvPr/>
        </p:nvSpPr>
        <p:spPr>
          <a:xfrm>
            <a:off x="651510" y="1337310"/>
            <a:ext cx="7840751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create topic guvi.events with one partition and replication factor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list topics and confirm guvi.events exists.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8"/>
          <p:cNvSpPr/>
          <p:nvPr/>
        </p:nvSpPr>
        <p:spPr>
          <a:xfrm>
            <a:off x="651510" y="3120390"/>
            <a:ext cx="7840751" cy="168021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t" bIns="2375" lIns="2375" spcFirstLastPara="1" rIns="2375" wrap="square" tIns="2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bin/kafka-topics.sh --bootstrap-server localhost:9092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--create --topic guvi.events --partitions 1 --replication-factor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bin/kafka-topics.sh --bootstrap-server localhost:9092 --list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Console Producer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9"/>
          <p:cNvSpPr/>
          <p:nvPr/>
        </p:nvSpPr>
        <p:spPr>
          <a:xfrm>
            <a:off x="514350" y="1062990"/>
            <a:ext cx="754380" cy="24003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9"/>
          <p:cNvSpPr/>
          <p:nvPr/>
        </p:nvSpPr>
        <p:spPr>
          <a:xfrm>
            <a:off x="514350" y="1097280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9"/>
          <p:cNvSpPr/>
          <p:nvPr/>
        </p:nvSpPr>
        <p:spPr>
          <a:xfrm>
            <a:off x="651510" y="1337310"/>
            <a:ext cx="7840751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start producer for guvi.events and type three key:value messages.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Tip: use your name as the key so you can identify your messages.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9"/>
          <p:cNvSpPr/>
          <p:nvPr/>
        </p:nvSpPr>
        <p:spPr>
          <a:xfrm>
            <a:off x="651510" y="3120390"/>
            <a:ext cx="7840751" cy="168021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t" bIns="2375" lIns="2375" spcFirstLastPara="1" rIns="2375" wrap="square" tIns="2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bin/kafka-console-producer.sh --bootstrap-server localhost:9092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--topic guvi.events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--property "parse.key=true" --property "key.separator=:"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Type messages like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nikhil:hello-1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0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0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0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0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0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Console Consumer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0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0"/>
          <p:cNvSpPr/>
          <p:nvPr/>
        </p:nvSpPr>
        <p:spPr>
          <a:xfrm>
            <a:off x="514350" y="1062990"/>
            <a:ext cx="754380" cy="24003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60"/>
          <p:cNvSpPr/>
          <p:nvPr/>
        </p:nvSpPr>
        <p:spPr>
          <a:xfrm>
            <a:off x="514350" y="1097280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0"/>
          <p:cNvSpPr/>
          <p:nvPr/>
        </p:nvSpPr>
        <p:spPr>
          <a:xfrm>
            <a:off x="651510" y="1337310"/>
            <a:ext cx="7840751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start consumer and read messages from the beginning.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Expected: you see key and value printed for the messages you produced.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60"/>
          <p:cNvSpPr/>
          <p:nvPr/>
        </p:nvSpPr>
        <p:spPr>
          <a:xfrm>
            <a:off x="651510" y="3120390"/>
            <a:ext cx="7840751" cy="168021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5400">
              <a:srgbClr val="000000">
                <a:alpha val="25098"/>
              </a:srgbClr>
            </a:outerShdw>
          </a:effectLst>
        </p:spPr>
        <p:txBody>
          <a:bodyPr anchorCtr="0" anchor="t" bIns="2375" lIns="2375" spcFirstLastPara="1" rIns="2375" wrap="square" tIns="2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bin/kafka-console-consumer.sh --bootstrap-server localhost:9092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--topic guvi.events --from-beginning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--property print.key=true --property key.separator=" | 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1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1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1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1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1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Setup </a:t>
            </a:r>
            <a:r>
              <a:rPr b="1" lang="en" sz="26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1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1"/>
          <p:cNvSpPr/>
          <p:nvPr/>
        </p:nvSpPr>
        <p:spPr>
          <a:xfrm>
            <a:off x="651500" y="1337304"/>
            <a:ext cx="7840800" cy="1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 exists: kafka-topics --list includes guvi.events.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Producer sends messages without error.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 prints messages, including earlier messages with from-beginning.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If you have this proof, you are ready for Java code.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2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2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2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2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Common Fixes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2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2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Port in use: stop old ZooKeeper or Kafka processes and retry.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Broker not available: Kafka may still be starting. Wait 10 seconds and retry.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Consumer shows nothing: confirm topic name, use from-beginning, and send new messages.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 create fails: Kafka not fully started. Retry after a short wait.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3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Producer &amp; Consumer in Java</a:t>
            </a:r>
            <a:endParaRPr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64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4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4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Java Producer and Consumer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4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4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live code a Java producer that publishes key:value messages to guvi.events.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Demo: live code a Java consumer that prints key, value, partition, and offset.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proves real applications can publish and consume events using Kafka clients.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 keep this separate from Spring Boot today and integrate tomorrow.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5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5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5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5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5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Java Config Values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5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65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bootstrap.servers: localhost:9092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topic: guvi.events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group.id: demo-group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serializers: String for key and String for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These four values are the minimum to build a working producer and consumer.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6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66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6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6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6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Producer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6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6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Create producer properties with bootstrap server and String serializers.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Create KafkaProducer and send five messages with a key and a value.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Print publish metadata so learners can see partition and offset returned by Kafka.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Close the producer cleanly so messages flush before exit.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7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67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7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7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7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Consumer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7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7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Create consumer properties with bootstrap server, group id, and String deserializers.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Subscribe to guvi.events and poll in a loop.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Print key, value, partition, and offset for each record.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consumer output is our final proof that the pipeline works.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8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8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68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8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8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Run Order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8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68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Start ZooKeeper first and keep it running.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Start Kafka second and keep it running.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Start the Java consumer so it is ready to read messages.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Run the Java producer to publish messages into the topic.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When you see producer success and consumer output, you have full end-to-end proof.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9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69"/>
          <p:cNvSpPr/>
          <p:nvPr/>
        </p:nvSpPr>
        <p:spPr>
          <a:xfrm>
            <a:off x="0" y="4834890"/>
            <a:ext cx="9143771" cy="30861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9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69"/>
          <p:cNvSpPr/>
          <p:nvPr/>
        </p:nvSpPr>
        <p:spPr>
          <a:xfrm>
            <a:off x="7635011" y="4903470"/>
            <a:ext cx="1097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 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9"/>
          <p:cNvSpPr/>
          <p:nvPr/>
        </p:nvSpPr>
        <p:spPr>
          <a:xfrm>
            <a:off x="514350" y="377190"/>
            <a:ext cx="811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That Is a Wrap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9"/>
          <p:cNvSpPr/>
          <p:nvPr/>
        </p:nvSpPr>
        <p:spPr>
          <a:xfrm>
            <a:off x="514350" y="857250"/>
            <a:ext cx="15087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69"/>
          <p:cNvSpPr/>
          <p:nvPr/>
        </p:nvSpPr>
        <p:spPr>
          <a:xfrm>
            <a:off x="651510" y="1337310"/>
            <a:ext cx="784075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 learned when async communication makes sense in microservices and what tradeoffs it introduces.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 ran ZooKeeper and Kafka locally, created guvi.events, and verified CLI produce and consume.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 built a Java producer and consumer that published and consumed real messages from Kafka.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Next: integrate Kafka with Spring Boot and discuss practical patterns for reliability.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