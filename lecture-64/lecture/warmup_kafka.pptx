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B"/>
        </a:solidFill>
      </p:bgPr>
    </p:bg>
    <p:spTree>
      <p:nvGrpSpPr>
        <p:cNvPr id="1" name=""/>
        <p:cNvGrpSpPr/>
        <p:nvPr/>
      </p:nvGrpSpPr>
      <p:grpSpPr>
        <a:xfrm>
          <a:off x="0" y="0"/>
          <a:ext cx="0" cy="0"/>
          <a:chOff x="0" y="0"/>
          <a:chExt cx="0" cy="0"/>
        </a:xfrm>
      </p:grpSpPr>
      <p:sp>
        <p:nvSpPr>
          <p:cNvPr id="2" name="Text 0"/>
          <p:cNvSpPr/>
          <p:nvPr/>
        </p:nvSpPr>
        <p:spPr>
          <a:xfrm>
            <a:off x="0" y="2231136"/>
            <a:ext cx="9144000" cy="502920"/>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Calibri" pitchFamily="34" charset="0"/>
                <a:ea typeface="Calibri" pitchFamily="34" charset="-122"/>
                <a:cs typeface="Calibri" pitchFamily="34" charset="-120"/>
              </a:rPr>
              <a:t>Warm-up</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Warm-up quiz</a:t>
            </a:r>
            <a:endParaRPr lang="en-US" sz="2000" dirty="0"/>
          </a:p>
        </p:txBody>
      </p:sp>
      <p:sp>
        <p:nvSpPr>
          <p:cNvPr id="3" name="Text 1"/>
          <p:cNvSpPr/>
          <p:nvPr/>
        </p:nvSpPr>
        <p:spPr>
          <a:xfrm>
            <a:off x="411480" y="859536"/>
            <a:ext cx="8321040" cy="640080"/>
          </a:xfrm>
          <a:prstGeom prst="rect">
            <a:avLst/>
          </a:prstGeom>
          <a:noFill/>
          <a:ln/>
        </p:spPr>
        <p:txBody>
          <a:bodyPr wrap="square" lIns="50800" tIns="88900" rIns="88900" bIns="50800" rtlCol="0" anchor="ctr">
            <a:normAutofit/>
          </a:bodyPr>
          <a:lstStyle/>
          <a:p>
            <a:pPr marL="177800" indent="-177800">
              <a:buSzPct val="100000"/>
              <a:buChar char="•"/>
            </a:pPr>
            <a:r>
              <a:rPr lang="en-US" sz="1100" dirty="0">
                <a:solidFill>
                  <a:srgbClr val="1F2937"/>
                </a:solidFill>
                <a:latin typeface="Calibri" pitchFamily="34" charset="0"/>
                <a:ea typeface="Calibri" pitchFamily="34" charset="-122"/>
                <a:cs typeface="Calibri" pitchFamily="34" charset="-120"/>
              </a:rPr>
              <a:t>Answer 10 questions.</a:t>
            </a:r>
            <a:endParaRPr lang="en-US" sz="1100" dirty="0"/>
          </a:p>
          <a:p>
            <a:pPr marL="177800" indent="-177800">
              <a:buSzPct val="100000"/>
              <a:buChar char="•"/>
            </a:pPr>
            <a:r>
              <a:rPr lang="en-US" sz="1100" dirty="0">
                <a:solidFill>
                  <a:srgbClr val="1F2937"/>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1</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booking API saves the booking in MongoDB and then publishes a Kafka event describing that booking.</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the event published after the database write instead of before?</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Because Kafka cannot send messages before a database operation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Because Spring Boot enforces this order automatically</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Because other services should only react to events that represent data already stored in the system</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Because MongoDB requires Kafka to be called afterward</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1</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booking API saves the booking in MongoDB and then publishes a Kafka event describing that booking.</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the event published after the database write instead of before?</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Because Kafka cannot send messages before a database operation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Because Spring Boot enforces this order automatically</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Because other services should only react to events that represent data already stored in the system</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Because MongoDB requires Kafka to be called afterward</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3</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If the event were published before the booking was saved, consumers might react to an event referring to data that does not yet exist. Saving the booking first ensures the system state is consistent before other components respond.</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2</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An event registration system allows authenticated users to create bookings.</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Instead of accepting userId from the request body, the service retrieves the current user from the Spring Security context.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this design safer?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reduces Kafka message size</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improves MongoDB query performance</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removes the need for authentication</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prevents users from creating bookings on behalf of other users</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2</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An event registration system allows authenticated users to create bookings.</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Instead of accepting userId from the request body, the service retrieves the current user from the Spring Security context.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this design safer?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reduces Kafka message size</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improves MongoDB query performance</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removes the need for authentication</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prevents users from creating bookings on behalf of other users</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4</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If the client were allowed to submit any userId, a user could impersonate someone else. Reading the identity from the authenticated security context ensures the booking always belongs to the logged-in user.</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3</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When publishing a booking event to Kafka, the eventId is used as the message key.</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providing a key useful when producing Kafka messages?</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prevents MongoDB writes from failing</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determines how messages are distributed across partitions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encrypts the Kafka message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reduces the size of the message</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3</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When publishing a booking event to Kafka, the eventId is used as the message key.</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providing a key useful when producing Kafka messages?</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prevents MongoDB writes from failing</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determines how messages are distributed across partitions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encrypts the Kafka message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reduces the size of the message</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2</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Kafka uses the message key to decide which partition receives the message. Messages with the same key are routed to the same partition, which helps preserve ordering for related events.</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4</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Booking events are sent as JSON messages and converted back into Java objects by the Kafka consumer.</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Which component usually performs this JSON conversion in a Spring Boot application?</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Jackson serialization and deserialization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Spring Security filters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MongoDB repository mapping</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Kafka topic partitions</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4</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Booking events are sent as JSON messages and converted back into Java objects by the Kafka consumer.</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Which component usually performs this JSON conversion in a Spring Boot application?</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Jackson serialization and deserialization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Spring Security filters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MongoDB repository mapping</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Kafka topic partitions</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1</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Spring Kafka commonly relies on Jackson to serialize Java objects into JSON when producing messages and deserialize JSON back into Java objects when consuming them.</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5</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Kafka consumer receives JSON messages representing booking events and converts them into a BookingEvent Java object.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does the BookingEvent class typically include a no-argument constructor?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MongoDB requires a default constructor for collections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Kafka requires all message classes to include a constructor</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Java objects cannot be serialized otherwise</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JSON deserialization frameworks need it to create the object before populating fields</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5</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Kafka consumer receives JSON messages representing booking events and converts them into a BookingEvent Java object.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does the BookingEvent class typically include a no-argument constructor?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MongoDB requires a default constructor for collections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Kafka requires all message classes to include a constructor</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Java objects cannot be serialized otherwise</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JSON deserialization frameworks need it to create the object before populating fields</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4</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Frameworks such as Jackson first create an empty instance of the class and then populate the fields using values from the JSON message.</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6</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Kafka consumer processes booking events and performs tasks such as sending notifications.</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it useful to move these tasks out of the booking API and into a Kafka consumer?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removes the need for authentication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allows the booking API to respond quickly while background work happens asynchronously</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prevents MongoDB from storing booking data</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guarantees notifications will always succeed</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6</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Kafka consumer processes booking events and performs tasks such as sending notifications.</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it useful to move these tasks out of the booking API and into a Kafka consumer?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removes the need for authentication</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allows the booking API to respond quickly while background work happens asynchronously</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prevents MongoDB from storing booking data</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guarantees notifications will always succeed</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2</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By publishing an event and letting consumers process it later, the main booking request stays fast and responsive while longer operations run in the background.</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7</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Spring Boot application connects to Kafka using a bootstrap server configuration.</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purpose of specifying a bootstrap server?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determines how many partitions a topic has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defines the consumer group</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tells the Kafka client how to initially connect to the Kafka cluster</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stores Kafka messages in MongoDB</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7</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Spring Boot application connects to Kafka using a bootstrap server configuration.</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purpose of specifying a bootstrap server?</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It determines how many partitions a topic has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It defines the consumer group</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It tells the Kafka client how to initially connect to the Kafka cluster</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It stores Kafka messages in MongoDB</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3</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The bootstrap server provides the address of a Kafka broker so the client can connect and discover the rest of the cluster.</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8</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Kafka consumers belong to a consumer group when reading messages from a topic.</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purpose of consumer groups in Kafka?</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They allow multiple consumers to share the work of processing messages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They increase the size of messages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They encrypt messages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They prevent producers from sending messages</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8</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Kafka consumers belong to a consumer group when reading messages from a topic.</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purpose of consumer groups in Kafka?</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They allow multiple consumers to share the work of processing messages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They increase the size of messages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They encrypt messages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They prevent producers from sending messages</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1</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Kafka distributes partitions across consumers in the same group so messages can be processed in parallel.</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9</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Suppose a booking is successfully saved in MongoDB, but Kafka is temporarily unavailable when the system tries to publish the booking event.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most likely outcome?</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The API refuses to save the booking</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The booking is stored, but the Kafka event is not published</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MongoDB deletes the booking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Kafka automatically retries until the message is stored</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9</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Suppose a booking is successfully saved in MongoDB, but Kafka is temporarily unavailable when the system tries to publish the booking event.</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What is the most likely outcome?</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The API refuses to save the booking</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The booking is stored, but the Kafka event is not published</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MongoDB deletes the booking automatically</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Kafka automatically retries until the message is stored</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2</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If the database write succeeds but the Kafka publish fails, the system may end up with saved data but no event unless retries or an outbox pattern is implemented.</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Question 10</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booking event message contains structured fields such as bookingId, eventId, userId, and timestamp.</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it useful to represent events as structured objects rather than plain text messages?</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MongoDB requires JSON events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Kafka cannot process plain text messages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Structured messages reduce the number of partitions</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Structured events are easier for consumers to parse and evolve over time</a:t>
            </a:r>
            <a:endParaRPr lang="en-US" sz="1100" dirty="0"/>
          </a:p>
        </p:txBody>
      </p:sp>
      <p:sp>
        <p:nvSpPr>
          <p:cNvPr id="8" name="Text 6"/>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411480"/>
          </a:xfrm>
          <a:prstGeom prst="rect">
            <a:avLst/>
          </a:prstGeom>
          <a:noFill/>
          <a:ln/>
        </p:spPr>
        <p:txBody>
          <a:bodyPr wrap="square" lIns="50800" tIns="88900" rIns="88900" bIns="50800" rtlCol="0" anchor="ctr">
            <a:normAutofit/>
          </a:bodyPr>
          <a:lstStyle/>
          <a:p>
            <a:pPr algn="l" indent="0" marL="0">
              <a:buNone/>
            </a:pPr>
            <a:r>
              <a:rPr lang="en-US" sz="2000" b="1" dirty="0">
                <a:solidFill>
                  <a:srgbClr val="0B1F3B"/>
                </a:solidFill>
                <a:latin typeface="Calibri" pitchFamily="34" charset="0"/>
                <a:ea typeface="Calibri" pitchFamily="34" charset="-122"/>
                <a:cs typeface="Calibri" pitchFamily="34" charset="-120"/>
              </a:rPr>
              <a:t>Answer 10</a:t>
            </a:r>
            <a:endParaRPr lang="en-US" sz="2000" dirty="0"/>
          </a:p>
        </p:txBody>
      </p:sp>
      <p:sp>
        <p:nvSpPr>
          <p:cNvPr id="3" name="Text 1"/>
          <p:cNvSpPr/>
          <p:nvPr/>
        </p:nvSpPr>
        <p:spPr>
          <a:xfrm>
            <a:off x="411480" y="857250"/>
            <a:ext cx="8321040" cy="868680"/>
          </a:xfrm>
          <a:prstGeom prst="rect">
            <a:avLst/>
          </a:prstGeom>
          <a:noFill/>
          <a:ln/>
        </p:spPr>
        <p:txBody>
          <a:bodyPr wrap="square" lIns="50800" tIns="88900" rIns="88900" bIns="50800" rtlCol="0" anchor="ctr">
            <a:normAutofit/>
          </a:bodyPr>
          <a:lstStyle/>
          <a:p>
            <a:pPr algn="l" indent="0" marL="0">
              <a:buNone/>
            </a:pPr>
            <a:r>
              <a:rPr lang="en-US" sz="1300" dirty="0">
                <a:solidFill>
                  <a:srgbClr val="1F2937"/>
                </a:solidFill>
                <a:latin typeface="Calibri" pitchFamily="34" charset="0"/>
                <a:ea typeface="Calibri" pitchFamily="34" charset="-122"/>
                <a:cs typeface="Calibri" pitchFamily="34" charset="-120"/>
              </a:rPr>
              <a:t>A booking event message contains structured fields such as bookingId, eventId, userId, and timestamp.</a:t>
            </a:r>
            <a:endParaRPr lang="en-US" sz="1300" dirty="0"/>
          </a:p>
          <a:p>
            <a:pPr algn="l" indent="0" marL="0">
              <a:buNone/>
            </a:pPr>
            <a:endParaRPr lang="en-US" sz="1300" dirty="0"/>
          </a:p>
          <a:p>
            <a:pPr algn="l" indent="0" marL="0">
              <a:buNone/>
            </a:pPr>
            <a:r>
              <a:rPr lang="en-US" sz="1300" dirty="0">
                <a:solidFill>
                  <a:srgbClr val="1F2937"/>
                </a:solidFill>
                <a:latin typeface="Calibri" pitchFamily="34" charset="0"/>
                <a:ea typeface="Calibri" pitchFamily="34" charset="-122"/>
                <a:cs typeface="Calibri" pitchFamily="34" charset="-120"/>
              </a:rPr>
              <a:t>Why is it useful to represent events as structured objects rather than plain text messages?</a:t>
            </a:r>
            <a:endParaRPr lang="en-US" sz="1300" dirty="0"/>
          </a:p>
        </p:txBody>
      </p:sp>
      <p:sp>
        <p:nvSpPr>
          <p:cNvPr id="4" name="Text 2"/>
          <p:cNvSpPr/>
          <p:nvPr/>
        </p:nvSpPr>
        <p:spPr>
          <a:xfrm>
            <a:off x="411480" y="1783080"/>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1. MongoDB requires JSON events</a:t>
            </a:r>
            <a:endParaRPr lang="en-US" sz="1100" dirty="0"/>
          </a:p>
        </p:txBody>
      </p:sp>
      <p:sp>
        <p:nvSpPr>
          <p:cNvPr id="5" name="Text 3"/>
          <p:cNvSpPr/>
          <p:nvPr/>
        </p:nvSpPr>
        <p:spPr>
          <a:xfrm>
            <a:off x="411480" y="2201418"/>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2. Kafka cannot process plain text messages</a:t>
            </a:r>
            <a:endParaRPr lang="en-US" sz="1100" dirty="0"/>
          </a:p>
        </p:txBody>
      </p:sp>
      <p:sp>
        <p:nvSpPr>
          <p:cNvPr id="6" name="Text 4"/>
          <p:cNvSpPr/>
          <p:nvPr/>
        </p:nvSpPr>
        <p:spPr>
          <a:xfrm>
            <a:off x="411480" y="2619756"/>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3. Structured messages reduce the number of partitions</a:t>
            </a:r>
            <a:endParaRPr lang="en-US" sz="1100" dirty="0"/>
          </a:p>
        </p:txBody>
      </p:sp>
      <p:sp>
        <p:nvSpPr>
          <p:cNvPr id="7" name="Text 5"/>
          <p:cNvSpPr/>
          <p:nvPr/>
        </p:nvSpPr>
        <p:spPr>
          <a:xfrm>
            <a:off x="411480" y="3038094"/>
            <a:ext cx="8321040" cy="36576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4. Structured events are easier for consumers to parse and evolve over time</a:t>
            </a:r>
            <a:endParaRPr lang="en-US" sz="1100" dirty="0"/>
          </a:p>
        </p:txBody>
      </p:sp>
      <p:sp>
        <p:nvSpPr>
          <p:cNvPr id="8" name="Text 6"/>
          <p:cNvSpPr/>
          <p:nvPr/>
        </p:nvSpPr>
        <p:spPr>
          <a:xfrm>
            <a:off x="411480" y="3502152"/>
            <a:ext cx="8321040" cy="201168"/>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Correct answer: 4</a:t>
            </a:r>
            <a:endParaRPr lang="en-US" sz="1100" dirty="0"/>
          </a:p>
        </p:txBody>
      </p:sp>
      <p:sp>
        <p:nvSpPr>
          <p:cNvPr id="9" name="Text 7"/>
          <p:cNvSpPr/>
          <p:nvPr/>
        </p:nvSpPr>
        <p:spPr>
          <a:xfrm>
            <a:off x="411480" y="3730752"/>
            <a:ext cx="8321040" cy="777240"/>
          </a:xfrm>
          <a:prstGeom prst="rect">
            <a:avLst/>
          </a:prstGeom>
          <a:noFill/>
          <a:ln/>
        </p:spPr>
        <p:txBody>
          <a:bodyPr wrap="square" lIns="50800" tIns="88900" rIns="88900" bIns="50800" rtlCol="0" anchor="ctr">
            <a:normAutofit/>
          </a:bodyPr>
          <a:lstStyle/>
          <a:p>
            <a:pPr algn="l" indent="0" marL="0">
              <a:buNone/>
            </a:pPr>
            <a:r>
              <a:rPr lang="en-US" sz="1100" dirty="0">
                <a:solidFill>
                  <a:srgbClr val="1F2937"/>
                </a:solidFill>
                <a:latin typeface="Calibri" pitchFamily="34" charset="0"/>
                <a:ea typeface="Calibri" pitchFamily="34" charset="-122"/>
                <a:cs typeface="Calibri" pitchFamily="34" charset="-120"/>
              </a:rPr>
              <a:t>Why: Structured event messages make it easier for multiple services to understand the data and allow the event format to evolve without breaking existing consumers.</a:t>
            </a:r>
            <a:endParaRPr lang="en-US" sz="1100" dirty="0"/>
          </a:p>
        </p:txBody>
      </p:sp>
      <p:sp>
        <p:nvSpPr>
          <p:cNvPr id="10" name="Text 8"/>
          <p:cNvSpPr/>
          <p:nvPr/>
        </p:nvSpPr>
        <p:spPr>
          <a:xfrm>
            <a:off x="411480" y="4766310"/>
            <a:ext cx="8321040" cy="237744"/>
          </a:xfrm>
          <a:prstGeom prst="rect">
            <a:avLst/>
          </a:prstGeom>
          <a:noFill/>
          <a:ln/>
        </p:spPr>
        <p:txBody>
          <a:bodyPr wrap="square" lIns="50800" tIns="88900" rIns="88900" bIns="50800" rtlCol="0" anchor="ctr">
            <a:normAutofit/>
          </a:bodyPr>
          <a:lstStyle/>
          <a:p>
            <a:pPr algn="l" indent="0" marL="0">
              <a:buNone/>
            </a:pPr>
            <a:r>
              <a:rPr lang="en-US" sz="1100" dirty="0">
                <a:solidFill>
                  <a:srgbClr val="4B5563"/>
                </a:solidFill>
                <a:latin typeface="Calibri" pitchFamily="34" charset="0"/>
                <a:ea typeface="Calibri" pitchFamily="34" charset="-122"/>
                <a:cs typeface="Calibri" pitchFamily="34" charset="-120"/>
              </a:rPr>
              <a:t>Reply format: 1 / 2 / 3 / 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Warm-up Quiz</dc:title>
  <dc:subject>Warm-up quiz</dc:subject>
  <dc:creator>OpenAI</dc:creator>
  <cp:lastModifiedBy>OpenAI</cp:lastModifiedBy>
  <cp:revision>1</cp:revision>
  <dcterms:created xsi:type="dcterms:W3CDTF">2026-03-06T12:03:42Z</dcterms:created>
  <dcterms:modified xsi:type="dcterms:W3CDTF">2026-03-06T12:03:42Z</dcterms:modified>
</cp:coreProperties>
</file>