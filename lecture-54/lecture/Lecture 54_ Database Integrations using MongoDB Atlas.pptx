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slide" Target="slides/slide40.xml"/><Relationship Id="rId23" Type="http://schemas.openxmlformats.org/officeDocument/2006/relationships/slide" Target="slides/slide17.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bd3fc932e1_2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bd3fc932e1_2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g3bd3fc932e1_2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bd3fc932e1_2_1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g3bd3fc932e1_2_1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g3bd3fc932e1_2_1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bd3fc932e1_2_2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g3bd3fc932e1_2_2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g3bd3fc932e1_2_2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bd3fc932e1_2_2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g3bd3fc932e1_2_2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g3bd3fc932e1_2_2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bd3fc932e1_2_3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g3bd3fc932e1_2_3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g3bd3fc932e1_2_3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d3fc932e1_2_4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g3bd3fc932e1_2_4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g3bd3fc932e1_2_4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bd3fc932e1_2_6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g3bd3fc932e1_2_6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g3bd3fc932e1_2_6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bd3fc932e1_2_7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3bd3fc932e1_2_7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g3bd3fc932e1_2_7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bd3fc932e1_2_8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g3bd3fc932e1_2_8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3bd3fc932e1_2_8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bd3fc932e1_2_9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g3bd3fc932e1_2_9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3bd3fc932e1_2_9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bd3fc932e1_2_10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g3bd3fc932e1_2_10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g3bd3fc932e1_2_10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bd3fc932e1_2_11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bd3fc932e1_2_11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g3bd3fc932e1_2_11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bd3fc932e1_2_13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3bd3fc932e1_2_13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g3bd3fc932e1_2_13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bd3fc932e1_2_14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3bd3fc932e1_2_14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g3bd3fc932e1_2_14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bd3fc932e1_2_15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bd3fc932e1_2_15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g3bd3fc932e1_2_15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bd3fc932e1_2_16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g3bd3fc932e1_2_16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g3bd3fc932e1_2_16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bd3fc932e1_2_18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3bd3fc932e1_2_18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g3bd3fc932e1_2_18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bd3fc932e1_2_19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3bd3fc932e1_2_19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g3bd3fc932e1_2_19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bd3fc932e1_2_21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g3bd3fc932e1_2_21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g3bd3fc932e1_2_21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bd3fc932e1_2_22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g3bd3fc932e1_2_22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g3bd3fc932e1_2_22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bd3fc932e1_2_23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g3bd3fc932e1_2_23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g3bd3fc932e1_2_23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bd3fc932e1_2_24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g3bd3fc932e1_2_24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g3bd3fc932e1_2_24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bd3fc932e1_2_25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3bd3fc932e1_2_25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g3bd3fc932e1_2_25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bd3fc932e1_2_27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g3bd3fc932e1_2_27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g3bd3fc932e1_2_27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bd3fc932e1_0_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g3bd3fc932e1_0_6: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g3bd3fc932e1_0_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bd3fc932e1_2_28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g3bd3fc932e1_2_28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g3bd3fc932e1_2_28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bd3fc932e1_2_29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g3bd3fc932e1_2_29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g3bd3fc932e1_2_29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bd3fc932e1_2_30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g3bd3fc932e1_2_30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g3bd3fc932e1_2_30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bd3fc932e1_2_31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g3bd3fc932e1_2_31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g3bd3fc932e1_2_31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bd3fc932e1_2_33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g3bd3fc932e1_2_33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g3bd3fc932e1_2_33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bd3fc932e1_2_34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g3bd3fc932e1_2_34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g3bd3fc932e1_2_34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bd3fc932e1_2_35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g3bd3fc932e1_2_35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g3bd3fc932e1_2_35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bd3fc932e1_2_36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g3bd3fc932e1_2_36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g3bd3fc932e1_2_36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bd3fc932e1_2_38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g3bd3fc932e1_2_38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g3bd3fc932e1_2_38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bd3fc932e1_2_40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g3bd3fc932e1_2_40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g3bd3fc932e1_2_40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bd3fc932e1_2_41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g3bd3fc932e1_2_41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g3bd3fc932e1_2_41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bd3fc932e1_2_42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g3bd3fc932e1_2_42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g3bd3fc932e1_2_42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bd3fc932e1_2_43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g3bd3fc932e1_2_43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g3bd3fc932e1_2_43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bd3fc932e1_2_44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g3bd3fc932e1_2_44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g3bd3fc932e1_2_44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bd3fc932e1_0_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1" name="Google Shape;531;g3bd3fc932e1_0_1: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 name="Google Shape;532;g3bd3fc932e1_0_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B"/>
        </a:solidFill>
      </p:bgPr>
    </p:bg>
    <p:spTree>
      <p:nvGrpSpPr>
        <p:cNvPr id="56" name="Shape 56"/>
        <p:cNvGrpSpPr/>
        <p:nvPr/>
      </p:nvGrpSpPr>
      <p:grpSpPr>
        <a:xfrm>
          <a:off x="0" y="0"/>
          <a:ext cx="0" cy="0"/>
          <a:chOff x="0" y="0"/>
          <a:chExt cx="0" cy="0"/>
        </a:xfrm>
      </p:grpSpPr>
      <p:sp>
        <p:nvSpPr>
          <p:cNvPr id="57" name="Google Shape;57;p15"/>
          <p:cNvSpPr/>
          <p:nvPr/>
        </p:nvSpPr>
        <p:spPr>
          <a:xfrm>
            <a:off x="0" y="1577340"/>
            <a:ext cx="9143771"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700"/>
              <a:buFont typeface="Calibri"/>
              <a:buNone/>
            </a:pPr>
            <a:r>
              <a:rPr b="0" i="0" lang="en" sz="1700" u="none" cap="none" strike="noStrike">
                <a:solidFill>
                  <a:srgbClr val="FFFFFF"/>
                </a:solidFill>
                <a:latin typeface="Calibri"/>
                <a:ea typeface="Calibri"/>
                <a:cs typeface="Calibri"/>
                <a:sym typeface="Calibri"/>
              </a:rPr>
              <a:t>Lecture 43</a:t>
            </a:r>
            <a:endParaRPr b="0" i="0" sz="1700" u="none" cap="none" strike="noStrike">
              <a:solidFill>
                <a:schemeClr val="dk1"/>
              </a:solidFill>
              <a:latin typeface="Calibri"/>
              <a:ea typeface="Calibri"/>
              <a:cs typeface="Calibri"/>
              <a:sym typeface="Calibri"/>
            </a:endParaRPr>
          </a:p>
        </p:txBody>
      </p:sp>
      <p:sp>
        <p:nvSpPr>
          <p:cNvPr id="58" name="Google Shape;58;p15"/>
          <p:cNvSpPr/>
          <p:nvPr/>
        </p:nvSpPr>
        <p:spPr>
          <a:xfrm>
            <a:off x="0" y="1954530"/>
            <a:ext cx="9143771" cy="54864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2700"/>
              <a:buFont typeface="Calibri"/>
              <a:buNone/>
            </a:pPr>
            <a:r>
              <a:rPr b="1" i="0" lang="en" sz="2700" u="none" cap="none" strike="noStrike">
                <a:solidFill>
                  <a:srgbClr val="FFFFFF"/>
                </a:solidFill>
                <a:latin typeface="Calibri"/>
                <a:ea typeface="Calibri"/>
                <a:cs typeface="Calibri"/>
                <a:sym typeface="Calibri"/>
              </a:rPr>
              <a:t>Database Integrations using MongoDB</a:t>
            </a:r>
            <a:endParaRPr b="0" i="0" sz="2700" u="none" cap="none" strike="noStrike">
              <a:solidFill>
                <a:schemeClr val="dk1"/>
              </a:solidFill>
              <a:latin typeface="Calibri"/>
              <a:ea typeface="Calibri"/>
              <a:cs typeface="Calibri"/>
              <a:sym typeface="Calibri"/>
            </a:endParaRPr>
          </a:p>
        </p:txBody>
      </p:sp>
      <p:sp>
        <p:nvSpPr>
          <p:cNvPr id="59" name="Google Shape;59;p15"/>
          <p:cNvSpPr/>
          <p:nvPr/>
        </p:nvSpPr>
        <p:spPr>
          <a:xfrm>
            <a:off x="0" y="2571750"/>
            <a:ext cx="9143771" cy="4114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800"/>
              <a:buFont typeface="Calibri"/>
              <a:buNone/>
            </a:pPr>
            <a:r>
              <a:rPr b="0" i="0" lang="en" sz="1800" u="none" cap="none" strike="noStrike">
                <a:solidFill>
                  <a:srgbClr val="FFFFFF"/>
                </a:solidFill>
                <a:latin typeface="Calibri"/>
                <a:ea typeface="Calibri"/>
                <a:cs typeface="Calibri"/>
                <a:sym typeface="Calibri"/>
              </a:rPr>
              <a:t>MongoDB Atlas and MongoDB Compass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16"/>
          <p:cNvSpPr/>
          <p:nvPr/>
        </p:nvSpPr>
        <p:spPr>
          <a:xfrm>
            <a:off x="388563" y="274320"/>
            <a:ext cx="8320800" cy="41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lang="en" sz="2000">
                <a:solidFill>
                  <a:srgbClr val="0B1F3B"/>
                </a:solidFill>
                <a:latin typeface="Calibri"/>
                <a:ea typeface="Calibri"/>
                <a:cs typeface="Calibri"/>
                <a:sym typeface="Calibri"/>
              </a:rPr>
              <a:t>What’re we doing today?</a:t>
            </a:r>
            <a:endParaRPr b="0" i="0" sz="2000" u="none" cap="none" strike="noStrike">
              <a:solidFill>
                <a:schemeClr val="dk1"/>
              </a:solidFill>
              <a:latin typeface="Calibri"/>
              <a:ea typeface="Calibri"/>
              <a:cs typeface="Calibri"/>
              <a:sym typeface="Calibri"/>
            </a:endParaRPr>
          </a:p>
        </p:txBody>
      </p:sp>
      <p:sp>
        <p:nvSpPr>
          <p:cNvPr id="66" name="Google Shape;66;p16"/>
          <p:cNvSpPr/>
          <p:nvPr/>
        </p:nvSpPr>
        <p:spPr>
          <a:xfrm>
            <a:off x="411480" y="85725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Objective</a:t>
            </a:r>
            <a:endParaRPr b="0" i="0" sz="1300" u="none" cap="none" strike="noStrike">
              <a:solidFill>
                <a:schemeClr val="dk1"/>
              </a:solidFill>
              <a:latin typeface="Calibri"/>
              <a:ea typeface="Calibri"/>
              <a:cs typeface="Calibri"/>
              <a:sym typeface="Calibri"/>
            </a:endParaRPr>
          </a:p>
        </p:txBody>
      </p:sp>
      <p:sp>
        <p:nvSpPr>
          <p:cNvPr id="67" name="Google Shape;67;p16"/>
          <p:cNvSpPr/>
          <p:nvPr/>
        </p:nvSpPr>
        <p:spPr>
          <a:xfrm>
            <a:off x="411480" y="116586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Move our data from local MongoDB to MongoDB Atlas.</a:t>
            </a:r>
            <a:endParaRPr b="0" i="0" sz="1100" u="none" cap="none" strike="noStrike">
              <a:solidFill>
                <a:schemeClr val="dk1"/>
              </a:solidFill>
              <a:latin typeface="Calibri"/>
              <a:ea typeface="Calibri"/>
              <a:cs typeface="Calibri"/>
              <a:sym typeface="Calibri"/>
            </a:endParaRPr>
          </a:p>
        </p:txBody>
      </p:sp>
      <p:sp>
        <p:nvSpPr>
          <p:cNvPr id="68" name="Google Shape;68;p16"/>
          <p:cNvSpPr/>
          <p:nvPr/>
        </p:nvSpPr>
        <p:spPr>
          <a:xfrm>
            <a:off x="411480" y="1584198"/>
            <a:ext cx="8320800" cy="37710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Use MongoDB Compass to inspect and query the same data visually.</a:t>
            </a:r>
            <a:endParaRPr b="0" i="0" sz="1100" u="none" cap="none" strike="noStrike">
              <a:solidFill>
                <a:schemeClr val="dk1"/>
              </a:solidFill>
              <a:latin typeface="Calibri"/>
              <a:ea typeface="Calibri"/>
              <a:cs typeface="Calibri"/>
              <a:sym typeface="Calibri"/>
            </a:endParaRPr>
          </a:p>
        </p:txBody>
      </p:sp>
      <p:sp>
        <p:nvSpPr>
          <p:cNvPr id="69" name="Google Shape;69;p16"/>
          <p:cNvSpPr/>
          <p:nvPr/>
        </p:nvSpPr>
        <p:spPr>
          <a:xfrm>
            <a:off x="411480" y="2002536"/>
            <a:ext cx="8320800" cy="37710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Learn where to look in Atlas when query performance feels slow.</a:t>
            </a:r>
            <a:endParaRPr b="0" i="0" sz="1100" u="none" cap="none" strike="noStrike">
              <a:solidFill>
                <a:schemeClr val="dk1"/>
              </a:solidFill>
              <a:latin typeface="Calibri"/>
              <a:ea typeface="Calibri"/>
              <a:cs typeface="Calibri"/>
              <a:sym typeface="Calibri"/>
            </a:endParaRPr>
          </a:p>
        </p:txBody>
      </p:sp>
      <p:sp>
        <p:nvSpPr>
          <p:cNvPr id="70" name="Google Shape;70;p16"/>
          <p:cNvSpPr/>
          <p:nvPr/>
        </p:nvSpPr>
        <p:spPr>
          <a:xfrm>
            <a:off x="411480" y="288036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Agenda</a:t>
            </a:r>
            <a:endParaRPr b="0" i="0" sz="1300" u="none" cap="none" strike="noStrike">
              <a:solidFill>
                <a:schemeClr val="dk1"/>
              </a:solidFill>
              <a:latin typeface="Calibri"/>
              <a:ea typeface="Calibri"/>
              <a:cs typeface="Calibri"/>
              <a:sym typeface="Calibri"/>
            </a:endParaRPr>
          </a:p>
        </p:txBody>
      </p:sp>
      <p:sp>
        <p:nvSpPr>
          <p:cNvPr id="71" name="Google Shape;71;p16"/>
          <p:cNvSpPr/>
          <p:nvPr/>
        </p:nvSpPr>
        <p:spPr>
          <a:xfrm>
            <a:off x="411480" y="318897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Warm-up quiz.</a:t>
            </a:r>
            <a:endParaRPr b="0" i="0" sz="1100" u="none" cap="none" strike="noStrike">
              <a:solidFill>
                <a:schemeClr val="dk1"/>
              </a:solidFill>
              <a:latin typeface="Calibri"/>
              <a:ea typeface="Calibri"/>
              <a:cs typeface="Calibri"/>
              <a:sym typeface="Calibri"/>
            </a:endParaRPr>
          </a:p>
        </p:txBody>
      </p:sp>
      <p:sp>
        <p:nvSpPr>
          <p:cNvPr id="72" name="Google Shape;72;p16"/>
          <p:cNvSpPr/>
          <p:nvPr/>
        </p:nvSpPr>
        <p:spPr>
          <a:xfrm>
            <a:off x="411480" y="3607308"/>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MongoDB Atlas setup and Compass connection.</a:t>
            </a:r>
            <a:endParaRPr b="0" i="0" sz="1100" u="none" cap="none" strike="noStrike">
              <a:solidFill>
                <a:schemeClr val="dk1"/>
              </a:solidFill>
              <a:latin typeface="Calibri"/>
              <a:ea typeface="Calibri"/>
              <a:cs typeface="Calibri"/>
              <a:sym typeface="Calibri"/>
            </a:endParaRPr>
          </a:p>
        </p:txBody>
      </p:sp>
      <p:sp>
        <p:nvSpPr>
          <p:cNvPr id="73" name="Google Shape;73;p16"/>
          <p:cNvSpPr/>
          <p:nvPr/>
        </p:nvSpPr>
        <p:spPr>
          <a:xfrm>
            <a:off x="411480" y="4443984"/>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lang="en" sz="1100">
                <a:solidFill>
                  <a:srgbClr val="1F2937"/>
                </a:solidFill>
                <a:latin typeface="Calibri"/>
                <a:ea typeface="Calibri"/>
                <a:cs typeface="Calibri"/>
                <a:sym typeface="Calibri"/>
              </a:rPr>
              <a:t>Review </a:t>
            </a:r>
            <a:r>
              <a:rPr b="0" i="0" lang="en" sz="1100" u="none" cap="none" strike="noStrike">
                <a:solidFill>
                  <a:srgbClr val="1F2937"/>
                </a:solidFill>
                <a:latin typeface="Calibri"/>
                <a:ea typeface="Calibri"/>
                <a:cs typeface="Calibri"/>
                <a:sym typeface="Calibri"/>
              </a:rPr>
              <a:t>Activity: return 400 for invalid sortBy.</a:t>
            </a:r>
            <a:endParaRPr b="0" i="0" sz="1100" u="none" cap="none" strike="noStrike">
              <a:solidFill>
                <a:schemeClr val="dk1"/>
              </a:solidFill>
              <a:latin typeface="Calibri"/>
              <a:ea typeface="Calibri"/>
              <a:cs typeface="Calibri"/>
              <a:sym typeface="Calibri"/>
            </a:endParaRPr>
          </a:p>
        </p:txBody>
      </p:sp>
      <p:sp>
        <p:nvSpPr>
          <p:cNvPr id="74" name="Google Shape;74;p16"/>
          <p:cNvSpPr/>
          <p:nvPr/>
        </p:nvSpPr>
        <p:spPr>
          <a:xfrm>
            <a:off x="411480" y="4025646"/>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Querying and sorting in Compass using our students data.</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B"/>
        </a:solidFill>
      </p:bgPr>
    </p:bg>
    <p:spTree>
      <p:nvGrpSpPr>
        <p:cNvPr id="79" name="Shape 79"/>
        <p:cNvGrpSpPr/>
        <p:nvPr/>
      </p:nvGrpSpPr>
      <p:grpSpPr>
        <a:xfrm>
          <a:off x="0" y="0"/>
          <a:ext cx="0" cy="0"/>
          <a:chOff x="0" y="0"/>
          <a:chExt cx="0" cy="0"/>
        </a:xfrm>
      </p:grpSpPr>
      <p:sp>
        <p:nvSpPr>
          <p:cNvPr id="80" name="Google Shape;80;p17"/>
          <p:cNvSpPr/>
          <p:nvPr/>
        </p:nvSpPr>
        <p:spPr>
          <a:xfrm>
            <a:off x="0" y="0"/>
            <a:ext cx="9143771" cy="51435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2500"/>
              <a:buFont typeface="Calibri"/>
              <a:buNone/>
            </a:pPr>
            <a:r>
              <a:rPr b="1" i="0" lang="en" sz="2500" u="none" cap="none" strike="noStrike">
                <a:solidFill>
                  <a:srgbClr val="FFFFFF"/>
                </a:solidFill>
                <a:latin typeface="Calibri"/>
                <a:ea typeface="Calibri"/>
                <a:cs typeface="Calibri"/>
                <a:sym typeface="Calibri"/>
              </a:rPr>
              <a:t>Warm-up</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 name="Shape 85"/>
        <p:cNvGrpSpPr/>
        <p:nvPr/>
      </p:nvGrpSpPr>
      <p:grpSpPr>
        <a:xfrm>
          <a:off x="0" y="0"/>
          <a:ext cx="0" cy="0"/>
          <a:chOff x="0" y="0"/>
          <a:chExt cx="0" cy="0"/>
        </a:xfrm>
      </p:grpSpPr>
      <p:sp>
        <p:nvSpPr>
          <p:cNvPr id="86" name="Google Shape;86;p18"/>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Warm-up quiz</a:t>
            </a:r>
            <a:endParaRPr b="0" i="0" sz="2000" u="none" cap="none" strike="noStrike">
              <a:solidFill>
                <a:schemeClr val="dk1"/>
              </a:solidFill>
              <a:latin typeface="Calibri"/>
              <a:ea typeface="Calibri"/>
              <a:cs typeface="Calibri"/>
              <a:sym typeface="Calibri"/>
            </a:endParaRPr>
          </a:p>
        </p:txBody>
      </p:sp>
      <p:sp>
        <p:nvSpPr>
          <p:cNvPr id="87" name="Google Shape;87;p18"/>
          <p:cNvSpPr/>
          <p:nvPr/>
        </p:nvSpPr>
        <p:spPr>
          <a:xfrm>
            <a:off x="411475" y="857250"/>
            <a:ext cx="8320800" cy="4833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Answer 6 questions.</a:t>
            </a:r>
            <a:endParaRPr b="0" i="0" sz="1300" u="none" cap="none" strike="noStrike">
              <a:solidFill>
                <a:srgbClr val="1F2937"/>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lang="en" sz="1300">
                <a:solidFill>
                  <a:srgbClr val="1F2937"/>
                </a:solidFill>
                <a:latin typeface="Calibri"/>
                <a:ea typeface="Calibri"/>
                <a:cs typeface="Calibri"/>
                <a:sym typeface="Calibri"/>
              </a:rPr>
              <a:t>Reply format: 1 / 2 / 3 / 4</a:t>
            </a:r>
            <a:endParaRPr sz="1300">
              <a:solidFill>
                <a:srgbClr val="1F2937"/>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sp>
        <p:nvSpPr>
          <p:cNvPr id="93" name="Google Shape;93;p19"/>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Question 1</a:t>
            </a:r>
            <a:endParaRPr b="0" i="0" sz="2000" u="none" cap="none" strike="noStrike">
              <a:solidFill>
                <a:schemeClr val="dk1"/>
              </a:solidFill>
              <a:latin typeface="Calibri"/>
              <a:ea typeface="Calibri"/>
              <a:cs typeface="Calibri"/>
              <a:sym typeface="Calibri"/>
            </a:endParaRPr>
          </a:p>
        </p:txBody>
      </p:sp>
      <p:sp>
        <p:nvSpPr>
          <p:cNvPr id="94" name="Google Shape;94;p19"/>
          <p:cNvSpPr/>
          <p:nvPr/>
        </p:nvSpPr>
        <p:spPr>
          <a:xfrm>
            <a:off x="411480" y="857250"/>
            <a:ext cx="8320811" cy="7886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In our StudentRepository, why do we repeat active on both sides of the OR in a method like: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findByActiveAndNameContainingIgnoreCase</a:t>
            </a:r>
            <a:r>
              <a:rPr b="1" i="0" lang="en" sz="1300" u="none" cap="none" strike="noStrike">
                <a:solidFill>
                  <a:srgbClr val="1F2937"/>
                </a:solidFill>
                <a:latin typeface="Calibri"/>
                <a:ea typeface="Calibri"/>
                <a:cs typeface="Calibri"/>
                <a:sym typeface="Calibri"/>
              </a:rPr>
              <a:t>Or</a:t>
            </a:r>
            <a:r>
              <a:rPr b="0" i="0" lang="en" sz="1300" u="none" cap="none" strike="noStrike">
                <a:solidFill>
                  <a:srgbClr val="1F2937"/>
                </a:solidFill>
                <a:latin typeface="Calibri"/>
                <a:ea typeface="Calibri"/>
                <a:cs typeface="Calibri"/>
                <a:sym typeface="Calibri"/>
              </a:rPr>
              <a:t>ActiveAndEmailContainingIgnoreCase(...) ?</a:t>
            </a:r>
            <a:endParaRPr b="0" i="0" sz="1300" u="none" cap="none" strike="noStrike">
              <a:solidFill>
                <a:schemeClr val="dk1"/>
              </a:solidFill>
              <a:latin typeface="Calibri"/>
              <a:ea typeface="Calibri"/>
              <a:cs typeface="Calibri"/>
              <a:sym typeface="Calibri"/>
            </a:endParaRPr>
          </a:p>
        </p:txBody>
      </p:sp>
      <p:sp>
        <p:nvSpPr>
          <p:cNvPr id="95" name="Google Shape;95;p19"/>
          <p:cNvSpPr/>
          <p:nvPr/>
        </p:nvSpPr>
        <p:spPr>
          <a:xfrm>
            <a:off x="411480" y="1783080"/>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It is a typo, Spring Data ignores duplicate conditions</a:t>
            </a:r>
            <a:endParaRPr b="0" i="0" sz="1100" u="none" cap="none" strike="noStrike">
              <a:solidFill>
                <a:schemeClr val="dk1"/>
              </a:solidFill>
              <a:latin typeface="Calibri"/>
              <a:ea typeface="Calibri"/>
              <a:cs typeface="Calibri"/>
              <a:sym typeface="Calibri"/>
            </a:endParaRPr>
          </a:p>
        </p:txBody>
      </p:sp>
      <p:sp>
        <p:nvSpPr>
          <p:cNvPr id="96" name="Google Shape;96;p19"/>
          <p:cNvSpPr/>
          <p:nvPr/>
        </p:nvSpPr>
        <p:spPr>
          <a:xfrm>
            <a:off x="411480" y="2201418"/>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It forces correct grouping: (active AND nameLike) OR (active AND emailLike)</a:t>
            </a:r>
            <a:endParaRPr b="0" i="0" sz="1100" u="none" cap="none" strike="noStrike">
              <a:solidFill>
                <a:schemeClr val="dk1"/>
              </a:solidFill>
              <a:latin typeface="Calibri"/>
              <a:ea typeface="Calibri"/>
              <a:cs typeface="Calibri"/>
              <a:sym typeface="Calibri"/>
            </a:endParaRPr>
          </a:p>
        </p:txBody>
      </p:sp>
      <p:sp>
        <p:nvSpPr>
          <p:cNvPr id="97" name="Google Shape;97;p19"/>
          <p:cNvSpPr/>
          <p:nvPr/>
        </p:nvSpPr>
        <p:spPr>
          <a:xfrm>
            <a:off x="411480" y="2619756"/>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It applies active only to the name search and skips it for email</a:t>
            </a:r>
            <a:endParaRPr b="0" i="0" sz="1100" u="none" cap="none" strike="noStrike">
              <a:solidFill>
                <a:schemeClr val="dk1"/>
              </a:solidFill>
              <a:latin typeface="Calibri"/>
              <a:ea typeface="Calibri"/>
              <a:cs typeface="Calibri"/>
              <a:sym typeface="Calibri"/>
            </a:endParaRPr>
          </a:p>
        </p:txBody>
      </p:sp>
      <p:sp>
        <p:nvSpPr>
          <p:cNvPr id="98" name="Google Shape;98;p19"/>
          <p:cNvSpPr/>
          <p:nvPr/>
        </p:nvSpPr>
        <p:spPr>
          <a:xfrm>
            <a:off x="411480" y="3038094"/>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MongoDB requires boolean fields to be repeated when using indexes</a:t>
            </a:r>
            <a:endParaRPr b="0" i="0" sz="1100" u="none" cap="none" strike="noStrike">
              <a:solidFill>
                <a:schemeClr val="dk1"/>
              </a:solidFill>
              <a:latin typeface="Calibri"/>
              <a:ea typeface="Calibri"/>
              <a:cs typeface="Calibri"/>
              <a:sym typeface="Calibri"/>
            </a:endParaRPr>
          </a:p>
        </p:txBody>
      </p:sp>
      <p:sp>
        <p:nvSpPr>
          <p:cNvPr id="99" name="Google Shape;99;p19"/>
          <p:cNvSpPr/>
          <p:nvPr/>
        </p:nvSpPr>
        <p:spPr>
          <a:xfrm>
            <a:off x="411480" y="476631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20"/>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Answer 1</a:t>
            </a:r>
            <a:endParaRPr b="0" i="0" sz="2000" u="none" cap="none" strike="noStrike">
              <a:solidFill>
                <a:schemeClr val="dk1"/>
              </a:solidFill>
              <a:latin typeface="Calibri"/>
              <a:ea typeface="Calibri"/>
              <a:cs typeface="Calibri"/>
              <a:sym typeface="Calibri"/>
            </a:endParaRPr>
          </a:p>
        </p:txBody>
      </p:sp>
      <p:sp>
        <p:nvSpPr>
          <p:cNvPr id="106" name="Google Shape;106;p20"/>
          <p:cNvSpPr/>
          <p:nvPr/>
        </p:nvSpPr>
        <p:spPr>
          <a:xfrm>
            <a:off x="411480" y="857250"/>
            <a:ext cx="8320811" cy="7886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In our StudentRepository, why do we repeat active on both sides of the OR in a method like: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findByActiveAndNameContainingIgnoreCaseOrActiveAndEmailContainingIgnoreCase(...) ?</a:t>
            </a:r>
            <a:endParaRPr b="0" i="0" sz="1300" u="none" cap="none" strike="noStrike">
              <a:solidFill>
                <a:schemeClr val="dk1"/>
              </a:solidFill>
              <a:latin typeface="Calibri"/>
              <a:ea typeface="Calibri"/>
              <a:cs typeface="Calibri"/>
              <a:sym typeface="Calibri"/>
            </a:endParaRPr>
          </a:p>
        </p:txBody>
      </p:sp>
      <p:sp>
        <p:nvSpPr>
          <p:cNvPr id="107" name="Google Shape;107;p20"/>
          <p:cNvSpPr/>
          <p:nvPr/>
        </p:nvSpPr>
        <p:spPr>
          <a:xfrm>
            <a:off x="411480" y="1783080"/>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It is a typo, Spring Data ignores duplicate conditions</a:t>
            </a:r>
            <a:endParaRPr b="0" i="0" sz="1100" u="none" cap="none" strike="noStrike">
              <a:solidFill>
                <a:schemeClr val="dk1"/>
              </a:solidFill>
              <a:latin typeface="Calibri"/>
              <a:ea typeface="Calibri"/>
              <a:cs typeface="Calibri"/>
              <a:sym typeface="Calibri"/>
            </a:endParaRPr>
          </a:p>
        </p:txBody>
      </p:sp>
      <p:sp>
        <p:nvSpPr>
          <p:cNvPr id="108" name="Google Shape;108;p20"/>
          <p:cNvSpPr/>
          <p:nvPr/>
        </p:nvSpPr>
        <p:spPr>
          <a:xfrm>
            <a:off x="411480" y="2201418"/>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It forces correct grouping: (active AND nameLike) OR (active AND emailLike)</a:t>
            </a:r>
            <a:endParaRPr b="0" i="0" sz="1100" u="none" cap="none" strike="noStrike">
              <a:solidFill>
                <a:schemeClr val="dk1"/>
              </a:solidFill>
              <a:latin typeface="Calibri"/>
              <a:ea typeface="Calibri"/>
              <a:cs typeface="Calibri"/>
              <a:sym typeface="Calibri"/>
            </a:endParaRPr>
          </a:p>
        </p:txBody>
      </p:sp>
      <p:sp>
        <p:nvSpPr>
          <p:cNvPr id="109" name="Google Shape;109;p20"/>
          <p:cNvSpPr/>
          <p:nvPr/>
        </p:nvSpPr>
        <p:spPr>
          <a:xfrm>
            <a:off x="411480" y="2619756"/>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It applies active only to the name search and skips it for email</a:t>
            </a:r>
            <a:endParaRPr b="0" i="0" sz="1100" u="none" cap="none" strike="noStrike">
              <a:solidFill>
                <a:schemeClr val="dk1"/>
              </a:solidFill>
              <a:latin typeface="Calibri"/>
              <a:ea typeface="Calibri"/>
              <a:cs typeface="Calibri"/>
              <a:sym typeface="Calibri"/>
            </a:endParaRPr>
          </a:p>
        </p:txBody>
      </p:sp>
      <p:sp>
        <p:nvSpPr>
          <p:cNvPr id="110" name="Google Shape;110;p20"/>
          <p:cNvSpPr/>
          <p:nvPr/>
        </p:nvSpPr>
        <p:spPr>
          <a:xfrm>
            <a:off x="411480" y="3038094"/>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MongoDB requires boolean fields to be repeated when using indexes</a:t>
            </a:r>
            <a:endParaRPr b="0" i="0" sz="1100" u="none" cap="none" strike="noStrike">
              <a:solidFill>
                <a:schemeClr val="dk1"/>
              </a:solidFill>
              <a:latin typeface="Calibri"/>
              <a:ea typeface="Calibri"/>
              <a:cs typeface="Calibri"/>
              <a:sym typeface="Calibri"/>
            </a:endParaRPr>
          </a:p>
        </p:txBody>
      </p:sp>
      <p:sp>
        <p:nvSpPr>
          <p:cNvPr id="111" name="Google Shape;111;p20"/>
          <p:cNvSpPr/>
          <p:nvPr/>
        </p:nvSpPr>
        <p:spPr>
          <a:xfrm>
            <a:off x="411480" y="3538728"/>
            <a:ext cx="832081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1" i="0" lang="en" sz="1100" u="none" cap="none" strike="noStrike">
                <a:solidFill>
                  <a:srgbClr val="1F2937"/>
                </a:solidFill>
                <a:latin typeface="Calibri"/>
                <a:ea typeface="Calibri"/>
                <a:cs typeface="Calibri"/>
                <a:sym typeface="Calibri"/>
              </a:rPr>
              <a:t>Correct answer: 2</a:t>
            </a:r>
            <a:endParaRPr b="0" i="0" sz="1100" u="none" cap="none" strike="noStrike">
              <a:solidFill>
                <a:schemeClr val="dk1"/>
              </a:solidFill>
              <a:latin typeface="Calibri"/>
              <a:ea typeface="Calibri"/>
              <a:cs typeface="Calibri"/>
              <a:sym typeface="Calibri"/>
            </a:endParaRPr>
          </a:p>
        </p:txBody>
      </p:sp>
      <p:sp>
        <p:nvSpPr>
          <p:cNvPr id="112" name="Google Shape;112;p20"/>
          <p:cNvSpPr/>
          <p:nvPr/>
        </p:nvSpPr>
        <p:spPr>
          <a:xfrm>
            <a:off x="411480" y="3771900"/>
            <a:ext cx="8320811" cy="7200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Why: Without repeating active, the OR can change the meaning and return results that do not match the active filter for one side of the OR. Repeating active makes the filter apply to both name and email matches.</a:t>
            </a:r>
            <a:endParaRPr b="0" i="0" sz="1100" u="none" cap="none" strike="noStrike">
              <a:solidFill>
                <a:schemeClr val="dk1"/>
              </a:solidFill>
              <a:latin typeface="Calibri"/>
              <a:ea typeface="Calibri"/>
              <a:cs typeface="Calibri"/>
              <a:sym typeface="Calibri"/>
            </a:endParaRPr>
          </a:p>
        </p:txBody>
      </p:sp>
      <p:sp>
        <p:nvSpPr>
          <p:cNvPr id="113" name="Google Shape;113;p20"/>
          <p:cNvSpPr/>
          <p:nvPr/>
        </p:nvSpPr>
        <p:spPr>
          <a:xfrm>
            <a:off x="411480" y="476631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 name="Shape 118"/>
        <p:cNvGrpSpPr/>
        <p:nvPr/>
      </p:nvGrpSpPr>
      <p:grpSpPr>
        <a:xfrm>
          <a:off x="0" y="0"/>
          <a:ext cx="0" cy="0"/>
          <a:chOff x="0" y="0"/>
          <a:chExt cx="0" cy="0"/>
        </a:xfrm>
      </p:grpSpPr>
      <p:sp>
        <p:nvSpPr>
          <p:cNvPr id="119" name="Google Shape;119;p21"/>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Question 2</a:t>
            </a:r>
            <a:endParaRPr b="0" i="0" sz="2000" u="none" cap="none" strike="noStrike">
              <a:solidFill>
                <a:schemeClr val="dk1"/>
              </a:solidFill>
              <a:latin typeface="Calibri"/>
              <a:ea typeface="Calibri"/>
              <a:cs typeface="Calibri"/>
              <a:sym typeface="Calibri"/>
            </a:endParaRPr>
          </a:p>
        </p:txBody>
      </p:sp>
      <p:sp>
        <p:nvSpPr>
          <p:cNvPr id="120" name="Google Shape;120;p21"/>
          <p:cNvSpPr/>
          <p:nvPr/>
        </p:nvSpPr>
        <p:spPr>
          <a:xfrm>
            <a:off x="411480" y="857250"/>
            <a:ext cx="8320811" cy="11772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A client calls: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GET /students?page=0&amp;size=0</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What should our API do for size=0?</a:t>
            </a:r>
            <a:endParaRPr b="0" i="0" sz="1300" u="none" cap="none" strike="noStrike">
              <a:solidFill>
                <a:schemeClr val="dk1"/>
              </a:solidFill>
              <a:latin typeface="Calibri"/>
              <a:ea typeface="Calibri"/>
              <a:cs typeface="Calibri"/>
              <a:sym typeface="Calibri"/>
            </a:endParaRPr>
          </a:p>
        </p:txBody>
      </p:sp>
      <p:sp>
        <p:nvSpPr>
          <p:cNvPr id="121" name="Google Shape;121;p21"/>
          <p:cNvSpPr/>
          <p:nvPr/>
        </p:nvSpPr>
        <p:spPr>
          <a:xfrm>
            <a:off x="411480" y="2171700"/>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Treat it as valid and return 0 students</a:t>
            </a:r>
            <a:endParaRPr b="0" i="0" sz="1100" u="none" cap="none" strike="noStrike">
              <a:solidFill>
                <a:schemeClr val="dk1"/>
              </a:solidFill>
              <a:latin typeface="Calibri"/>
              <a:ea typeface="Calibri"/>
              <a:cs typeface="Calibri"/>
              <a:sym typeface="Calibri"/>
            </a:endParaRPr>
          </a:p>
        </p:txBody>
      </p:sp>
      <p:sp>
        <p:nvSpPr>
          <p:cNvPr id="122" name="Google Shape;122;p21"/>
          <p:cNvSpPr/>
          <p:nvPr/>
        </p:nvSpPr>
        <p:spPr>
          <a:xfrm>
            <a:off x="411480" y="2590038"/>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Convert it to size=1 automatically</a:t>
            </a:r>
            <a:endParaRPr b="0" i="0" sz="1100" u="none" cap="none" strike="noStrike">
              <a:solidFill>
                <a:schemeClr val="dk1"/>
              </a:solidFill>
              <a:latin typeface="Calibri"/>
              <a:ea typeface="Calibri"/>
              <a:cs typeface="Calibri"/>
              <a:sym typeface="Calibri"/>
            </a:endParaRPr>
          </a:p>
        </p:txBody>
      </p:sp>
      <p:sp>
        <p:nvSpPr>
          <p:cNvPr id="123" name="Google Shape;123;p21"/>
          <p:cNvSpPr/>
          <p:nvPr/>
        </p:nvSpPr>
        <p:spPr>
          <a:xfrm>
            <a:off x="411480" y="3008376"/>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Let Spring Data handle it without validation</a:t>
            </a:r>
            <a:endParaRPr b="0" i="0" sz="1100" u="none" cap="none" strike="noStrike">
              <a:solidFill>
                <a:schemeClr val="dk1"/>
              </a:solidFill>
              <a:latin typeface="Calibri"/>
              <a:ea typeface="Calibri"/>
              <a:cs typeface="Calibri"/>
              <a:sym typeface="Calibri"/>
            </a:endParaRPr>
          </a:p>
        </p:txBody>
      </p:sp>
      <p:sp>
        <p:nvSpPr>
          <p:cNvPr id="124" name="Google Shape;124;p21"/>
          <p:cNvSpPr/>
          <p:nvPr/>
        </p:nvSpPr>
        <p:spPr>
          <a:xfrm>
            <a:off x="411480" y="3426714"/>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Treat it as invalid and fall back to a default size (for example 3)</a:t>
            </a:r>
            <a:endParaRPr b="0" i="0" sz="1100" u="none" cap="none" strike="noStrike">
              <a:solidFill>
                <a:schemeClr val="dk1"/>
              </a:solidFill>
              <a:latin typeface="Calibri"/>
              <a:ea typeface="Calibri"/>
              <a:cs typeface="Calibri"/>
              <a:sym typeface="Calibri"/>
            </a:endParaRPr>
          </a:p>
        </p:txBody>
      </p:sp>
      <p:sp>
        <p:nvSpPr>
          <p:cNvPr id="125" name="Google Shape;125;p21"/>
          <p:cNvSpPr/>
          <p:nvPr/>
        </p:nvSpPr>
        <p:spPr>
          <a:xfrm>
            <a:off x="411480" y="476631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 name="Shape 130"/>
        <p:cNvGrpSpPr/>
        <p:nvPr/>
      </p:nvGrpSpPr>
      <p:grpSpPr>
        <a:xfrm>
          <a:off x="0" y="0"/>
          <a:ext cx="0" cy="0"/>
          <a:chOff x="0" y="0"/>
          <a:chExt cx="0" cy="0"/>
        </a:xfrm>
      </p:grpSpPr>
      <p:sp>
        <p:nvSpPr>
          <p:cNvPr id="131" name="Google Shape;131;p22"/>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Answer 2</a:t>
            </a:r>
            <a:endParaRPr b="0" i="0" sz="2000" u="none" cap="none" strike="noStrike">
              <a:solidFill>
                <a:schemeClr val="dk1"/>
              </a:solidFill>
              <a:latin typeface="Calibri"/>
              <a:ea typeface="Calibri"/>
              <a:cs typeface="Calibri"/>
              <a:sym typeface="Calibri"/>
            </a:endParaRPr>
          </a:p>
        </p:txBody>
      </p:sp>
      <p:sp>
        <p:nvSpPr>
          <p:cNvPr id="132" name="Google Shape;132;p22"/>
          <p:cNvSpPr/>
          <p:nvPr/>
        </p:nvSpPr>
        <p:spPr>
          <a:xfrm>
            <a:off x="411480" y="857250"/>
            <a:ext cx="8320811" cy="11772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A client calls: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GET /students?page=0&amp;size=0</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What should our API do for size=0?</a:t>
            </a:r>
            <a:endParaRPr b="0" i="0" sz="1300" u="none" cap="none" strike="noStrike">
              <a:solidFill>
                <a:schemeClr val="dk1"/>
              </a:solidFill>
              <a:latin typeface="Calibri"/>
              <a:ea typeface="Calibri"/>
              <a:cs typeface="Calibri"/>
              <a:sym typeface="Calibri"/>
            </a:endParaRPr>
          </a:p>
        </p:txBody>
      </p:sp>
      <p:sp>
        <p:nvSpPr>
          <p:cNvPr id="133" name="Google Shape;133;p22"/>
          <p:cNvSpPr/>
          <p:nvPr/>
        </p:nvSpPr>
        <p:spPr>
          <a:xfrm>
            <a:off x="411480" y="2171700"/>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Treat it as valid and return 0 students</a:t>
            </a:r>
            <a:endParaRPr b="0" i="0" sz="1100" u="none" cap="none" strike="noStrike">
              <a:solidFill>
                <a:schemeClr val="dk1"/>
              </a:solidFill>
              <a:latin typeface="Calibri"/>
              <a:ea typeface="Calibri"/>
              <a:cs typeface="Calibri"/>
              <a:sym typeface="Calibri"/>
            </a:endParaRPr>
          </a:p>
        </p:txBody>
      </p:sp>
      <p:sp>
        <p:nvSpPr>
          <p:cNvPr id="134" name="Google Shape;134;p22"/>
          <p:cNvSpPr/>
          <p:nvPr/>
        </p:nvSpPr>
        <p:spPr>
          <a:xfrm>
            <a:off x="411480" y="2590038"/>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Convert it to size=1 automatically</a:t>
            </a:r>
            <a:endParaRPr b="0" i="0" sz="1100" u="none" cap="none" strike="noStrike">
              <a:solidFill>
                <a:schemeClr val="dk1"/>
              </a:solidFill>
              <a:latin typeface="Calibri"/>
              <a:ea typeface="Calibri"/>
              <a:cs typeface="Calibri"/>
              <a:sym typeface="Calibri"/>
            </a:endParaRPr>
          </a:p>
        </p:txBody>
      </p:sp>
      <p:sp>
        <p:nvSpPr>
          <p:cNvPr id="135" name="Google Shape;135;p22"/>
          <p:cNvSpPr/>
          <p:nvPr/>
        </p:nvSpPr>
        <p:spPr>
          <a:xfrm>
            <a:off x="411480" y="3008376"/>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Let Spring Data handle it without validation</a:t>
            </a:r>
            <a:endParaRPr b="0" i="0" sz="1100" u="none" cap="none" strike="noStrike">
              <a:solidFill>
                <a:schemeClr val="dk1"/>
              </a:solidFill>
              <a:latin typeface="Calibri"/>
              <a:ea typeface="Calibri"/>
              <a:cs typeface="Calibri"/>
              <a:sym typeface="Calibri"/>
            </a:endParaRPr>
          </a:p>
        </p:txBody>
      </p:sp>
      <p:sp>
        <p:nvSpPr>
          <p:cNvPr id="136" name="Google Shape;136;p22"/>
          <p:cNvSpPr/>
          <p:nvPr/>
        </p:nvSpPr>
        <p:spPr>
          <a:xfrm>
            <a:off x="411480" y="3426714"/>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Treat it as invalid and fall back to a default size (for example 3)</a:t>
            </a:r>
            <a:endParaRPr b="0" i="0" sz="1100" u="none" cap="none" strike="noStrike">
              <a:solidFill>
                <a:schemeClr val="dk1"/>
              </a:solidFill>
              <a:latin typeface="Calibri"/>
              <a:ea typeface="Calibri"/>
              <a:cs typeface="Calibri"/>
              <a:sym typeface="Calibri"/>
            </a:endParaRPr>
          </a:p>
        </p:txBody>
      </p:sp>
      <p:sp>
        <p:nvSpPr>
          <p:cNvPr id="137" name="Google Shape;137;p22"/>
          <p:cNvSpPr/>
          <p:nvPr/>
        </p:nvSpPr>
        <p:spPr>
          <a:xfrm>
            <a:off x="411480" y="3927348"/>
            <a:ext cx="832081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1" i="0" lang="en" sz="1100" u="none" cap="none" strike="noStrike">
                <a:solidFill>
                  <a:srgbClr val="1F2937"/>
                </a:solidFill>
                <a:latin typeface="Calibri"/>
                <a:ea typeface="Calibri"/>
                <a:cs typeface="Calibri"/>
                <a:sym typeface="Calibri"/>
              </a:rPr>
              <a:t>Correct answer: 4</a:t>
            </a:r>
            <a:endParaRPr b="0" i="0" sz="1100" u="none" cap="none" strike="noStrike">
              <a:solidFill>
                <a:schemeClr val="dk1"/>
              </a:solidFill>
              <a:latin typeface="Calibri"/>
              <a:ea typeface="Calibri"/>
              <a:cs typeface="Calibri"/>
              <a:sym typeface="Calibri"/>
            </a:endParaRPr>
          </a:p>
        </p:txBody>
      </p:sp>
      <p:sp>
        <p:nvSpPr>
          <p:cNvPr id="138" name="Google Shape;138;p22"/>
          <p:cNvSpPr/>
          <p:nvPr/>
        </p:nvSpPr>
        <p:spPr>
          <a:xfrm>
            <a:off x="411480" y="4160520"/>
            <a:ext cx="8320811"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Why: PageRequest.of(page, size, sort) does not accept size 0. If we do not guard it, the request can fail. A safe default keeps the API predictable.</a:t>
            </a:r>
            <a:endParaRPr b="0" i="0" sz="1100" u="none" cap="none" strike="noStrike">
              <a:solidFill>
                <a:schemeClr val="dk1"/>
              </a:solidFill>
              <a:latin typeface="Calibri"/>
              <a:ea typeface="Calibri"/>
              <a:cs typeface="Calibri"/>
              <a:sym typeface="Calibri"/>
            </a:endParaRPr>
          </a:p>
        </p:txBody>
      </p:sp>
      <p:sp>
        <p:nvSpPr>
          <p:cNvPr id="139" name="Google Shape;139;p22"/>
          <p:cNvSpPr/>
          <p:nvPr/>
        </p:nvSpPr>
        <p:spPr>
          <a:xfrm>
            <a:off x="411480" y="476631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 name="Shape 144"/>
        <p:cNvGrpSpPr/>
        <p:nvPr/>
      </p:nvGrpSpPr>
      <p:grpSpPr>
        <a:xfrm>
          <a:off x="0" y="0"/>
          <a:ext cx="0" cy="0"/>
          <a:chOff x="0" y="0"/>
          <a:chExt cx="0" cy="0"/>
        </a:xfrm>
      </p:grpSpPr>
      <p:sp>
        <p:nvSpPr>
          <p:cNvPr id="145" name="Google Shape;145;p23"/>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Question 3</a:t>
            </a:r>
            <a:endParaRPr b="0" i="0" sz="2000" u="none" cap="none" strike="noStrike">
              <a:solidFill>
                <a:schemeClr val="dk1"/>
              </a:solidFill>
              <a:latin typeface="Calibri"/>
              <a:ea typeface="Calibri"/>
              <a:cs typeface="Calibri"/>
              <a:sym typeface="Calibri"/>
            </a:endParaRPr>
          </a:p>
        </p:txBody>
      </p:sp>
      <p:sp>
        <p:nvSpPr>
          <p:cNvPr id="146" name="Google Shape;146;p23"/>
          <p:cNvSpPr/>
          <p:nvPr/>
        </p:nvSpPr>
        <p:spPr>
          <a:xfrm>
            <a:off x="411480" y="857250"/>
            <a:ext cx="8320811" cy="7886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In our service, repository methods often return Optional&lt;Student&gt;.</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If a student is not found, what is the best HTTP status code for GET /students/{id}?</a:t>
            </a:r>
            <a:endParaRPr b="0" i="0" sz="1300" u="none" cap="none" strike="noStrike">
              <a:solidFill>
                <a:schemeClr val="dk1"/>
              </a:solidFill>
              <a:latin typeface="Calibri"/>
              <a:ea typeface="Calibri"/>
              <a:cs typeface="Calibri"/>
              <a:sym typeface="Calibri"/>
            </a:endParaRPr>
          </a:p>
        </p:txBody>
      </p:sp>
      <p:sp>
        <p:nvSpPr>
          <p:cNvPr id="147" name="Google Shape;147;p23"/>
          <p:cNvSpPr/>
          <p:nvPr/>
        </p:nvSpPr>
        <p:spPr>
          <a:xfrm>
            <a:off x="411480" y="1783080"/>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200 OK with null in the body</a:t>
            </a:r>
            <a:endParaRPr b="0" i="0" sz="1100" u="none" cap="none" strike="noStrike">
              <a:solidFill>
                <a:schemeClr val="dk1"/>
              </a:solidFill>
              <a:latin typeface="Calibri"/>
              <a:ea typeface="Calibri"/>
              <a:cs typeface="Calibri"/>
              <a:sym typeface="Calibri"/>
            </a:endParaRPr>
          </a:p>
        </p:txBody>
      </p:sp>
      <p:sp>
        <p:nvSpPr>
          <p:cNvPr id="148" name="Google Shape;148;p23"/>
          <p:cNvSpPr/>
          <p:nvPr/>
        </p:nvSpPr>
        <p:spPr>
          <a:xfrm>
            <a:off x="411480" y="2201418"/>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204 No Content</a:t>
            </a:r>
            <a:endParaRPr b="0" i="0" sz="1100" u="none" cap="none" strike="noStrike">
              <a:solidFill>
                <a:schemeClr val="dk1"/>
              </a:solidFill>
              <a:latin typeface="Calibri"/>
              <a:ea typeface="Calibri"/>
              <a:cs typeface="Calibri"/>
              <a:sym typeface="Calibri"/>
            </a:endParaRPr>
          </a:p>
        </p:txBody>
      </p:sp>
      <p:sp>
        <p:nvSpPr>
          <p:cNvPr id="149" name="Google Shape;149;p23"/>
          <p:cNvSpPr/>
          <p:nvPr/>
        </p:nvSpPr>
        <p:spPr>
          <a:xfrm>
            <a:off x="411480" y="2619756"/>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404 Not Found</a:t>
            </a:r>
            <a:endParaRPr b="0" i="0" sz="1100" u="none" cap="none" strike="noStrike">
              <a:solidFill>
                <a:schemeClr val="dk1"/>
              </a:solidFill>
              <a:latin typeface="Calibri"/>
              <a:ea typeface="Calibri"/>
              <a:cs typeface="Calibri"/>
              <a:sym typeface="Calibri"/>
            </a:endParaRPr>
          </a:p>
        </p:txBody>
      </p:sp>
      <p:sp>
        <p:nvSpPr>
          <p:cNvPr id="150" name="Google Shape;150;p23"/>
          <p:cNvSpPr/>
          <p:nvPr/>
        </p:nvSpPr>
        <p:spPr>
          <a:xfrm>
            <a:off x="411480" y="3038094"/>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500 Internal Server Error</a:t>
            </a:r>
            <a:endParaRPr b="0" i="0" sz="1100" u="none" cap="none" strike="noStrike">
              <a:solidFill>
                <a:schemeClr val="dk1"/>
              </a:solidFill>
              <a:latin typeface="Calibri"/>
              <a:ea typeface="Calibri"/>
              <a:cs typeface="Calibri"/>
              <a:sym typeface="Calibri"/>
            </a:endParaRPr>
          </a:p>
        </p:txBody>
      </p:sp>
      <p:sp>
        <p:nvSpPr>
          <p:cNvPr id="151" name="Google Shape;151;p23"/>
          <p:cNvSpPr/>
          <p:nvPr/>
        </p:nvSpPr>
        <p:spPr>
          <a:xfrm>
            <a:off x="411480" y="476631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 name="Shape 156"/>
        <p:cNvGrpSpPr/>
        <p:nvPr/>
      </p:nvGrpSpPr>
      <p:grpSpPr>
        <a:xfrm>
          <a:off x="0" y="0"/>
          <a:ext cx="0" cy="0"/>
          <a:chOff x="0" y="0"/>
          <a:chExt cx="0" cy="0"/>
        </a:xfrm>
      </p:grpSpPr>
      <p:sp>
        <p:nvSpPr>
          <p:cNvPr id="157" name="Google Shape;157;p24"/>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Answer 3</a:t>
            </a:r>
            <a:endParaRPr b="0" i="0" sz="2000" u="none" cap="none" strike="noStrike">
              <a:solidFill>
                <a:schemeClr val="dk1"/>
              </a:solidFill>
              <a:latin typeface="Calibri"/>
              <a:ea typeface="Calibri"/>
              <a:cs typeface="Calibri"/>
              <a:sym typeface="Calibri"/>
            </a:endParaRPr>
          </a:p>
        </p:txBody>
      </p:sp>
      <p:sp>
        <p:nvSpPr>
          <p:cNvPr id="158" name="Google Shape;158;p24"/>
          <p:cNvSpPr/>
          <p:nvPr/>
        </p:nvSpPr>
        <p:spPr>
          <a:xfrm>
            <a:off x="411480" y="857250"/>
            <a:ext cx="8320811" cy="7886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In our service, repository methods often return Optional&lt;Student&gt;.</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If a student is not found, what is the best HTTP status code for GET /students/{id}?</a:t>
            </a:r>
            <a:endParaRPr b="0" i="0" sz="1300" u="none" cap="none" strike="noStrike">
              <a:solidFill>
                <a:schemeClr val="dk1"/>
              </a:solidFill>
              <a:latin typeface="Calibri"/>
              <a:ea typeface="Calibri"/>
              <a:cs typeface="Calibri"/>
              <a:sym typeface="Calibri"/>
            </a:endParaRPr>
          </a:p>
        </p:txBody>
      </p:sp>
      <p:sp>
        <p:nvSpPr>
          <p:cNvPr id="159" name="Google Shape;159;p24"/>
          <p:cNvSpPr/>
          <p:nvPr/>
        </p:nvSpPr>
        <p:spPr>
          <a:xfrm>
            <a:off x="411480" y="1783080"/>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200 OK with null in the body</a:t>
            </a:r>
            <a:endParaRPr b="0" i="0" sz="1100" u="none" cap="none" strike="noStrike">
              <a:solidFill>
                <a:schemeClr val="dk1"/>
              </a:solidFill>
              <a:latin typeface="Calibri"/>
              <a:ea typeface="Calibri"/>
              <a:cs typeface="Calibri"/>
              <a:sym typeface="Calibri"/>
            </a:endParaRPr>
          </a:p>
        </p:txBody>
      </p:sp>
      <p:sp>
        <p:nvSpPr>
          <p:cNvPr id="160" name="Google Shape;160;p24"/>
          <p:cNvSpPr/>
          <p:nvPr/>
        </p:nvSpPr>
        <p:spPr>
          <a:xfrm>
            <a:off x="411480" y="2201418"/>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204 No Content</a:t>
            </a:r>
            <a:endParaRPr b="0" i="0" sz="1100" u="none" cap="none" strike="noStrike">
              <a:solidFill>
                <a:schemeClr val="dk1"/>
              </a:solidFill>
              <a:latin typeface="Calibri"/>
              <a:ea typeface="Calibri"/>
              <a:cs typeface="Calibri"/>
              <a:sym typeface="Calibri"/>
            </a:endParaRPr>
          </a:p>
        </p:txBody>
      </p:sp>
      <p:sp>
        <p:nvSpPr>
          <p:cNvPr id="161" name="Google Shape;161;p24"/>
          <p:cNvSpPr/>
          <p:nvPr/>
        </p:nvSpPr>
        <p:spPr>
          <a:xfrm>
            <a:off x="411480" y="2619756"/>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404 Not Found</a:t>
            </a:r>
            <a:endParaRPr b="0" i="0" sz="1100" u="none" cap="none" strike="noStrike">
              <a:solidFill>
                <a:schemeClr val="dk1"/>
              </a:solidFill>
              <a:latin typeface="Calibri"/>
              <a:ea typeface="Calibri"/>
              <a:cs typeface="Calibri"/>
              <a:sym typeface="Calibri"/>
            </a:endParaRPr>
          </a:p>
        </p:txBody>
      </p:sp>
      <p:sp>
        <p:nvSpPr>
          <p:cNvPr id="162" name="Google Shape;162;p24"/>
          <p:cNvSpPr/>
          <p:nvPr/>
        </p:nvSpPr>
        <p:spPr>
          <a:xfrm>
            <a:off x="411480" y="3038094"/>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500 Internal Server Error</a:t>
            </a:r>
            <a:endParaRPr b="0" i="0" sz="1100" u="none" cap="none" strike="noStrike">
              <a:solidFill>
                <a:schemeClr val="dk1"/>
              </a:solidFill>
              <a:latin typeface="Calibri"/>
              <a:ea typeface="Calibri"/>
              <a:cs typeface="Calibri"/>
              <a:sym typeface="Calibri"/>
            </a:endParaRPr>
          </a:p>
        </p:txBody>
      </p:sp>
      <p:sp>
        <p:nvSpPr>
          <p:cNvPr id="163" name="Google Shape;163;p24"/>
          <p:cNvSpPr/>
          <p:nvPr/>
        </p:nvSpPr>
        <p:spPr>
          <a:xfrm>
            <a:off x="411480" y="3538728"/>
            <a:ext cx="832081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1" i="0" lang="en" sz="1100" u="none" cap="none" strike="noStrike">
                <a:solidFill>
                  <a:srgbClr val="1F2937"/>
                </a:solidFill>
                <a:latin typeface="Calibri"/>
                <a:ea typeface="Calibri"/>
                <a:cs typeface="Calibri"/>
                <a:sym typeface="Calibri"/>
              </a:rPr>
              <a:t>Correct answer: 3</a:t>
            </a:r>
            <a:endParaRPr b="0" i="0" sz="1100" u="none" cap="none" strike="noStrike">
              <a:solidFill>
                <a:schemeClr val="dk1"/>
              </a:solidFill>
              <a:latin typeface="Calibri"/>
              <a:ea typeface="Calibri"/>
              <a:cs typeface="Calibri"/>
              <a:sym typeface="Calibri"/>
            </a:endParaRPr>
          </a:p>
        </p:txBody>
      </p:sp>
      <p:sp>
        <p:nvSpPr>
          <p:cNvPr id="164" name="Google Shape;164;p24"/>
          <p:cNvSpPr/>
          <p:nvPr/>
        </p:nvSpPr>
        <p:spPr>
          <a:xfrm>
            <a:off x="411480" y="3771900"/>
            <a:ext cx="8320811"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Why: The resource does not exist. 404 clearly communicates not found to the client.</a:t>
            </a:r>
            <a:endParaRPr b="0" i="0" sz="1100" u="none" cap="none" strike="noStrike">
              <a:solidFill>
                <a:schemeClr val="dk1"/>
              </a:solidFill>
              <a:latin typeface="Calibri"/>
              <a:ea typeface="Calibri"/>
              <a:cs typeface="Calibri"/>
              <a:sym typeface="Calibri"/>
            </a:endParaRPr>
          </a:p>
        </p:txBody>
      </p:sp>
      <p:sp>
        <p:nvSpPr>
          <p:cNvPr id="165" name="Google Shape;165;p24"/>
          <p:cNvSpPr/>
          <p:nvPr/>
        </p:nvSpPr>
        <p:spPr>
          <a:xfrm>
            <a:off x="411480" y="476631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25"/>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Question 4</a:t>
            </a:r>
            <a:endParaRPr b="0" i="0" sz="2000" u="none" cap="none" strike="noStrike">
              <a:solidFill>
                <a:schemeClr val="dk1"/>
              </a:solidFill>
              <a:latin typeface="Calibri"/>
              <a:ea typeface="Calibri"/>
              <a:cs typeface="Calibri"/>
              <a:sym typeface="Calibri"/>
            </a:endParaRPr>
          </a:p>
        </p:txBody>
      </p:sp>
      <p:sp>
        <p:nvSpPr>
          <p:cNvPr id="172" name="Google Shape;172;p25"/>
          <p:cNvSpPr/>
          <p:nvPr/>
        </p:nvSpPr>
        <p:spPr>
          <a:xfrm>
            <a:off x="411480" y="857250"/>
            <a:ext cx="8320811" cy="5943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Why do we return a paginated response object (example: StudentPageResponse) instead of returning only List&lt;Student&gt;?</a:t>
            </a:r>
            <a:endParaRPr b="0" i="0" sz="1300" u="none" cap="none" strike="noStrike">
              <a:solidFill>
                <a:schemeClr val="dk1"/>
              </a:solidFill>
              <a:latin typeface="Calibri"/>
              <a:ea typeface="Calibri"/>
              <a:cs typeface="Calibri"/>
              <a:sym typeface="Calibri"/>
            </a:endParaRPr>
          </a:p>
        </p:txBody>
      </p:sp>
      <p:sp>
        <p:nvSpPr>
          <p:cNvPr id="173" name="Google Shape;173;p25"/>
          <p:cNvSpPr/>
          <p:nvPr/>
        </p:nvSpPr>
        <p:spPr>
          <a:xfrm>
            <a:off x="411480" y="1588770"/>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We need both the student list and pagination metadata (page, size, total pages, total elements)</a:t>
            </a:r>
            <a:endParaRPr b="0" i="0" sz="1100" u="none" cap="none" strike="noStrike">
              <a:solidFill>
                <a:schemeClr val="dk1"/>
              </a:solidFill>
              <a:latin typeface="Calibri"/>
              <a:ea typeface="Calibri"/>
              <a:cs typeface="Calibri"/>
              <a:sym typeface="Calibri"/>
            </a:endParaRPr>
          </a:p>
        </p:txBody>
      </p:sp>
      <p:sp>
        <p:nvSpPr>
          <p:cNvPr id="174" name="Google Shape;174;p25"/>
          <p:cNvSpPr/>
          <p:nvPr/>
        </p:nvSpPr>
        <p:spPr>
          <a:xfrm>
            <a:off x="411480" y="2007108"/>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MongoDB cannot return a List directly</a:t>
            </a:r>
            <a:endParaRPr b="0" i="0" sz="1100" u="none" cap="none" strike="noStrike">
              <a:solidFill>
                <a:schemeClr val="dk1"/>
              </a:solidFill>
              <a:latin typeface="Calibri"/>
              <a:ea typeface="Calibri"/>
              <a:cs typeface="Calibri"/>
              <a:sym typeface="Calibri"/>
            </a:endParaRPr>
          </a:p>
        </p:txBody>
      </p:sp>
      <p:sp>
        <p:nvSpPr>
          <p:cNvPr id="175" name="Google Shape;175;p25"/>
          <p:cNvSpPr/>
          <p:nvPr/>
        </p:nvSpPr>
        <p:spPr>
          <a:xfrm>
            <a:off x="411480" y="2425446"/>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Spring Boot only supports responses as custom objects, not Lists</a:t>
            </a:r>
            <a:endParaRPr b="0" i="0" sz="1100" u="none" cap="none" strike="noStrike">
              <a:solidFill>
                <a:schemeClr val="dk1"/>
              </a:solidFill>
              <a:latin typeface="Calibri"/>
              <a:ea typeface="Calibri"/>
              <a:cs typeface="Calibri"/>
              <a:sym typeface="Calibri"/>
            </a:endParaRPr>
          </a:p>
        </p:txBody>
      </p:sp>
      <p:sp>
        <p:nvSpPr>
          <p:cNvPr id="176" name="Google Shape;176;p25"/>
          <p:cNvSpPr/>
          <p:nvPr/>
        </p:nvSpPr>
        <p:spPr>
          <a:xfrm>
            <a:off x="411480" y="2843784"/>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It is required only when using sorting</a:t>
            </a:r>
            <a:endParaRPr b="0" i="0" sz="1100" u="none" cap="none" strike="noStrike">
              <a:solidFill>
                <a:schemeClr val="dk1"/>
              </a:solidFill>
              <a:latin typeface="Calibri"/>
              <a:ea typeface="Calibri"/>
              <a:cs typeface="Calibri"/>
              <a:sym typeface="Calibri"/>
            </a:endParaRPr>
          </a:p>
        </p:txBody>
      </p:sp>
      <p:sp>
        <p:nvSpPr>
          <p:cNvPr id="177" name="Google Shape;177;p25"/>
          <p:cNvSpPr/>
          <p:nvPr/>
        </p:nvSpPr>
        <p:spPr>
          <a:xfrm>
            <a:off x="411480" y="476631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sp>
        <p:nvSpPr>
          <p:cNvPr id="183" name="Google Shape;183;p26"/>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Answer 4</a:t>
            </a:r>
            <a:endParaRPr b="0" i="0" sz="2000" u="none" cap="none" strike="noStrike">
              <a:solidFill>
                <a:schemeClr val="dk1"/>
              </a:solidFill>
              <a:latin typeface="Calibri"/>
              <a:ea typeface="Calibri"/>
              <a:cs typeface="Calibri"/>
              <a:sym typeface="Calibri"/>
            </a:endParaRPr>
          </a:p>
        </p:txBody>
      </p:sp>
      <p:sp>
        <p:nvSpPr>
          <p:cNvPr id="184" name="Google Shape;184;p26"/>
          <p:cNvSpPr/>
          <p:nvPr/>
        </p:nvSpPr>
        <p:spPr>
          <a:xfrm>
            <a:off x="411480" y="857250"/>
            <a:ext cx="8320811" cy="5943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Why do we return a paginated response object (example: StudentPageResponse) instead of returning only List&lt;Student&gt;?</a:t>
            </a:r>
            <a:endParaRPr b="0" i="0" sz="1300" u="none" cap="none" strike="noStrike">
              <a:solidFill>
                <a:schemeClr val="dk1"/>
              </a:solidFill>
              <a:latin typeface="Calibri"/>
              <a:ea typeface="Calibri"/>
              <a:cs typeface="Calibri"/>
              <a:sym typeface="Calibri"/>
            </a:endParaRPr>
          </a:p>
        </p:txBody>
      </p:sp>
      <p:sp>
        <p:nvSpPr>
          <p:cNvPr id="185" name="Google Shape;185;p26"/>
          <p:cNvSpPr/>
          <p:nvPr/>
        </p:nvSpPr>
        <p:spPr>
          <a:xfrm>
            <a:off x="411480" y="1588770"/>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We need both the student list and pagination metadata (page, size, total pages, total elements)</a:t>
            </a:r>
            <a:endParaRPr b="0" i="0" sz="1100" u="none" cap="none" strike="noStrike">
              <a:solidFill>
                <a:schemeClr val="dk1"/>
              </a:solidFill>
              <a:latin typeface="Calibri"/>
              <a:ea typeface="Calibri"/>
              <a:cs typeface="Calibri"/>
              <a:sym typeface="Calibri"/>
            </a:endParaRPr>
          </a:p>
        </p:txBody>
      </p:sp>
      <p:sp>
        <p:nvSpPr>
          <p:cNvPr id="186" name="Google Shape;186;p26"/>
          <p:cNvSpPr/>
          <p:nvPr/>
        </p:nvSpPr>
        <p:spPr>
          <a:xfrm>
            <a:off x="411480" y="2007108"/>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MongoDB cannot return a List directly</a:t>
            </a:r>
            <a:endParaRPr b="0" i="0" sz="1100" u="none" cap="none" strike="noStrike">
              <a:solidFill>
                <a:schemeClr val="dk1"/>
              </a:solidFill>
              <a:latin typeface="Calibri"/>
              <a:ea typeface="Calibri"/>
              <a:cs typeface="Calibri"/>
              <a:sym typeface="Calibri"/>
            </a:endParaRPr>
          </a:p>
        </p:txBody>
      </p:sp>
      <p:sp>
        <p:nvSpPr>
          <p:cNvPr id="187" name="Google Shape;187;p26"/>
          <p:cNvSpPr/>
          <p:nvPr/>
        </p:nvSpPr>
        <p:spPr>
          <a:xfrm>
            <a:off x="411480" y="2425446"/>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Spring Boot only supports responses as custom objects, not Lists</a:t>
            </a:r>
            <a:endParaRPr b="0" i="0" sz="1100" u="none" cap="none" strike="noStrike">
              <a:solidFill>
                <a:schemeClr val="dk1"/>
              </a:solidFill>
              <a:latin typeface="Calibri"/>
              <a:ea typeface="Calibri"/>
              <a:cs typeface="Calibri"/>
              <a:sym typeface="Calibri"/>
            </a:endParaRPr>
          </a:p>
        </p:txBody>
      </p:sp>
      <p:sp>
        <p:nvSpPr>
          <p:cNvPr id="188" name="Google Shape;188;p26"/>
          <p:cNvSpPr/>
          <p:nvPr/>
        </p:nvSpPr>
        <p:spPr>
          <a:xfrm>
            <a:off x="411480" y="2843784"/>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It is required only when using sorting</a:t>
            </a:r>
            <a:endParaRPr b="0" i="0" sz="1100" u="none" cap="none" strike="noStrike">
              <a:solidFill>
                <a:schemeClr val="dk1"/>
              </a:solidFill>
              <a:latin typeface="Calibri"/>
              <a:ea typeface="Calibri"/>
              <a:cs typeface="Calibri"/>
              <a:sym typeface="Calibri"/>
            </a:endParaRPr>
          </a:p>
        </p:txBody>
      </p:sp>
      <p:sp>
        <p:nvSpPr>
          <p:cNvPr id="189" name="Google Shape;189;p26"/>
          <p:cNvSpPr/>
          <p:nvPr/>
        </p:nvSpPr>
        <p:spPr>
          <a:xfrm>
            <a:off x="411480" y="3344418"/>
            <a:ext cx="832081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1" i="0" lang="en" sz="1100" u="none" cap="none" strike="noStrike">
                <a:solidFill>
                  <a:srgbClr val="1F2937"/>
                </a:solidFill>
                <a:latin typeface="Calibri"/>
                <a:ea typeface="Calibri"/>
                <a:cs typeface="Calibri"/>
                <a:sym typeface="Calibri"/>
              </a:rPr>
              <a:t>Correct answer: 1</a:t>
            </a:r>
            <a:endParaRPr b="0" i="0" sz="1100" u="none" cap="none" strike="noStrike">
              <a:solidFill>
                <a:schemeClr val="dk1"/>
              </a:solidFill>
              <a:latin typeface="Calibri"/>
              <a:ea typeface="Calibri"/>
              <a:cs typeface="Calibri"/>
              <a:sym typeface="Calibri"/>
            </a:endParaRPr>
          </a:p>
        </p:txBody>
      </p:sp>
      <p:sp>
        <p:nvSpPr>
          <p:cNvPr id="190" name="Google Shape;190;p26"/>
          <p:cNvSpPr/>
          <p:nvPr/>
        </p:nvSpPr>
        <p:spPr>
          <a:xfrm>
            <a:off x="411480" y="3577590"/>
            <a:ext cx="8320811"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Why: The UI needs metadata to build paging controls and show totals. A plain list loses information like total pages and total elements.</a:t>
            </a:r>
            <a:endParaRPr b="0" i="0" sz="1100" u="none" cap="none" strike="noStrike">
              <a:solidFill>
                <a:schemeClr val="dk1"/>
              </a:solidFill>
              <a:latin typeface="Calibri"/>
              <a:ea typeface="Calibri"/>
              <a:cs typeface="Calibri"/>
              <a:sym typeface="Calibri"/>
            </a:endParaRPr>
          </a:p>
        </p:txBody>
      </p:sp>
      <p:sp>
        <p:nvSpPr>
          <p:cNvPr id="191" name="Google Shape;191;p26"/>
          <p:cNvSpPr/>
          <p:nvPr/>
        </p:nvSpPr>
        <p:spPr>
          <a:xfrm>
            <a:off x="411480" y="476631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 name="Shape 196"/>
        <p:cNvGrpSpPr/>
        <p:nvPr/>
      </p:nvGrpSpPr>
      <p:grpSpPr>
        <a:xfrm>
          <a:off x="0" y="0"/>
          <a:ext cx="0" cy="0"/>
          <a:chOff x="0" y="0"/>
          <a:chExt cx="0" cy="0"/>
        </a:xfrm>
      </p:grpSpPr>
      <p:sp>
        <p:nvSpPr>
          <p:cNvPr id="197" name="Google Shape;197;p27"/>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Question 5</a:t>
            </a:r>
            <a:endParaRPr b="0" i="0" sz="2000" u="none" cap="none" strike="noStrike">
              <a:solidFill>
                <a:schemeClr val="dk1"/>
              </a:solidFill>
              <a:latin typeface="Calibri"/>
              <a:ea typeface="Calibri"/>
              <a:cs typeface="Calibri"/>
              <a:sym typeface="Calibri"/>
            </a:endParaRPr>
          </a:p>
        </p:txBody>
      </p:sp>
      <p:sp>
        <p:nvSpPr>
          <p:cNvPr id="198" name="Google Shape;198;p27"/>
          <p:cNvSpPr/>
          <p:nvPr/>
        </p:nvSpPr>
        <p:spPr>
          <a:xfrm>
            <a:off x="411480" y="857250"/>
            <a:ext cx="8320811" cy="11772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A client calls: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GET /students?sortBy=createdAt&amp;sortDir=asc</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Assume createdAt is not supported by our API contract. What is the best HTTP status code?</a:t>
            </a:r>
            <a:endParaRPr b="0" i="0" sz="1300" u="none" cap="none" strike="noStrike">
              <a:solidFill>
                <a:schemeClr val="dk1"/>
              </a:solidFill>
              <a:latin typeface="Calibri"/>
              <a:ea typeface="Calibri"/>
              <a:cs typeface="Calibri"/>
              <a:sym typeface="Calibri"/>
            </a:endParaRPr>
          </a:p>
        </p:txBody>
      </p:sp>
      <p:sp>
        <p:nvSpPr>
          <p:cNvPr id="199" name="Google Shape;199;p27"/>
          <p:cNvSpPr/>
          <p:nvPr/>
        </p:nvSpPr>
        <p:spPr>
          <a:xfrm>
            <a:off x="411480" y="2171700"/>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401 Unauthorized</a:t>
            </a:r>
            <a:endParaRPr b="0" i="0" sz="1100" u="none" cap="none" strike="noStrike">
              <a:solidFill>
                <a:schemeClr val="dk1"/>
              </a:solidFill>
              <a:latin typeface="Calibri"/>
              <a:ea typeface="Calibri"/>
              <a:cs typeface="Calibri"/>
              <a:sym typeface="Calibri"/>
            </a:endParaRPr>
          </a:p>
        </p:txBody>
      </p:sp>
      <p:sp>
        <p:nvSpPr>
          <p:cNvPr id="200" name="Google Shape;200;p27"/>
          <p:cNvSpPr/>
          <p:nvPr/>
        </p:nvSpPr>
        <p:spPr>
          <a:xfrm>
            <a:off x="411480" y="2590038"/>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400 Bad Request</a:t>
            </a:r>
            <a:endParaRPr b="0" i="0" sz="1100" u="none" cap="none" strike="noStrike">
              <a:solidFill>
                <a:schemeClr val="dk1"/>
              </a:solidFill>
              <a:latin typeface="Calibri"/>
              <a:ea typeface="Calibri"/>
              <a:cs typeface="Calibri"/>
              <a:sym typeface="Calibri"/>
            </a:endParaRPr>
          </a:p>
        </p:txBody>
      </p:sp>
      <p:sp>
        <p:nvSpPr>
          <p:cNvPr id="201" name="Google Shape;201;p27"/>
          <p:cNvSpPr/>
          <p:nvPr/>
        </p:nvSpPr>
        <p:spPr>
          <a:xfrm>
            <a:off x="411480" y="3008376"/>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404 Not Found</a:t>
            </a:r>
            <a:endParaRPr b="0" i="0" sz="1100" u="none" cap="none" strike="noStrike">
              <a:solidFill>
                <a:schemeClr val="dk1"/>
              </a:solidFill>
              <a:latin typeface="Calibri"/>
              <a:ea typeface="Calibri"/>
              <a:cs typeface="Calibri"/>
              <a:sym typeface="Calibri"/>
            </a:endParaRPr>
          </a:p>
        </p:txBody>
      </p:sp>
      <p:sp>
        <p:nvSpPr>
          <p:cNvPr id="202" name="Google Shape;202;p27"/>
          <p:cNvSpPr/>
          <p:nvPr/>
        </p:nvSpPr>
        <p:spPr>
          <a:xfrm>
            <a:off x="411480" y="3426714"/>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500 Internal Server Error</a:t>
            </a:r>
            <a:endParaRPr b="0" i="0" sz="1100" u="none" cap="none" strike="noStrike">
              <a:solidFill>
                <a:schemeClr val="dk1"/>
              </a:solidFill>
              <a:latin typeface="Calibri"/>
              <a:ea typeface="Calibri"/>
              <a:cs typeface="Calibri"/>
              <a:sym typeface="Calibri"/>
            </a:endParaRPr>
          </a:p>
        </p:txBody>
      </p:sp>
      <p:sp>
        <p:nvSpPr>
          <p:cNvPr id="203" name="Google Shape;203;p27"/>
          <p:cNvSpPr/>
          <p:nvPr/>
        </p:nvSpPr>
        <p:spPr>
          <a:xfrm>
            <a:off x="411480" y="476631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sp>
        <p:nvSpPr>
          <p:cNvPr id="209" name="Google Shape;209;p28"/>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Answer 5</a:t>
            </a:r>
            <a:endParaRPr b="0" i="0" sz="2000" u="none" cap="none" strike="noStrike">
              <a:solidFill>
                <a:schemeClr val="dk1"/>
              </a:solidFill>
              <a:latin typeface="Calibri"/>
              <a:ea typeface="Calibri"/>
              <a:cs typeface="Calibri"/>
              <a:sym typeface="Calibri"/>
            </a:endParaRPr>
          </a:p>
        </p:txBody>
      </p:sp>
      <p:sp>
        <p:nvSpPr>
          <p:cNvPr id="210" name="Google Shape;210;p28"/>
          <p:cNvSpPr/>
          <p:nvPr/>
        </p:nvSpPr>
        <p:spPr>
          <a:xfrm>
            <a:off x="411480" y="857250"/>
            <a:ext cx="8320811" cy="11772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A client calls: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GET /students?sortBy=createdAt&amp;sortDir=asc</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Assume createdAt is not supported by our API contract. What is the best HTTP status code?</a:t>
            </a:r>
            <a:endParaRPr b="0" i="0" sz="1300" u="none" cap="none" strike="noStrike">
              <a:solidFill>
                <a:schemeClr val="dk1"/>
              </a:solidFill>
              <a:latin typeface="Calibri"/>
              <a:ea typeface="Calibri"/>
              <a:cs typeface="Calibri"/>
              <a:sym typeface="Calibri"/>
            </a:endParaRPr>
          </a:p>
        </p:txBody>
      </p:sp>
      <p:sp>
        <p:nvSpPr>
          <p:cNvPr id="211" name="Google Shape;211;p28"/>
          <p:cNvSpPr/>
          <p:nvPr/>
        </p:nvSpPr>
        <p:spPr>
          <a:xfrm>
            <a:off x="411480" y="2171700"/>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401 Unauthorized</a:t>
            </a:r>
            <a:endParaRPr b="0" i="0" sz="1100" u="none" cap="none" strike="noStrike">
              <a:solidFill>
                <a:schemeClr val="dk1"/>
              </a:solidFill>
              <a:latin typeface="Calibri"/>
              <a:ea typeface="Calibri"/>
              <a:cs typeface="Calibri"/>
              <a:sym typeface="Calibri"/>
            </a:endParaRPr>
          </a:p>
        </p:txBody>
      </p:sp>
      <p:sp>
        <p:nvSpPr>
          <p:cNvPr id="212" name="Google Shape;212;p28"/>
          <p:cNvSpPr/>
          <p:nvPr/>
        </p:nvSpPr>
        <p:spPr>
          <a:xfrm>
            <a:off x="411480" y="2590038"/>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400 Bad Request</a:t>
            </a:r>
            <a:endParaRPr b="0" i="0" sz="1100" u="none" cap="none" strike="noStrike">
              <a:solidFill>
                <a:schemeClr val="dk1"/>
              </a:solidFill>
              <a:latin typeface="Calibri"/>
              <a:ea typeface="Calibri"/>
              <a:cs typeface="Calibri"/>
              <a:sym typeface="Calibri"/>
            </a:endParaRPr>
          </a:p>
        </p:txBody>
      </p:sp>
      <p:sp>
        <p:nvSpPr>
          <p:cNvPr id="213" name="Google Shape;213;p28"/>
          <p:cNvSpPr/>
          <p:nvPr/>
        </p:nvSpPr>
        <p:spPr>
          <a:xfrm>
            <a:off x="411480" y="3008376"/>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404 Not Found</a:t>
            </a:r>
            <a:endParaRPr b="0" i="0" sz="1100" u="none" cap="none" strike="noStrike">
              <a:solidFill>
                <a:schemeClr val="dk1"/>
              </a:solidFill>
              <a:latin typeface="Calibri"/>
              <a:ea typeface="Calibri"/>
              <a:cs typeface="Calibri"/>
              <a:sym typeface="Calibri"/>
            </a:endParaRPr>
          </a:p>
        </p:txBody>
      </p:sp>
      <p:sp>
        <p:nvSpPr>
          <p:cNvPr id="214" name="Google Shape;214;p28"/>
          <p:cNvSpPr/>
          <p:nvPr/>
        </p:nvSpPr>
        <p:spPr>
          <a:xfrm>
            <a:off x="411480" y="3426714"/>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500 Internal Server Error</a:t>
            </a:r>
            <a:endParaRPr b="0" i="0" sz="1100" u="none" cap="none" strike="noStrike">
              <a:solidFill>
                <a:schemeClr val="dk1"/>
              </a:solidFill>
              <a:latin typeface="Calibri"/>
              <a:ea typeface="Calibri"/>
              <a:cs typeface="Calibri"/>
              <a:sym typeface="Calibri"/>
            </a:endParaRPr>
          </a:p>
        </p:txBody>
      </p:sp>
      <p:sp>
        <p:nvSpPr>
          <p:cNvPr id="215" name="Google Shape;215;p28"/>
          <p:cNvSpPr/>
          <p:nvPr/>
        </p:nvSpPr>
        <p:spPr>
          <a:xfrm>
            <a:off x="411480" y="3927348"/>
            <a:ext cx="832081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1" i="0" lang="en" sz="1100" u="none" cap="none" strike="noStrike">
                <a:solidFill>
                  <a:srgbClr val="1F2937"/>
                </a:solidFill>
                <a:latin typeface="Calibri"/>
                <a:ea typeface="Calibri"/>
                <a:cs typeface="Calibri"/>
                <a:sym typeface="Calibri"/>
              </a:rPr>
              <a:t>Correct answer: 2</a:t>
            </a:r>
            <a:endParaRPr b="0" i="0" sz="1100" u="none" cap="none" strike="noStrike">
              <a:solidFill>
                <a:schemeClr val="dk1"/>
              </a:solidFill>
              <a:latin typeface="Calibri"/>
              <a:ea typeface="Calibri"/>
              <a:cs typeface="Calibri"/>
              <a:sym typeface="Calibri"/>
            </a:endParaRPr>
          </a:p>
        </p:txBody>
      </p:sp>
      <p:sp>
        <p:nvSpPr>
          <p:cNvPr id="216" name="Google Shape;216;p28"/>
          <p:cNvSpPr/>
          <p:nvPr/>
        </p:nvSpPr>
        <p:spPr>
          <a:xfrm>
            <a:off x="411480" y="4160520"/>
            <a:ext cx="8320811"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Why: The client sent an invalid query parameter value. That is a client error, so 400 is the correct response.</a:t>
            </a:r>
            <a:endParaRPr b="0" i="0" sz="1100" u="none" cap="none" strike="noStrike">
              <a:solidFill>
                <a:schemeClr val="dk1"/>
              </a:solidFill>
              <a:latin typeface="Calibri"/>
              <a:ea typeface="Calibri"/>
              <a:cs typeface="Calibri"/>
              <a:sym typeface="Calibri"/>
            </a:endParaRPr>
          </a:p>
        </p:txBody>
      </p:sp>
      <p:sp>
        <p:nvSpPr>
          <p:cNvPr id="217" name="Google Shape;217;p28"/>
          <p:cNvSpPr/>
          <p:nvPr/>
        </p:nvSpPr>
        <p:spPr>
          <a:xfrm>
            <a:off x="411480" y="476631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29"/>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Question 6</a:t>
            </a:r>
            <a:endParaRPr b="0" i="0" sz="2000" u="none" cap="none" strike="noStrike">
              <a:solidFill>
                <a:schemeClr val="dk1"/>
              </a:solidFill>
              <a:latin typeface="Calibri"/>
              <a:ea typeface="Calibri"/>
              <a:cs typeface="Calibri"/>
              <a:sym typeface="Calibri"/>
            </a:endParaRPr>
          </a:p>
        </p:txBody>
      </p:sp>
      <p:sp>
        <p:nvSpPr>
          <p:cNvPr id="224" name="Google Shape;224;p29"/>
          <p:cNvSpPr/>
          <p:nvPr/>
        </p:nvSpPr>
        <p:spPr>
          <a:xfrm>
            <a:off x="411480" y="857250"/>
            <a:ext cx="8320811" cy="7886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We add a unique index on email using @Indexed(unique = true).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What happens if we try to insert a new student with an email that already exists?</a:t>
            </a:r>
            <a:endParaRPr b="0" i="0" sz="1300" u="none" cap="none" strike="noStrike">
              <a:solidFill>
                <a:schemeClr val="dk1"/>
              </a:solidFill>
              <a:latin typeface="Calibri"/>
              <a:ea typeface="Calibri"/>
              <a:cs typeface="Calibri"/>
              <a:sym typeface="Calibri"/>
            </a:endParaRPr>
          </a:p>
        </p:txBody>
      </p:sp>
      <p:sp>
        <p:nvSpPr>
          <p:cNvPr id="225" name="Google Shape;225;p29"/>
          <p:cNvSpPr/>
          <p:nvPr/>
        </p:nvSpPr>
        <p:spPr>
          <a:xfrm>
            <a:off x="411480" y="1783080"/>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MongoDB automatically updates the existing student instead</a:t>
            </a:r>
            <a:endParaRPr b="0" i="0" sz="1100" u="none" cap="none" strike="noStrike">
              <a:solidFill>
                <a:schemeClr val="dk1"/>
              </a:solidFill>
              <a:latin typeface="Calibri"/>
              <a:ea typeface="Calibri"/>
              <a:cs typeface="Calibri"/>
              <a:sym typeface="Calibri"/>
            </a:endParaRPr>
          </a:p>
        </p:txBody>
      </p:sp>
      <p:sp>
        <p:nvSpPr>
          <p:cNvPr id="226" name="Google Shape;226;p29"/>
          <p:cNvSpPr/>
          <p:nvPr/>
        </p:nvSpPr>
        <p:spPr>
          <a:xfrm>
            <a:off x="411480" y="2201418"/>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MongoDB stores both documents and allows duplicates</a:t>
            </a:r>
            <a:endParaRPr b="0" i="0" sz="1100" u="none" cap="none" strike="noStrike">
              <a:solidFill>
                <a:schemeClr val="dk1"/>
              </a:solidFill>
              <a:latin typeface="Calibri"/>
              <a:ea typeface="Calibri"/>
              <a:cs typeface="Calibri"/>
              <a:sym typeface="Calibri"/>
            </a:endParaRPr>
          </a:p>
        </p:txBody>
      </p:sp>
      <p:sp>
        <p:nvSpPr>
          <p:cNvPr id="227" name="Google Shape;227;p29"/>
          <p:cNvSpPr/>
          <p:nvPr/>
        </p:nvSpPr>
        <p:spPr>
          <a:xfrm>
            <a:off x="411480" y="2619756"/>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MongoDB stores the document but marks it as inactive</a:t>
            </a:r>
            <a:endParaRPr b="0" i="0" sz="1100" u="none" cap="none" strike="noStrike">
              <a:solidFill>
                <a:schemeClr val="dk1"/>
              </a:solidFill>
              <a:latin typeface="Calibri"/>
              <a:ea typeface="Calibri"/>
              <a:cs typeface="Calibri"/>
              <a:sym typeface="Calibri"/>
            </a:endParaRPr>
          </a:p>
        </p:txBody>
      </p:sp>
      <p:sp>
        <p:nvSpPr>
          <p:cNvPr id="228" name="Google Shape;228;p29"/>
          <p:cNvSpPr/>
          <p:nvPr/>
        </p:nvSpPr>
        <p:spPr>
          <a:xfrm>
            <a:off x="411480" y="3038094"/>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MongoDB rejects the insert with a duplicate key error</a:t>
            </a:r>
            <a:endParaRPr b="0" i="0" sz="1100" u="none" cap="none" strike="noStrike">
              <a:solidFill>
                <a:schemeClr val="dk1"/>
              </a:solidFill>
              <a:latin typeface="Calibri"/>
              <a:ea typeface="Calibri"/>
              <a:cs typeface="Calibri"/>
              <a:sym typeface="Calibri"/>
            </a:endParaRPr>
          </a:p>
        </p:txBody>
      </p:sp>
      <p:sp>
        <p:nvSpPr>
          <p:cNvPr id="229" name="Google Shape;229;p29"/>
          <p:cNvSpPr/>
          <p:nvPr/>
        </p:nvSpPr>
        <p:spPr>
          <a:xfrm>
            <a:off x="411480" y="476631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 name="Shape 234"/>
        <p:cNvGrpSpPr/>
        <p:nvPr/>
      </p:nvGrpSpPr>
      <p:grpSpPr>
        <a:xfrm>
          <a:off x="0" y="0"/>
          <a:ext cx="0" cy="0"/>
          <a:chOff x="0" y="0"/>
          <a:chExt cx="0" cy="0"/>
        </a:xfrm>
      </p:grpSpPr>
      <p:sp>
        <p:nvSpPr>
          <p:cNvPr id="235" name="Google Shape;235;p30"/>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Answer 6</a:t>
            </a:r>
            <a:endParaRPr b="0" i="0" sz="2000" u="none" cap="none" strike="noStrike">
              <a:solidFill>
                <a:schemeClr val="dk1"/>
              </a:solidFill>
              <a:latin typeface="Calibri"/>
              <a:ea typeface="Calibri"/>
              <a:cs typeface="Calibri"/>
              <a:sym typeface="Calibri"/>
            </a:endParaRPr>
          </a:p>
        </p:txBody>
      </p:sp>
      <p:sp>
        <p:nvSpPr>
          <p:cNvPr id="236" name="Google Shape;236;p30"/>
          <p:cNvSpPr/>
          <p:nvPr/>
        </p:nvSpPr>
        <p:spPr>
          <a:xfrm>
            <a:off x="411480" y="857250"/>
            <a:ext cx="8320811" cy="7886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We add a unique index on email using @Indexed(unique = true).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What happens if we try to insert a new student with an email that already exists?</a:t>
            </a:r>
            <a:endParaRPr b="0" i="0" sz="1300" u="none" cap="none" strike="noStrike">
              <a:solidFill>
                <a:schemeClr val="dk1"/>
              </a:solidFill>
              <a:latin typeface="Calibri"/>
              <a:ea typeface="Calibri"/>
              <a:cs typeface="Calibri"/>
              <a:sym typeface="Calibri"/>
            </a:endParaRPr>
          </a:p>
        </p:txBody>
      </p:sp>
      <p:sp>
        <p:nvSpPr>
          <p:cNvPr id="237" name="Google Shape;237;p30"/>
          <p:cNvSpPr/>
          <p:nvPr/>
        </p:nvSpPr>
        <p:spPr>
          <a:xfrm>
            <a:off x="411480" y="1783080"/>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MongoDB automatically updates the existing student instead</a:t>
            </a:r>
            <a:endParaRPr b="0" i="0" sz="1100" u="none" cap="none" strike="noStrike">
              <a:solidFill>
                <a:schemeClr val="dk1"/>
              </a:solidFill>
              <a:latin typeface="Calibri"/>
              <a:ea typeface="Calibri"/>
              <a:cs typeface="Calibri"/>
              <a:sym typeface="Calibri"/>
            </a:endParaRPr>
          </a:p>
        </p:txBody>
      </p:sp>
      <p:sp>
        <p:nvSpPr>
          <p:cNvPr id="238" name="Google Shape;238;p30"/>
          <p:cNvSpPr/>
          <p:nvPr/>
        </p:nvSpPr>
        <p:spPr>
          <a:xfrm>
            <a:off x="411480" y="2201418"/>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MongoDB stores both documents and allows duplicates</a:t>
            </a:r>
            <a:endParaRPr b="0" i="0" sz="1100" u="none" cap="none" strike="noStrike">
              <a:solidFill>
                <a:schemeClr val="dk1"/>
              </a:solidFill>
              <a:latin typeface="Calibri"/>
              <a:ea typeface="Calibri"/>
              <a:cs typeface="Calibri"/>
              <a:sym typeface="Calibri"/>
            </a:endParaRPr>
          </a:p>
        </p:txBody>
      </p:sp>
      <p:sp>
        <p:nvSpPr>
          <p:cNvPr id="239" name="Google Shape;239;p30"/>
          <p:cNvSpPr/>
          <p:nvPr/>
        </p:nvSpPr>
        <p:spPr>
          <a:xfrm>
            <a:off x="411480" y="2619756"/>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MongoDB stores the document but marks it as inactive</a:t>
            </a:r>
            <a:endParaRPr b="0" i="0" sz="1100" u="none" cap="none" strike="noStrike">
              <a:solidFill>
                <a:schemeClr val="dk1"/>
              </a:solidFill>
              <a:latin typeface="Calibri"/>
              <a:ea typeface="Calibri"/>
              <a:cs typeface="Calibri"/>
              <a:sym typeface="Calibri"/>
            </a:endParaRPr>
          </a:p>
        </p:txBody>
      </p:sp>
      <p:sp>
        <p:nvSpPr>
          <p:cNvPr id="240" name="Google Shape;240;p30"/>
          <p:cNvSpPr/>
          <p:nvPr/>
        </p:nvSpPr>
        <p:spPr>
          <a:xfrm>
            <a:off x="411480" y="3038094"/>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MongoDB rejects the insert with a duplicate key error</a:t>
            </a:r>
            <a:endParaRPr b="0" i="0" sz="1100" u="none" cap="none" strike="noStrike">
              <a:solidFill>
                <a:schemeClr val="dk1"/>
              </a:solidFill>
              <a:latin typeface="Calibri"/>
              <a:ea typeface="Calibri"/>
              <a:cs typeface="Calibri"/>
              <a:sym typeface="Calibri"/>
            </a:endParaRPr>
          </a:p>
        </p:txBody>
      </p:sp>
      <p:sp>
        <p:nvSpPr>
          <p:cNvPr id="241" name="Google Shape;241;p30"/>
          <p:cNvSpPr/>
          <p:nvPr/>
        </p:nvSpPr>
        <p:spPr>
          <a:xfrm>
            <a:off x="411480" y="3538728"/>
            <a:ext cx="832081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1" i="0" lang="en" sz="1100" u="none" cap="none" strike="noStrike">
                <a:solidFill>
                  <a:srgbClr val="1F2937"/>
                </a:solidFill>
                <a:latin typeface="Calibri"/>
                <a:ea typeface="Calibri"/>
                <a:cs typeface="Calibri"/>
                <a:sym typeface="Calibri"/>
              </a:rPr>
              <a:t>Correct answer: 4</a:t>
            </a:r>
            <a:endParaRPr b="0" i="0" sz="1100" u="none" cap="none" strike="noStrike">
              <a:solidFill>
                <a:schemeClr val="dk1"/>
              </a:solidFill>
              <a:latin typeface="Calibri"/>
              <a:ea typeface="Calibri"/>
              <a:cs typeface="Calibri"/>
              <a:sym typeface="Calibri"/>
            </a:endParaRPr>
          </a:p>
        </p:txBody>
      </p:sp>
      <p:sp>
        <p:nvSpPr>
          <p:cNvPr id="242" name="Google Shape;242;p30"/>
          <p:cNvSpPr/>
          <p:nvPr/>
        </p:nvSpPr>
        <p:spPr>
          <a:xfrm>
            <a:off x="411480" y="3771900"/>
            <a:ext cx="8320811"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Why: A unique index enforces uniqueness at the database level. When a duplicate value is inserted, MongoDB throws a duplicate key error and the write fails.</a:t>
            </a:r>
            <a:endParaRPr b="0" i="0" sz="1100" u="none" cap="none" strike="noStrike">
              <a:solidFill>
                <a:schemeClr val="dk1"/>
              </a:solidFill>
              <a:latin typeface="Calibri"/>
              <a:ea typeface="Calibri"/>
              <a:cs typeface="Calibri"/>
              <a:sym typeface="Calibri"/>
            </a:endParaRPr>
          </a:p>
        </p:txBody>
      </p:sp>
      <p:sp>
        <p:nvSpPr>
          <p:cNvPr id="243" name="Google Shape;243;p30"/>
          <p:cNvSpPr/>
          <p:nvPr/>
        </p:nvSpPr>
        <p:spPr>
          <a:xfrm>
            <a:off x="411480" y="476631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B"/>
        </a:solidFill>
      </p:bgPr>
    </p:bg>
    <p:spTree>
      <p:nvGrpSpPr>
        <p:cNvPr id="248" name="Shape 248"/>
        <p:cNvGrpSpPr/>
        <p:nvPr/>
      </p:nvGrpSpPr>
      <p:grpSpPr>
        <a:xfrm>
          <a:off x="0" y="0"/>
          <a:ext cx="0" cy="0"/>
          <a:chOff x="0" y="0"/>
          <a:chExt cx="0" cy="0"/>
        </a:xfrm>
      </p:grpSpPr>
      <p:sp>
        <p:nvSpPr>
          <p:cNvPr id="249" name="Google Shape;249;p31"/>
          <p:cNvSpPr/>
          <p:nvPr/>
        </p:nvSpPr>
        <p:spPr>
          <a:xfrm>
            <a:off x="0" y="0"/>
            <a:ext cx="9143771" cy="51435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2500"/>
              <a:buFont typeface="Calibri"/>
              <a:buNone/>
            </a:pPr>
            <a:r>
              <a:rPr b="1" i="0" lang="en" sz="2500" u="none" cap="none" strike="noStrike">
                <a:solidFill>
                  <a:srgbClr val="FFFFFF"/>
                </a:solidFill>
                <a:latin typeface="Calibri"/>
                <a:ea typeface="Calibri"/>
                <a:cs typeface="Calibri"/>
                <a:sym typeface="Calibri"/>
              </a:rPr>
              <a:t>MongoDB Atlas and MongoDB Compass</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sp>
        <p:nvSpPr>
          <p:cNvPr id="255" name="Google Shape;255;p32"/>
          <p:cNvSpPr/>
          <p:nvPr/>
        </p:nvSpPr>
        <p:spPr>
          <a:xfrm>
            <a:off x="411480" y="274320"/>
            <a:ext cx="8320800" cy="411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Key concept: Cluster</a:t>
            </a:r>
            <a:endParaRPr b="0" i="0" sz="2000" u="none" cap="none" strike="noStrike">
              <a:solidFill>
                <a:schemeClr val="dk1"/>
              </a:solidFill>
              <a:latin typeface="Calibri"/>
              <a:ea typeface="Calibri"/>
              <a:cs typeface="Calibri"/>
              <a:sym typeface="Calibri"/>
            </a:endParaRPr>
          </a:p>
        </p:txBody>
      </p:sp>
      <p:sp>
        <p:nvSpPr>
          <p:cNvPr id="256" name="Google Shape;256;p32"/>
          <p:cNvSpPr/>
          <p:nvPr/>
        </p:nvSpPr>
        <p:spPr>
          <a:xfrm>
            <a:off x="411480" y="822960"/>
            <a:ext cx="4006101" cy="525780"/>
          </a:xfrm>
          <a:prstGeom prst="rect">
            <a:avLst/>
          </a:prstGeom>
          <a:noFill/>
          <a:ln>
            <a:noFill/>
          </a:ln>
        </p:spPr>
        <p:txBody>
          <a:bodyPr anchorCtr="0" anchor="ctr" bIns="34275" lIns="68575" spcFirstLastPara="1" rIns="68575" wrap="square" tIns="34275">
            <a:noAutofit/>
          </a:bodyPr>
          <a:lstStyle/>
          <a:p>
            <a:pPr indent="-1841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 cluster is the MongoDB deployment that stores your data.</a:t>
            </a:r>
            <a:endParaRPr b="0" i="0" sz="1100" u="none" cap="none" strike="noStrike">
              <a:solidFill>
                <a:schemeClr val="dk1"/>
              </a:solidFill>
              <a:latin typeface="Calibri"/>
              <a:ea typeface="Calibri"/>
              <a:cs typeface="Calibri"/>
              <a:sym typeface="Calibri"/>
            </a:endParaRPr>
          </a:p>
        </p:txBody>
      </p:sp>
      <p:sp>
        <p:nvSpPr>
          <p:cNvPr id="257" name="Google Shape;257;p32"/>
          <p:cNvSpPr/>
          <p:nvPr/>
        </p:nvSpPr>
        <p:spPr>
          <a:xfrm>
            <a:off x="411480" y="1362456"/>
            <a:ext cx="4006101" cy="685800"/>
          </a:xfrm>
          <a:prstGeom prst="rect">
            <a:avLst/>
          </a:prstGeom>
          <a:noFill/>
          <a:ln>
            <a:noFill/>
          </a:ln>
        </p:spPr>
        <p:txBody>
          <a:bodyPr anchorCtr="0" anchor="ctr" bIns="34275" lIns="68575" spcFirstLastPara="1" rIns="68575" wrap="square" tIns="34275">
            <a:noAutofit/>
          </a:bodyPr>
          <a:lstStyle/>
          <a:p>
            <a:pPr indent="-1841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In Atlas, the cluster is the thing you connect to from your app and from Compass.</a:t>
            </a:r>
            <a:endParaRPr b="0" i="0" sz="1100" u="none" cap="none" strike="noStrike">
              <a:solidFill>
                <a:schemeClr val="dk1"/>
              </a:solidFill>
              <a:latin typeface="Calibri"/>
              <a:ea typeface="Calibri"/>
              <a:cs typeface="Calibri"/>
              <a:sym typeface="Calibri"/>
            </a:endParaRPr>
          </a:p>
        </p:txBody>
      </p:sp>
      <p:sp>
        <p:nvSpPr>
          <p:cNvPr id="258" name="Google Shape;258;p32"/>
          <p:cNvSpPr/>
          <p:nvPr/>
        </p:nvSpPr>
        <p:spPr>
          <a:xfrm>
            <a:off x="411480" y="2144268"/>
            <a:ext cx="40062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200"/>
              <a:buFont typeface="Calibri"/>
              <a:buNone/>
            </a:pPr>
            <a:r>
              <a:rPr b="1" i="0" lang="en" sz="1200" u="none" cap="none" strike="noStrike">
                <a:solidFill>
                  <a:srgbClr val="0B1F3B"/>
                </a:solidFill>
                <a:latin typeface="Calibri"/>
                <a:ea typeface="Calibri"/>
                <a:cs typeface="Calibri"/>
                <a:sym typeface="Calibri"/>
              </a:rPr>
              <a:t>Analogy</a:t>
            </a:r>
            <a:endParaRPr b="0" i="0" sz="1200" u="none" cap="none" strike="noStrike">
              <a:solidFill>
                <a:schemeClr val="dk1"/>
              </a:solidFill>
              <a:latin typeface="Calibri"/>
              <a:ea typeface="Calibri"/>
              <a:cs typeface="Calibri"/>
              <a:sym typeface="Calibri"/>
            </a:endParaRPr>
          </a:p>
        </p:txBody>
      </p:sp>
      <p:sp>
        <p:nvSpPr>
          <p:cNvPr id="259" name="Google Shape;259;p32"/>
          <p:cNvSpPr/>
          <p:nvPr/>
        </p:nvSpPr>
        <p:spPr>
          <a:xfrm>
            <a:off x="411480" y="2404872"/>
            <a:ext cx="4006200" cy="502800"/>
          </a:xfrm>
          <a:prstGeom prst="rect">
            <a:avLst/>
          </a:prstGeom>
          <a:noFill/>
          <a:ln>
            <a:noFill/>
          </a:ln>
        </p:spPr>
        <p:txBody>
          <a:bodyPr anchorCtr="0" anchor="ctr" bIns="34275" lIns="68575" spcFirstLastPara="1" rIns="68575" wrap="square" tIns="34275">
            <a:noAutofit/>
          </a:bodyPr>
          <a:lstStyle/>
          <a:p>
            <a:pPr indent="-177800" lvl="0" marL="177800" marR="0" rtl="0" algn="l">
              <a:spcBef>
                <a:spcPts val="0"/>
              </a:spcBef>
              <a:spcAft>
                <a:spcPts val="0"/>
              </a:spcAft>
              <a:buClr>
                <a:srgbClr val="1F2937"/>
              </a:buClr>
              <a:buSzPts val="1000"/>
              <a:buFont typeface="Calibri"/>
              <a:buChar char="•"/>
            </a:pPr>
            <a:r>
              <a:rPr b="0" i="0" lang="en" sz="1000" u="none" cap="none" strike="noStrike">
                <a:solidFill>
                  <a:srgbClr val="1F2937"/>
                </a:solidFill>
                <a:latin typeface="Calibri"/>
                <a:ea typeface="Calibri"/>
                <a:cs typeface="Calibri"/>
                <a:sym typeface="Calibri"/>
              </a:rPr>
              <a:t>Think of a cluster like a single apartment building.</a:t>
            </a:r>
            <a:endParaRPr b="0" i="0" sz="1000" u="none" cap="none" strike="noStrike">
              <a:solidFill>
                <a:schemeClr val="dk1"/>
              </a:solidFill>
              <a:latin typeface="Calibri"/>
              <a:ea typeface="Calibri"/>
              <a:cs typeface="Calibri"/>
              <a:sym typeface="Calibri"/>
            </a:endParaRPr>
          </a:p>
        </p:txBody>
      </p:sp>
      <p:sp>
        <p:nvSpPr>
          <p:cNvPr id="260" name="Google Shape;260;p32"/>
          <p:cNvSpPr/>
          <p:nvPr/>
        </p:nvSpPr>
        <p:spPr>
          <a:xfrm>
            <a:off x="411480" y="2921508"/>
            <a:ext cx="4006200" cy="651600"/>
          </a:xfrm>
          <a:prstGeom prst="rect">
            <a:avLst/>
          </a:prstGeom>
          <a:noFill/>
          <a:ln>
            <a:noFill/>
          </a:ln>
        </p:spPr>
        <p:txBody>
          <a:bodyPr anchorCtr="0" anchor="ctr" bIns="34275" lIns="68575" spcFirstLastPara="1" rIns="68575" wrap="square" tIns="34275">
            <a:noAutofit/>
          </a:bodyPr>
          <a:lstStyle/>
          <a:p>
            <a:pPr indent="-177800" lvl="0" marL="177800" marR="0" rtl="0" algn="l">
              <a:spcBef>
                <a:spcPts val="0"/>
              </a:spcBef>
              <a:spcAft>
                <a:spcPts val="0"/>
              </a:spcAft>
              <a:buClr>
                <a:srgbClr val="1F2937"/>
              </a:buClr>
              <a:buSzPts val="1000"/>
              <a:buFont typeface="Calibri"/>
              <a:buChar char="•"/>
            </a:pPr>
            <a:r>
              <a:rPr b="0" i="0" lang="en" sz="1000" u="none" cap="none" strike="noStrike">
                <a:solidFill>
                  <a:srgbClr val="1F2937"/>
                </a:solidFill>
                <a:latin typeface="Calibri"/>
                <a:ea typeface="Calibri"/>
                <a:cs typeface="Calibri"/>
                <a:sym typeface="Calibri"/>
              </a:rPr>
              <a:t>You do not connect to one apartment directly. You connect to the building first.</a:t>
            </a:r>
            <a:endParaRPr b="0" i="0" sz="1000" u="none" cap="none" strike="noStrike">
              <a:solidFill>
                <a:schemeClr val="dk1"/>
              </a:solidFill>
              <a:latin typeface="Calibri"/>
              <a:ea typeface="Calibri"/>
              <a:cs typeface="Calibri"/>
              <a:sym typeface="Calibri"/>
            </a:endParaRPr>
          </a:p>
        </p:txBody>
      </p:sp>
      <p:sp>
        <p:nvSpPr>
          <p:cNvPr id="261" name="Google Shape;261;p32"/>
          <p:cNvSpPr/>
          <p:nvPr/>
        </p:nvSpPr>
        <p:spPr>
          <a:xfrm>
            <a:off x="411480" y="3586734"/>
            <a:ext cx="4006200" cy="651600"/>
          </a:xfrm>
          <a:prstGeom prst="rect">
            <a:avLst/>
          </a:prstGeom>
          <a:noFill/>
          <a:ln>
            <a:noFill/>
          </a:ln>
        </p:spPr>
        <p:txBody>
          <a:bodyPr anchorCtr="0" anchor="ctr" bIns="34275" lIns="68575" spcFirstLastPara="1" rIns="68575" wrap="square" tIns="34275">
            <a:noAutofit/>
          </a:bodyPr>
          <a:lstStyle/>
          <a:p>
            <a:pPr indent="-177800" lvl="0" marL="177800" marR="0" rtl="0" algn="l">
              <a:spcBef>
                <a:spcPts val="0"/>
              </a:spcBef>
              <a:spcAft>
                <a:spcPts val="0"/>
              </a:spcAft>
              <a:buClr>
                <a:srgbClr val="1F2937"/>
              </a:buClr>
              <a:buSzPts val="1000"/>
              <a:buFont typeface="Calibri"/>
              <a:buChar char="•"/>
            </a:pPr>
            <a:r>
              <a:rPr b="0" i="0" lang="en" sz="1000" u="none" cap="none" strike="noStrike">
                <a:solidFill>
                  <a:srgbClr val="1F2937"/>
                </a:solidFill>
                <a:latin typeface="Calibri"/>
                <a:ea typeface="Calibri"/>
                <a:cs typeface="Calibri"/>
                <a:sym typeface="Calibri"/>
              </a:rPr>
              <a:t>Inside the building, you can have multiple apartments, and each apartment can have many rooms.</a:t>
            </a:r>
            <a:endParaRPr b="0" i="0" sz="1000" u="none" cap="none" strike="noStrike">
              <a:solidFill>
                <a:schemeClr val="dk1"/>
              </a:solidFill>
              <a:latin typeface="Calibri"/>
              <a:ea typeface="Calibri"/>
              <a:cs typeface="Calibri"/>
              <a:sym typeface="Calibri"/>
            </a:endParaRPr>
          </a:p>
        </p:txBody>
      </p:sp>
      <p:sp>
        <p:nvSpPr>
          <p:cNvPr id="262" name="Google Shape;262;p32"/>
          <p:cNvSpPr/>
          <p:nvPr/>
        </p:nvSpPr>
        <p:spPr>
          <a:xfrm>
            <a:off x="4726191" y="822960"/>
            <a:ext cx="400610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200"/>
              <a:buFont typeface="Calibri"/>
              <a:buNone/>
            </a:pPr>
            <a:r>
              <a:rPr b="1" i="0" lang="en" sz="1200" u="none" cap="none" strike="noStrike">
                <a:solidFill>
                  <a:srgbClr val="0B1F3B"/>
                </a:solidFill>
                <a:latin typeface="Calibri"/>
                <a:ea typeface="Calibri"/>
                <a:cs typeface="Calibri"/>
                <a:sym typeface="Calibri"/>
              </a:rPr>
              <a:t>Mapping to MongoDB</a:t>
            </a:r>
            <a:endParaRPr b="0" i="0" sz="1200" u="none" cap="none" strike="noStrike">
              <a:solidFill>
                <a:schemeClr val="dk1"/>
              </a:solidFill>
              <a:latin typeface="Calibri"/>
              <a:ea typeface="Calibri"/>
              <a:cs typeface="Calibri"/>
              <a:sym typeface="Calibri"/>
            </a:endParaRPr>
          </a:p>
        </p:txBody>
      </p:sp>
      <p:sp>
        <p:nvSpPr>
          <p:cNvPr id="263" name="Google Shape;263;p32"/>
          <p:cNvSpPr/>
          <p:nvPr/>
        </p:nvSpPr>
        <p:spPr>
          <a:xfrm>
            <a:off x="4726191" y="1083564"/>
            <a:ext cx="4006101" cy="502920"/>
          </a:xfrm>
          <a:prstGeom prst="rect">
            <a:avLst/>
          </a:prstGeom>
          <a:noFill/>
          <a:ln>
            <a:noFill/>
          </a:ln>
        </p:spPr>
        <p:txBody>
          <a:bodyPr anchorCtr="0" anchor="ctr" bIns="34275" lIns="68575" spcFirstLastPara="1" rIns="68575" wrap="square" tIns="34275">
            <a:noAutofit/>
          </a:bodyPr>
          <a:lstStyle/>
          <a:p>
            <a:pPr indent="-177800" lvl="0" marL="177800" marR="0" rtl="0" algn="l">
              <a:spcBef>
                <a:spcPts val="0"/>
              </a:spcBef>
              <a:spcAft>
                <a:spcPts val="0"/>
              </a:spcAft>
              <a:buClr>
                <a:srgbClr val="1F2937"/>
              </a:buClr>
              <a:buSzPts val="1000"/>
              <a:buFont typeface="Calibri"/>
              <a:buChar char="•"/>
            </a:pPr>
            <a:r>
              <a:rPr b="0" i="0" lang="en" sz="1000" u="none" cap="none" strike="noStrike">
                <a:solidFill>
                  <a:srgbClr val="1F2937"/>
                </a:solidFill>
                <a:latin typeface="Calibri"/>
                <a:ea typeface="Calibri"/>
                <a:cs typeface="Calibri"/>
                <a:sym typeface="Calibri"/>
              </a:rPr>
              <a:t>Cluster is the building you connect to.</a:t>
            </a:r>
            <a:endParaRPr b="0" i="0" sz="1000" u="none" cap="none" strike="noStrike">
              <a:solidFill>
                <a:schemeClr val="dk1"/>
              </a:solidFill>
              <a:latin typeface="Calibri"/>
              <a:ea typeface="Calibri"/>
              <a:cs typeface="Calibri"/>
              <a:sym typeface="Calibri"/>
            </a:endParaRPr>
          </a:p>
        </p:txBody>
      </p:sp>
      <p:sp>
        <p:nvSpPr>
          <p:cNvPr id="264" name="Google Shape;264;p32"/>
          <p:cNvSpPr/>
          <p:nvPr/>
        </p:nvSpPr>
        <p:spPr>
          <a:xfrm>
            <a:off x="4726191" y="1600200"/>
            <a:ext cx="4006101" cy="502920"/>
          </a:xfrm>
          <a:prstGeom prst="rect">
            <a:avLst/>
          </a:prstGeom>
          <a:noFill/>
          <a:ln>
            <a:noFill/>
          </a:ln>
        </p:spPr>
        <p:txBody>
          <a:bodyPr anchorCtr="0" anchor="ctr" bIns="34275" lIns="68575" spcFirstLastPara="1" rIns="68575" wrap="square" tIns="34275">
            <a:noAutofit/>
          </a:bodyPr>
          <a:lstStyle/>
          <a:p>
            <a:pPr indent="-177800" lvl="0" marL="177800" marR="0" rtl="0" algn="l">
              <a:spcBef>
                <a:spcPts val="0"/>
              </a:spcBef>
              <a:spcAft>
                <a:spcPts val="0"/>
              </a:spcAft>
              <a:buClr>
                <a:srgbClr val="1F2937"/>
              </a:buClr>
              <a:buSzPts val="1000"/>
              <a:buFont typeface="Calibri"/>
              <a:buChar char="•"/>
            </a:pPr>
            <a:r>
              <a:rPr b="0" i="0" lang="en" sz="1000" u="none" cap="none" strike="noStrike">
                <a:solidFill>
                  <a:srgbClr val="1F2937"/>
                </a:solidFill>
                <a:latin typeface="Calibri"/>
                <a:ea typeface="Calibri"/>
                <a:cs typeface="Calibri"/>
                <a:sym typeface="Calibri"/>
              </a:rPr>
              <a:t>Database is one apartment inside that cluster.</a:t>
            </a:r>
            <a:endParaRPr b="0" i="0" sz="1000" u="none" cap="none" strike="noStrike">
              <a:solidFill>
                <a:schemeClr val="dk1"/>
              </a:solidFill>
              <a:latin typeface="Calibri"/>
              <a:ea typeface="Calibri"/>
              <a:cs typeface="Calibri"/>
              <a:sym typeface="Calibri"/>
            </a:endParaRPr>
          </a:p>
        </p:txBody>
      </p:sp>
      <p:sp>
        <p:nvSpPr>
          <p:cNvPr id="265" name="Google Shape;265;p32"/>
          <p:cNvSpPr/>
          <p:nvPr/>
        </p:nvSpPr>
        <p:spPr>
          <a:xfrm>
            <a:off x="4726191" y="2116836"/>
            <a:ext cx="4006200" cy="354300"/>
          </a:xfrm>
          <a:prstGeom prst="rect">
            <a:avLst/>
          </a:prstGeom>
          <a:noFill/>
          <a:ln>
            <a:noFill/>
          </a:ln>
        </p:spPr>
        <p:txBody>
          <a:bodyPr anchorCtr="0" anchor="ctr" bIns="34275" lIns="68575" spcFirstLastPara="1" rIns="68575" wrap="square" tIns="34275">
            <a:noAutofit/>
          </a:bodyPr>
          <a:lstStyle/>
          <a:p>
            <a:pPr indent="-177800" lvl="0" marL="177800" marR="0" rtl="0" algn="l">
              <a:spcBef>
                <a:spcPts val="0"/>
              </a:spcBef>
              <a:spcAft>
                <a:spcPts val="0"/>
              </a:spcAft>
              <a:buClr>
                <a:srgbClr val="1F2937"/>
              </a:buClr>
              <a:buSzPts val="1000"/>
              <a:buFont typeface="Calibri"/>
              <a:buChar char="•"/>
            </a:pPr>
            <a:r>
              <a:rPr b="0" i="0" lang="en" sz="1000" u="none" cap="none" strike="noStrike">
                <a:solidFill>
                  <a:srgbClr val="1F2937"/>
                </a:solidFill>
                <a:latin typeface="Calibri"/>
                <a:ea typeface="Calibri"/>
                <a:cs typeface="Calibri"/>
                <a:sym typeface="Calibri"/>
              </a:rPr>
              <a:t>Collections live inside a database.</a:t>
            </a:r>
            <a:endParaRPr b="0" i="0" sz="1000" u="none" cap="none" strike="noStrike">
              <a:solidFill>
                <a:schemeClr val="dk1"/>
              </a:solidFill>
              <a:latin typeface="Calibri"/>
              <a:ea typeface="Calibri"/>
              <a:cs typeface="Calibri"/>
              <a:sym typeface="Calibri"/>
            </a:endParaRPr>
          </a:p>
        </p:txBody>
      </p:sp>
      <p:sp>
        <p:nvSpPr>
          <p:cNvPr id="266" name="Google Shape;266;p32"/>
          <p:cNvSpPr/>
          <p:nvPr/>
        </p:nvSpPr>
        <p:spPr>
          <a:xfrm>
            <a:off x="4726191" y="2594610"/>
            <a:ext cx="40062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200"/>
              <a:buFont typeface="Calibri"/>
              <a:buNone/>
            </a:pPr>
            <a:r>
              <a:rPr b="1" i="0" lang="en" sz="1200" u="none" cap="none" strike="noStrike">
                <a:solidFill>
                  <a:srgbClr val="0B1F3B"/>
                </a:solidFill>
                <a:latin typeface="Calibri"/>
                <a:ea typeface="Calibri"/>
                <a:cs typeface="Calibri"/>
                <a:sym typeface="Calibri"/>
              </a:rPr>
              <a:t>Examples</a:t>
            </a:r>
            <a:endParaRPr b="0" i="0" sz="1200" u="none" cap="none" strike="noStrike">
              <a:solidFill>
                <a:schemeClr val="dk1"/>
              </a:solidFill>
              <a:latin typeface="Calibri"/>
              <a:ea typeface="Calibri"/>
              <a:cs typeface="Calibri"/>
              <a:sym typeface="Calibri"/>
            </a:endParaRPr>
          </a:p>
        </p:txBody>
      </p:sp>
      <p:sp>
        <p:nvSpPr>
          <p:cNvPr id="267" name="Google Shape;267;p32"/>
          <p:cNvSpPr/>
          <p:nvPr/>
        </p:nvSpPr>
        <p:spPr>
          <a:xfrm>
            <a:off x="4726191" y="2855214"/>
            <a:ext cx="4006200" cy="502800"/>
          </a:xfrm>
          <a:prstGeom prst="rect">
            <a:avLst/>
          </a:prstGeom>
          <a:noFill/>
          <a:ln>
            <a:noFill/>
          </a:ln>
        </p:spPr>
        <p:txBody>
          <a:bodyPr anchorCtr="0" anchor="ctr" bIns="34275" lIns="68575" spcFirstLastPara="1" rIns="68575" wrap="square" tIns="34275">
            <a:noAutofit/>
          </a:bodyPr>
          <a:lstStyle/>
          <a:p>
            <a:pPr indent="-177800" lvl="0" marL="177800" marR="0" rtl="0" algn="l">
              <a:spcBef>
                <a:spcPts val="0"/>
              </a:spcBef>
              <a:spcAft>
                <a:spcPts val="0"/>
              </a:spcAft>
              <a:buClr>
                <a:srgbClr val="1F2937"/>
              </a:buClr>
              <a:buSzPts val="1000"/>
              <a:buFont typeface="Calibri"/>
              <a:buChar char="•"/>
            </a:pPr>
            <a:r>
              <a:rPr b="0" i="0" lang="en" sz="1000" u="none" cap="none" strike="noStrike">
                <a:solidFill>
                  <a:srgbClr val="1F2937"/>
                </a:solidFill>
                <a:latin typeface="Calibri"/>
                <a:ea typeface="Calibri"/>
                <a:cs typeface="Calibri"/>
                <a:sym typeface="Calibri"/>
              </a:rPr>
              <a:t>One Atlas cluster can store multiple databases.</a:t>
            </a:r>
            <a:endParaRPr b="0" i="0" sz="1000" u="none" cap="none" strike="noStrike">
              <a:solidFill>
                <a:schemeClr val="dk1"/>
              </a:solidFill>
              <a:latin typeface="Calibri"/>
              <a:ea typeface="Calibri"/>
              <a:cs typeface="Calibri"/>
              <a:sym typeface="Calibri"/>
            </a:endParaRPr>
          </a:p>
        </p:txBody>
      </p:sp>
      <p:sp>
        <p:nvSpPr>
          <p:cNvPr id="268" name="Google Shape;268;p32"/>
          <p:cNvSpPr/>
          <p:nvPr/>
        </p:nvSpPr>
        <p:spPr>
          <a:xfrm>
            <a:off x="4726191" y="3371850"/>
            <a:ext cx="4006200" cy="651600"/>
          </a:xfrm>
          <a:prstGeom prst="rect">
            <a:avLst/>
          </a:prstGeom>
          <a:noFill/>
          <a:ln>
            <a:noFill/>
          </a:ln>
        </p:spPr>
        <p:txBody>
          <a:bodyPr anchorCtr="0" anchor="ctr" bIns="34275" lIns="68575" spcFirstLastPara="1" rIns="68575" wrap="square" tIns="34275">
            <a:noAutofit/>
          </a:bodyPr>
          <a:lstStyle/>
          <a:p>
            <a:pPr indent="-177800" lvl="0" marL="177800" marR="0" rtl="0" algn="l">
              <a:spcBef>
                <a:spcPts val="0"/>
              </a:spcBef>
              <a:spcAft>
                <a:spcPts val="0"/>
              </a:spcAft>
              <a:buClr>
                <a:srgbClr val="1F2937"/>
              </a:buClr>
              <a:buSzPts val="1000"/>
              <a:buFont typeface="Calibri"/>
              <a:buChar char="•"/>
            </a:pPr>
            <a:r>
              <a:rPr b="0" i="0" lang="en" sz="1000" u="none" cap="none" strike="noStrike">
                <a:solidFill>
                  <a:srgbClr val="1F2937"/>
                </a:solidFill>
                <a:latin typeface="Calibri"/>
                <a:ea typeface="Calibri"/>
                <a:cs typeface="Calibri"/>
                <a:sym typeface="Calibri"/>
              </a:rPr>
              <a:t>studentdb can live in the same cluster as other databases, if you choose.</a:t>
            </a:r>
            <a:endParaRPr b="0" i="0" sz="10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267">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3" name="Shape 273"/>
        <p:cNvGrpSpPr/>
        <p:nvPr/>
      </p:nvGrpSpPr>
      <p:grpSpPr>
        <a:xfrm>
          <a:off x="0" y="0"/>
          <a:ext cx="0" cy="0"/>
          <a:chOff x="0" y="0"/>
          <a:chExt cx="0" cy="0"/>
        </a:xfrm>
      </p:grpSpPr>
      <p:sp>
        <p:nvSpPr>
          <p:cNvPr id="274" name="Google Shape;274;p33"/>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Key concept: Database</a:t>
            </a:r>
            <a:endParaRPr b="0" i="0" sz="2000" u="none" cap="none" strike="noStrike">
              <a:solidFill>
                <a:schemeClr val="dk1"/>
              </a:solidFill>
              <a:latin typeface="Calibri"/>
              <a:ea typeface="Calibri"/>
              <a:cs typeface="Calibri"/>
              <a:sym typeface="Calibri"/>
            </a:endParaRPr>
          </a:p>
        </p:txBody>
      </p:sp>
      <p:sp>
        <p:nvSpPr>
          <p:cNvPr id="275" name="Google Shape;275;p33"/>
          <p:cNvSpPr/>
          <p:nvPr/>
        </p:nvSpPr>
        <p:spPr>
          <a:xfrm>
            <a:off x="411480" y="85725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 database is a named container inside a cluster.</a:t>
            </a:r>
            <a:endParaRPr b="0" i="0" sz="1100" u="none" cap="none" strike="noStrike">
              <a:solidFill>
                <a:schemeClr val="dk1"/>
              </a:solidFill>
              <a:latin typeface="Calibri"/>
              <a:ea typeface="Calibri"/>
              <a:cs typeface="Calibri"/>
              <a:sym typeface="Calibri"/>
            </a:endParaRPr>
          </a:p>
        </p:txBody>
      </p:sp>
      <p:sp>
        <p:nvSpPr>
          <p:cNvPr id="276" name="Google Shape;276;p33"/>
          <p:cNvSpPr/>
          <p:nvPr/>
        </p:nvSpPr>
        <p:spPr>
          <a:xfrm>
            <a:off x="411480" y="1275588"/>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lang="en" sz="1100">
                <a:solidFill>
                  <a:srgbClr val="1F2937"/>
                </a:solidFill>
                <a:latin typeface="Calibri"/>
                <a:ea typeface="Calibri"/>
                <a:cs typeface="Calibri"/>
                <a:sym typeface="Calibri"/>
              </a:rPr>
              <a:t>Recap: </a:t>
            </a:r>
            <a:r>
              <a:rPr b="0" i="0" lang="en" sz="1100" u="none" cap="none" strike="noStrike">
                <a:solidFill>
                  <a:srgbClr val="1F2937"/>
                </a:solidFill>
                <a:latin typeface="Calibri"/>
                <a:ea typeface="Calibri"/>
                <a:cs typeface="Calibri"/>
                <a:sym typeface="Calibri"/>
              </a:rPr>
              <a:t>It groups collections that belong to an application or a domain.</a:t>
            </a:r>
            <a:endParaRPr b="0" i="0" sz="1100" u="none" cap="none" strike="noStrike">
              <a:solidFill>
                <a:schemeClr val="dk1"/>
              </a:solidFill>
              <a:latin typeface="Calibri"/>
              <a:ea typeface="Calibri"/>
              <a:cs typeface="Calibri"/>
              <a:sym typeface="Calibri"/>
            </a:endParaRPr>
          </a:p>
        </p:txBody>
      </p:sp>
      <p:sp>
        <p:nvSpPr>
          <p:cNvPr id="277" name="Google Shape;277;p33"/>
          <p:cNvSpPr/>
          <p:nvPr/>
        </p:nvSpPr>
        <p:spPr>
          <a:xfrm>
            <a:off x="411480" y="1831086"/>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Examples</a:t>
            </a:r>
            <a:endParaRPr b="0" i="0" sz="1300" u="none" cap="none" strike="noStrike">
              <a:solidFill>
                <a:schemeClr val="dk1"/>
              </a:solidFill>
              <a:latin typeface="Calibri"/>
              <a:ea typeface="Calibri"/>
              <a:cs typeface="Calibri"/>
              <a:sym typeface="Calibri"/>
            </a:endParaRPr>
          </a:p>
        </p:txBody>
      </p:sp>
      <p:sp>
        <p:nvSpPr>
          <p:cNvPr id="278" name="Google Shape;278;p33"/>
          <p:cNvSpPr/>
          <p:nvPr/>
        </p:nvSpPr>
        <p:spPr>
          <a:xfrm>
            <a:off x="411480" y="2139696"/>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studentdb can hold students, courses, enrollments.</a:t>
            </a:r>
            <a:endParaRPr b="0" i="0" sz="1100" u="none" cap="none" strike="noStrike">
              <a:solidFill>
                <a:schemeClr val="dk1"/>
              </a:solidFill>
              <a:latin typeface="Calibri"/>
              <a:ea typeface="Calibri"/>
              <a:cs typeface="Calibri"/>
              <a:sym typeface="Calibri"/>
            </a:endParaRPr>
          </a:p>
        </p:txBody>
      </p:sp>
      <p:sp>
        <p:nvSpPr>
          <p:cNvPr id="279" name="Google Shape;279;p33"/>
          <p:cNvSpPr/>
          <p:nvPr/>
        </p:nvSpPr>
        <p:spPr>
          <a:xfrm>
            <a:off x="411480" y="2558034"/>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another database can exist in the same cluster for a different project.</a:t>
            </a:r>
            <a:endParaRPr b="0" i="0" sz="1100" u="none" cap="none" strike="noStrike">
              <a:solidFill>
                <a:schemeClr val="dk1"/>
              </a:solidFill>
              <a:latin typeface="Calibri"/>
              <a:ea typeface="Calibri"/>
              <a:cs typeface="Calibri"/>
              <a:sym typeface="Calibri"/>
            </a:endParaRPr>
          </a:p>
        </p:txBody>
      </p:sp>
      <p:pic>
        <p:nvPicPr>
          <p:cNvPr id="280" name="Google Shape;280;p33"/>
          <p:cNvPicPr preferRelativeResize="0"/>
          <p:nvPr/>
        </p:nvPicPr>
        <p:blipFill>
          <a:blip r:embed="rId3">
            <a:alphaModFix/>
          </a:blip>
          <a:stretch>
            <a:fillRect/>
          </a:stretch>
        </p:blipFill>
        <p:spPr>
          <a:xfrm>
            <a:off x="3229687" y="2935225"/>
            <a:ext cx="2684634" cy="2055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5" name="Shape 285"/>
        <p:cNvGrpSpPr/>
        <p:nvPr/>
      </p:nvGrpSpPr>
      <p:grpSpPr>
        <a:xfrm>
          <a:off x="0" y="0"/>
          <a:ext cx="0" cy="0"/>
          <a:chOff x="0" y="0"/>
          <a:chExt cx="0" cy="0"/>
        </a:xfrm>
      </p:grpSpPr>
      <p:sp>
        <p:nvSpPr>
          <p:cNvPr id="286" name="Google Shape;286;p34"/>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Atlas basics</a:t>
            </a:r>
            <a:endParaRPr b="0" i="0" sz="2000" u="none" cap="none" strike="noStrike">
              <a:solidFill>
                <a:schemeClr val="dk1"/>
              </a:solidFill>
              <a:latin typeface="Calibri"/>
              <a:ea typeface="Calibri"/>
              <a:cs typeface="Calibri"/>
              <a:sym typeface="Calibri"/>
            </a:endParaRPr>
          </a:p>
        </p:txBody>
      </p:sp>
      <p:sp>
        <p:nvSpPr>
          <p:cNvPr id="287" name="Google Shape;287;p34"/>
          <p:cNvSpPr/>
          <p:nvPr/>
        </p:nvSpPr>
        <p:spPr>
          <a:xfrm>
            <a:off x="411480" y="85725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To connect to an Atlas cluster, you need two things configured in Atlas.</a:t>
            </a:r>
            <a:endParaRPr b="0" i="0" sz="1100" u="none" cap="none" strike="noStrike">
              <a:solidFill>
                <a:schemeClr val="dk1"/>
              </a:solidFill>
              <a:latin typeface="Calibri"/>
              <a:ea typeface="Calibri"/>
              <a:cs typeface="Calibri"/>
              <a:sym typeface="Calibri"/>
            </a:endParaRPr>
          </a:p>
        </p:txBody>
      </p:sp>
      <p:sp>
        <p:nvSpPr>
          <p:cNvPr id="288" name="Google Shape;288;p34"/>
          <p:cNvSpPr/>
          <p:nvPr/>
        </p:nvSpPr>
        <p:spPr>
          <a:xfrm>
            <a:off x="411480" y="126873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IP access list</a:t>
            </a:r>
            <a:endParaRPr b="0" i="0" sz="1300" u="none" cap="none" strike="noStrike">
              <a:solidFill>
                <a:schemeClr val="dk1"/>
              </a:solidFill>
              <a:latin typeface="Calibri"/>
              <a:ea typeface="Calibri"/>
              <a:cs typeface="Calibri"/>
              <a:sym typeface="Calibri"/>
            </a:endParaRPr>
          </a:p>
        </p:txBody>
      </p:sp>
      <p:sp>
        <p:nvSpPr>
          <p:cNvPr id="289" name="Google Shape;289;p34"/>
          <p:cNvSpPr/>
          <p:nvPr/>
        </p:nvSpPr>
        <p:spPr>
          <a:xfrm>
            <a:off x="411480" y="157734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Atlas blocks connections from unknown IP addresses.</a:t>
            </a:r>
            <a:endParaRPr b="0" i="0" sz="1100" u="none" cap="none" strike="noStrike">
              <a:solidFill>
                <a:schemeClr val="dk1"/>
              </a:solidFill>
              <a:latin typeface="Calibri"/>
              <a:ea typeface="Calibri"/>
              <a:cs typeface="Calibri"/>
              <a:sym typeface="Calibri"/>
            </a:endParaRPr>
          </a:p>
        </p:txBody>
      </p:sp>
      <p:sp>
        <p:nvSpPr>
          <p:cNvPr id="290" name="Google Shape;290;p34"/>
          <p:cNvSpPr/>
          <p:nvPr/>
        </p:nvSpPr>
        <p:spPr>
          <a:xfrm>
            <a:off x="411480" y="1995678"/>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You must add your current IP address in the project Network Access section.</a:t>
            </a:r>
            <a:endParaRPr b="0" i="0" sz="1100" u="none" cap="none" strike="noStrike">
              <a:solidFill>
                <a:schemeClr val="dk1"/>
              </a:solidFill>
              <a:latin typeface="Calibri"/>
              <a:ea typeface="Calibri"/>
              <a:cs typeface="Calibri"/>
              <a:sym typeface="Calibri"/>
            </a:endParaRPr>
          </a:p>
        </p:txBody>
      </p:sp>
      <p:sp>
        <p:nvSpPr>
          <p:cNvPr id="291" name="Google Shape;291;p34"/>
          <p:cNvSpPr/>
          <p:nvPr/>
        </p:nvSpPr>
        <p:spPr>
          <a:xfrm>
            <a:off x="411480" y="2551176"/>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Database user</a:t>
            </a:r>
            <a:endParaRPr b="0" i="0" sz="1300" u="none" cap="none" strike="noStrike">
              <a:solidFill>
                <a:schemeClr val="dk1"/>
              </a:solidFill>
              <a:latin typeface="Calibri"/>
              <a:ea typeface="Calibri"/>
              <a:cs typeface="Calibri"/>
              <a:sym typeface="Calibri"/>
            </a:endParaRPr>
          </a:p>
        </p:txBody>
      </p:sp>
      <p:sp>
        <p:nvSpPr>
          <p:cNvPr id="292" name="Google Shape;292;p34"/>
          <p:cNvSpPr/>
          <p:nvPr/>
        </p:nvSpPr>
        <p:spPr>
          <a:xfrm>
            <a:off x="411480" y="2859786"/>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 database user is used to access MongoDB databases.</a:t>
            </a:r>
            <a:endParaRPr b="0" i="0" sz="1100" u="none" cap="none" strike="noStrike">
              <a:solidFill>
                <a:schemeClr val="dk1"/>
              </a:solidFill>
              <a:latin typeface="Calibri"/>
              <a:ea typeface="Calibri"/>
              <a:cs typeface="Calibri"/>
              <a:sym typeface="Calibri"/>
            </a:endParaRPr>
          </a:p>
        </p:txBody>
      </p:sp>
      <p:sp>
        <p:nvSpPr>
          <p:cNvPr id="293" name="Google Shape;293;p34"/>
          <p:cNvSpPr/>
          <p:nvPr/>
        </p:nvSpPr>
        <p:spPr>
          <a:xfrm>
            <a:off x="411480" y="3278124"/>
            <a:ext cx="8320811" cy="54864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This is different from an Atlas login user, which is only for the Atlas web UI.</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8" name="Shape 298"/>
        <p:cNvGrpSpPr/>
        <p:nvPr/>
      </p:nvGrpSpPr>
      <p:grpSpPr>
        <a:xfrm>
          <a:off x="0" y="0"/>
          <a:ext cx="0" cy="0"/>
          <a:chOff x="0" y="0"/>
          <a:chExt cx="0" cy="0"/>
        </a:xfrm>
      </p:grpSpPr>
      <p:sp>
        <p:nvSpPr>
          <p:cNvPr id="299" name="Google Shape;299;p35"/>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Atlas setup checklist</a:t>
            </a:r>
            <a:endParaRPr b="0" i="0" sz="2000" u="none" cap="none" strike="noStrike">
              <a:solidFill>
                <a:schemeClr val="dk1"/>
              </a:solidFill>
              <a:latin typeface="Calibri"/>
              <a:ea typeface="Calibri"/>
              <a:cs typeface="Calibri"/>
              <a:sym typeface="Calibri"/>
            </a:endParaRPr>
          </a:p>
        </p:txBody>
      </p:sp>
      <p:sp>
        <p:nvSpPr>
          <p:cNvPr id="300" name="Google Shape;300;p35"/>
          <p:cNvSpPr/>
          <p:nvPr/>
        </p:nvSpPr>
        <p:spPr>
          <a:xfrm>
            <a:off x="411480" y="85725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You only need these steps to proceed today.</a:t>
            </a:r>
            <a:endParaRPr b="0" i="0" sz="1100" u="none" cap="none" strike="noStrike">
              <a:solidFill>
                <a:schemeClr val="dk1"/>
              </a:solidFill>
              <a:latin typeface="Calibri"/>
              <a:ea typeface="Calibri"/>
              <a:cs typeface="Calibri"/>
              <a:sym typeface="Calibri"/>
            </a:endParaRPr>
          </a:p>
        </p:txBody>
      </p:sp>
      <p:sp>
        <p:nvSpPr>
          <p:cNvPr id="301" name="Google Shape;301;p35"/>
          <p:cNvSpPr/>
          <p:nvPr/>
        </p:nvSpPr>
        <p:spPr>
          <a:xfrm>
            <a:off x="411480" y="123444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Have an Atlas project and a cluster.</a:t>
            </a:r>
            <a:endParaRPr b="0" i="0" sz="1100" u="none" cap="none" strike="noStrike">
              <a:solidFill>
                <a:schemeClr val="dk1"/>
              </a:solidFill>
              <a:latin typeface="Calibri"/>
              <a:ea typeface="Calibri"/>
              <a:cs typeface="Calibri"/>
              <a:sym typeface="Calibri"/>
            </a:endParaRPr>
          </a:p>
        </p:txBody>
      </p:sp>
      <p:sp>
        <p:nvSpPr>
          <p:cNvPr id="302" name="Google Shape;302;p35"/>
          <p:cNvSpPr/>
          <p:nvPr/>
        </p:nvSpPr>
        <p:spPr>
          <a:xfrm>
            <a:off x="411480" y="1652778"/>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Add your IP address to the IP access list.</a:t>
            </a:r>
            <a:endParaRPr b="0" i="0" sz="1100" u="none" cap="none" strike="noStrike">
              <a:solidFill>
                <a:schemeClr val="dk1"/>
              </a:solidFill>
              <a:latin typeface="Calibri"/>
              <a:ea typeface="Calibri"/>
              <a:cs typeface="Calibri"/>
              <a:sym typeface="Calibri"/>
            </a:endParaRPr>
          </a:p>
        </p:txBody>
      </p:sp>
      <p:sp>
        <p:nvSpPr>
          <p:cNvPr id="303" name="Google Shape;303;p35"/>
          <p:cNvSpPr/>
          <p:nvPr/>
        </p:nvSpPr>
        <p:spPr>
          <a:xfrm>
            <a:off x="411480" y="2071116"/>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Create a database user with a username and password.</a:t>
            </a:r>
            <a:endParaRPr b="0" i="0" sz="1100" u="none" cap="none" strike="noStrike">
              <a:solidFill>
                <a:schemeClr val="dk1"/>
              </a:solidFill>
              <a:latin typeface="Calibri"/>
              <a:ea typeface="Calibri"/>
              <a:cs typeface="Calibri"/>
              <a:sym typeface="Calibri"/>
            </a:endParaRPr>
          </a:p>
        </p:txBody>
      </p:sp>
      <p:sp>
        <p:nvSpPr>
          <p:cNvPr id="304" name="Google Shape;304;p35"/>
          <p:cNvSpPr/>
          <p:nvPr/>
        </p:nvSpPr>
        <p:spPr>
          <a:xfrm>
            <a:off x="411480" y="2489454"/>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Copy the connection string for Compass.</a:t>
            </a:r>
            <a:endParaRPr b="0" i="0" sz="1100" u="none" cap="none" strike="noStrike">
              <a:solidFill>
                <a:schemeClr val="dk1"/>
              </a:solidFill>
              <a:latin typeface="Calibri"/>
              <a:ea typeface="Calibri"/>
              <a:cs typeface="Calibri"/>
              <a:sym typeface="Calibri"/>
            </a:endParaRPr>
          </a:p>
        </p:txBody>
      </p:sp>
      <p:sp>
        <p:nvSpPr>
          <p:cNvPr id="305" name="Google Shape;305;p35"/>
          <p:cNvSpPr/>
          <p:nvPr/>
        </p:nvSpPr>
        <p:spPr>
          <a:xfrm>
            <a:off x="411480" y="2907792"/>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Test connection from Compass.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0" name="Shape 310"/>
        <p:cNvGrpSpPr/>
        <p:nvPr/>
      </p:nvGrpSpPr>
      <p:grpSpPr>
        <a:xfrm>
          <a:off x="0" y="0"/>
          <a:ext cx="0" cy="0"/>
          <a:chOff x="0" y="0"/>
          <a:chExt cx="0" cy="0"/>
        </a:xfrm>
      </p:grpSpPr>
      <p:sp>
        <p:nvSpPr>
          <p:cNvPr id="311" name="Google Shape;311;p36"/>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Get the Compass connection string from Atlas</a:t>
            </a:r>
            <a:endParaRPr b="0" i="0" sz="2000" u="none" cap="none" strike="noStrike">
              <a:solidFill>
                <a:schemeClr val="dk1"/>
              </a:solidFill>
              <a:latin typeface="Calibri"/>
              <a:ea typeface="Calibri"/>
              <a:cs typeface="Calibri"/>
              <a:sym typeface="Calibri"/>
            </a:endParaRPr>
          </a:p>
        </p:txBody>
      </p:sp>
      <p:sp>
        <p:nvSpPr>
          <p:cNvPr id="312" name="Google Shape;312;p36"/>
          <p:cNvSpPr/>
          <p:nvPr/>
        </p:nvSpPr>
        <p:spPr>
          <a:xfrm>
            <a:off x="411480" y="85725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In Atlas, open your project and cluster.</a:t>
            </a:r>
            <a:endParaRPr b="0" i="0" sz="1100" u="none" cap="none" strike="noStrike">
              <a:solidFill>
                <a:schemeClr val="dk1"/>
              </a:solidFill>
              <a:latin typeface="Calibri"/>
              <a:ea typeface="Calibri"/>
              <a:cs typeface="Calibri"/>
              <a:sym typeface="Calibri"/>
            </a:endParaRPr>
          </a:p>
        </p:txBody>
      </p:sp>
      <p:sp>
        <p:nvSpPr>
          <p:cNvPr id="313" name="Google Shape;313;p36"/>
          <p:cNvSpPr/>
          <p:nvPr/>
        </p:nvSpPr>
        <p:spPr>
          <a:xfrm>
            <a:off x="411480" y="1275588"/>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Click Connect on the cluster.</a:t>
            </a:r>
            <a:endParaRPr b="0" i="0" sz="1100" u="none" cap="none" strike="noStrike">
              <a:solidFill>
                <a:schemeClr val="dk1"/>
              </a:solidFill>
              <a:latin typeface="Calibri"/>
              <a:ea typeface="Calibri"/>
              <a:cs typeface="Calibri"/>
              <a:sym typeface="Calibri"/>
            </a:endParaRPr>
          </a:p>
        </p:txBody>
      </p:sp>
      <p:sp>
        <p:nvSpPr>
          <p:cNvPr id="314" name="Google Shape;314;p36"/>
          <p:cNvSpPr/>
          <p:nvPr/>
        </p:nvSpPr>
        <p:spPr>
          <a:xfrm>
            <a:off x="411480" y="1693926"/>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Choose Compass as the connection method.</a:t>
            </a:r>
            <a:endParaRPr b="0" i="0" sz="1100" u="none" cap="none" strike="noStrike">
              <a:solidFill>
                <a:schemeClr val="dk1"/>
              </a:solidFill>
              <a:latin typeface="Calibri"/>
              <a:ea typeface="Calibri"/>
              <a:cs typeface="Calibri"/>
              <a:sym typeface="Calibri"/>
            </a:endParaRPr>
          </a:p>
        </p:txBody>
      </p:sp>
      <p:sp>
        <p:nvSpPr>
          <p:cNvPr id="315" name="Google Shape;315;p36"/>
          <p:cNvSpPr/>
          <p:nvPr/>
        </p:nvSpPr>
        <p:spPr>
          <a:xfrm>
            <a:off x="411480" y="2112264"/>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Confirm you have added an IP address and created a database user.</a:t>
            </a:r>
            <a:endParaRPr b="0" i="0" sz="1100" u="none" cap="none" strike="noStrike">
              <a:solidFill>
                <a:schemeClr val="dk1"/>
              </a:solidFill>
              <a:latin typeface="Calibri"/>
              <a:ea typeface="Calibri"/>
              <a:cs typeface="Calibri"/>
              <a:sym typeface="Calibri"/>
            </a:endParaRPr>
          </a:p>
        </p:txBody>
      </p:sp>
      <p:sp>
        <p:nvSpPr>
          <p:cNvPr id="316" name="Google Shape;316;p36"/>
          <p:cNvSpPr/>
          <p:nvPr/>
        </p:nvSpPr>
        <p:spPr>
          <a:xfrm>
            <a:off x="411480" y="253746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it looks like</a:t>
            </a:r>
            <a:endParaRPr b="0" i="0" sz="1300" u="none" cap="none" strike="noStrike">
              <a:solidFill>
                <a:schemeClr val="dk1"/>
              </a:solidFill>
              <a:latin typeface="Calibri"/>
              <a:ea typeface="Calibri"/>
              <a:cs typeface="Calibri"/>
              <a:sym typeface="Calibri"/>
            </a:endParaRPr>
          </a:p>
        </p:txBody>
      </p:sp>
      <p:sp>
        <p:nvSpPr>
          <p:cNvPr id="317" name="Google Shape;317;p36"/>
          <p:cNvSpPr/>
          <p:nvPr/>
        </p:nvSpPr>
        <p:spPr>
          <a:xfrm>
            <a:off x="411480" y="2846070"/>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900"/>
              <a:buFont typeface="Consolas"/>
              <a:buNone/>
            </a:pPr>
            <a:r>
              <a:rPr b="0" i="0" lang="en" sz="900" u="none" cap="none" strike="noStrike">
                <a:solidFill>
                  <a:srgbClr val="1F2937"/>
                </a:solidFill>
                <a:latin typeface="Consolas"/>
                <a:ea typeface="Consolas"/>
                <a:cs typeface="Consolas"/>
                <a:sym typeface="Consolas"/>
              </a:rPr>
              <a:t>mongodb+srv://&lt;dbUser&gt;:&lt;dbPassword&gt;@&lt;clusterHost&gt;/&lt;dbName&gt;?retryWrites=true&amp;w=majority</a:t>
            </a:r>
            <a:endParaRPr b="0" i="0" sz="900" u="none" cap="none" strike="noStrike">
              <a:solidFill>
                <a:schemeClr val="dk1"/>
              </a:solidFill>
              <a:latin typeface="Calibri"/>
              <a:ea typeface="Calibri"/>
              <a:cs typeface="Calibri"/>
              <a:sym typeface="Calibri"/>
            </a:endParaRPr>
          </a:p>
        </p:txBody>
      </p:sp>
      <p:sp>
        <p:nvSpPr>
          <p:cNvPr id="318" name="Google Shape;318;p36"/>
          <p:cNvSpPr/>
          <p:nvPr/>
        </p:nvSpPr>
        <p:spPr>
          <a:xfrm>
            <a:off x="411480" y="336042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Important</a:t>
            </a:r>
            <a:endParaRPr b="0" i="0" sz="1300" u="none" cap="none" strike="noStrike">
              <a:solidFill>
                <a:schemeClr val="dk1"/>
              </a:solidFill>
              <a:latin typeface="Calibri"/>
              <a:ea typeface="Calibri"/>
              <a:cs typeface="Calibri"/>
              <a:sym typeface="Calibri"/>
            </a:endParaRPr>
          </a:p>
        </p:txBody>
      </p:sp>
      <p:sp>
        <p:nvSpPr>
          <p:cNvPr id="319" name="Google Shape;319;p36"/>
          <p:cNvSpPr/>
          <p:nvPr/>
        </p:nvSpPr>
        <p:spPr>
          <a:xfrm>
            <a:off x="411480" y="366903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Do not paste real credentials into your slides or commit them to GitHub.</a:t>
            </a:r>
            <a:endParaRPr b="0" i="0" sz="1100" u="none" cap="none" strike="noStrike">
              <a:solidFill>
                <a:schemeClr val="dk1"/>
              </a:solidFill>
              <a:latin typeface="Calibri"/>
              <a:ea typeface="Calibri"/>
              <a:cs typeface="Calibri"/>
              <a:sym typeface="Calibri"/>
            </a:endParaRPr>
          </a:p>
        </p:txBody>
      </p:sp>
      <p:sp>
        <p:nvSpPr>
          <p:cNvPr id="320" name="Google Shape;320;p36"/>
          <p:cNvSpPr/>
          <p:nvPr/>
        </p:nvSpPr>
        <p:spPr>
          <a:xfrm>
            <a:off x="411480" y="4087368"/>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Use placeholders when sharing screenshots or examples.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37"/>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Connect MongoDB Compass to Atlas</a:t>
            </a:r>
            <a:endParaRPr b="0" i="0" sz="2000" u="none" cap="none" strike="noStrike">
              <a:solidFill>
                <a:schemeClr val="dk1"/>
              </a:solidFill>
              <a:latin typeface="Calibri"/>
              <a:ea typeface="Calibri"/>
              <a:cs typeface="Calibri"/>
              <a:sym typeface="Calibri"/>
            </a:endParaRPr>
          </a:p>
        </p:txBody>
      </p:sp>
      <p:sp>
        <p:nvSpPr>
          <p:cNvPr id="327" name="Google Shape;327;p37"/>
          <p:cNvSpPr/>
          <p:nvPr/>
        </p:nvSpPr>
        <p:spPr>
          <a:xfrm>
            <a:off x="411480" y="85725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Open MongoDB Compass.</a:t>
            </a:r>
            <a:endParaRPr b="0" i="0" sz="1100" u="none" cap="none" strike="noStrike">
              <a:solidFill>
                <a:schemeClr val="dk1"/>
              </a:solidFill>
              <a:latin typeface="Calibri"/>
              <a:ea typeface="Calibri"/>
              <a:cs typeface="Calibri"/>
              <a:sym typeface="Calibri"/>
            </a:endParaRPr>
          </a:p>
        </p:txBody>
      </p:sp>
      <p:sp>
        <p:nvSpPr>
          <p:cNvPr id="328" name="Google Shape;328;p37"/>
          <p:cNvSpPr/>
          <p:nvPr/>
        </p:nvSpPr>
        <p:spPr>
          <a:xfrm>
            <a:off x="411480" y="1275588"/>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Click New Connection.</a:t>
            </a:r>
            <a:endParaRPr b="0" i="0" sz="1100" u="none" cap="none" strike="noStrike">
              <a:solidFill>
                <a:schemeClr val="dk1"/>
              </a:solidFill>
              <a:latin typeface="Calibri"/>
              <a:ea typeface="Calibri"/>
              <a:cs typeface="Calibri"/>
              <a:sym typeface="Calibri"/>
            </a:endParaRPr>
          </a:p>
        </p:txBody>
      </p:sp>
      <p:sp>
        <p:nvSpPr>
          <p:cNvPr id="329" name="Google Shape;329;p37"/>
          <p:cNvSpPr/>
          <p:nvPr/>
        </p:nvSpPr>
        <p:spPr>
          <a:xfrm>
            <a:off x="411480" y="1693926"/>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Paste the Atlas connection string.</a:t>
            </a:r>
            <a:endParaRPr b="0" i="0" sz="1100" u="none" cap="none" strike="noStrike">
              <a:solidFill>
                <a:schemeClr val="dk1"/>
              </a:solidFill>
              <a:latin typeface="Calibri"/>
              <a:ea typeface="Calibri"/>
              <a:cs typeface="Calibri"/>
              <a:sym typeface="Calibri"/>
            </a:endParaRPr>
          </a:p>
        </p:txBody>
      </p:sp>
      <p:sp>
        <p:nvSpPr>
          <p:cNvPr id="330" name="Google Shape;330;p37"/>
          <p:cNvSpPr/>
          <p:nvPr/>
        </p:nvSpPr>
        <p:spPr>
          <a:xfrm>
            <a:off x="411480" y="2112264"/>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Replace &lt;dbUser&gt; and &lt;dbPassword&gt; with your database user credentials.</a:t>
            </a:r>
            <a:endParaRPr b="0" i="0" sz="1100" u="none" cap="none" strike="noStrike">
              <a:solidFill>
                <a:schemeClr val="dk1"/>
              </a:solidFill>
              <a:latin typeface="Calibri"/>
              <a:ea typeface="Calibri"/>
              <a:cs typeface="Calibri"/>
              <a:sym typeface="Calibri"/>
            </a:endParaRPr>
          </a:p>
        </p:txBody>
      </p:sp>
      <p:sp>
        <p:nvSpPr>
          <p:cNvPr id="331" name="Google Shape;331;p37"/>
          <p:cNvSpPr/>
          <p:nvPr/>
        </p:nvSpPr>
        <p:spPr>
          <a:xfrm>
            <a:off x="411480" y="253746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success looks like</a:t>
            </a:r>
            <a:endParaRPr b="0" i="0" sz="1300" u="none" cap="none" strike="noStrike">
              <a:solidFill>
                <a:schemeClr val="dk1"/>
              </a:solidFill>
              <a:latin typeface="Calibri"/>
              <a:ea typeface="Calibri"/>
              <a:cs typeface="Calibri"/>
              <a:sym typeface="Calibri"/>
            </a:endParaRPr>
          </a:p>
        </p:txBody>
      </p:sp>
      <p:sp>
        <p:nvSpPr>
          <p:cNvPr id="332" name="Google Shape;332;p37"/>
          <p:cNvSpPr/>
          <p:nvPr/>
        </p:nvSpPr>
        <p:spPr>
          <a:xfrm>
            <a:off x="411480" y="284607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left panel shows your databases.</a:t>
            </a:r>
            <a:endParaRPr b="0" i="0" sz="1100" u="none" cap="none" strike="noStrike">
              <a:solidFill>
                <a:schemeClr val="dk1"/>
              </a:solidFill>
              <a:latin typeface="Calibri"/>
              <a:ea typeface="Calibri"/>
              <a:cs typeface="Calibri"/>
              <a:sym typeface="Calibri"/>
            </a:endParaRPr>
          </a:p>
        </p:txBody>
      </p:sp>
      <p:sp>
        <p:nvSpPr>
          <p:cNvPr id="333" name="Google Shape;333;p37"/>
          <p:cNvSpPr/>
          <p:nvPr/>
        </p:nvSpPr>
        <p:spPr>
          <a:xfrm>
            <a:off x="411480" y="3264408"/>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You can expand a database and see collections.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8" name="Shape 338"/>
        <p:cNvGrpSpPr/>
        <p:nvPr/>
      </p:nvGrpSpPr>
      <p:grpSpPr>
        <a:xfrm>
          <a:off x="0" y="0"/>
          <a:ext cx="0" cy="0"/>
          <a:chOff x="0" y="0"/>
          <a:chExt cx="0" cy="0"/>
        </a:xfrm>
      </p:grpSpPr>
      <p:sp>
        <p:nvSpPr>
          <p:cNvPr id="339" name="Google Shape;339;p38"/>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Compass quick tour</a:t>
            </a:r>
            <a:endParaRPr b="0" i="0" sz="2000" u="none" cap="none" strike="noStrike">
              <a:solidFill>
                <a:schemeClr val="dk1"/>
              </a:solidFill>
              <a:latin typeface="Calibri"/>
              <a:ea typeface="Calibri"/>
              <a:cs typeface="Calibri"/>
              <a:sym typeface="Calibri"/>
            </a:endParaRPr>
          </a:p>
        </p:txBody>
      </p:sp>
      <p:sp>
        <p:nvSpPr>
          <p:cNvPr id="340" name="Google Shape;340;p38"/>
          <p:cNvSpPr/>
          <p:nvPr/>
        </p:nvSpPr>
        <p:spPr>
          <a:xfrm>
            <a:off x="411480" y="85725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Databases and collections</a:t>
            </a:r>
            <a:endParaRPr b="0" i="0" sz="1300" u="none" cap="none" strike="noStrike">
              <a:solidFill>
                <a:schemeClr val="dk1"/>
              </a:solidFill>
              <a:latin typeface="Calibri"/>
              <a:ea typeface="Calibri"/>
              <a:cs typeface="Calibri"/>
              <a:sym typeface="Calibri"/>
            </a:endParaRPr>
          </a:p>
        </p:txBody>
      </p:sp>
      <p:sp>
        <p:nvSpPr>
          <p:cNvPr id="341" name="Google Shape;341;p38"/>
          <p:cNvSpPr/>
          <p:nvPr/>
        </p:nvSpPr>
        <p:spPr>
          <a:xfrm>
            <a:off x="411480" y="116586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Left panel shows databases.</a:t>
            </a:r>
            <a:endParaRPr b="0" i="0" sz="1100" u="none" cap="none" strike="noStrike">
              <a:solidFill>
                <a:schemeClr val="dk1"/>
              </a:solidFill>
              <a:latin typeface="Calibri"/>
              <a:ea typeface="Calibri"/>
              <a:cs typeface="Calibri"/>
              <a:sym typeface="Calibri"/>
            </a:endParaRPr>
          </a:p>
        </p:txBody>
      </p:sp>
      <p:sp>
        <p:nvSpPr>
          <p:cNvPr id="342" name="Google Shape;342;p38"/>
          <p:cNvSpPr/>
          <p:nvPr/>
        </p:nvSpPr>
        <p:spPr>
          <a:xfrm>
            <a:off x="411480" y="1584198"/>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Expanding a database shows collections.</a:t>
            </a:r>
            <a:endParaRPr b="0" i="0" sz="1100" u="none" cap="none" strike="noStrike">
              <a:solidFill>
                <a:schemeClr val="dk1"/>
              </a:solidFill>
              <a:latin typeface="Calibri"/>
              <a:ea typeface="Calibri"/>
              <a:cs typeface="Calibri"/>
              <a:sym typeface="Calibri"/>
            </a:endParaRPr>
          </a:p>
        </p:txBody>
      </p:sp>
      <p:sp>
        <p:nvSpPr>
          <p:cNvPr id="343" name="Google Shape;343;p38"/>
          <p:cNvSpPr/>
          <p:nvPr/>
        </p:nvSpPr>
        <p:spPr>
          <a:xfrm>
            <a:off x="411480" y="2139696"/>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Inside a collection</a:t>
            </a:r>
            <a:endParaRPr b="0" i="0" sz="1300" u="none" cap="none" strike="noStrike">
              <a:solidFill>
                <a:schemeClr val="dk1"/>
              </a:solidFill>
              <a:latin typeface="Calibri"/>
              <a:ea typeface="Calibri"/>
              <a:cs typeface="Calibri"/>
              <a:sym typeface="Calibri"/>
            </a:endParaRPr>
          </a:p>
        </p:txBody>
      </p:sp>
      <p:sp>
        <p:nvSpPr>
          <p:cNvPr id="344" name="Google Shape;344;p38"/>
          <p:cNvSpPr/>
          <p:nvPr/>
        </p:nvSpPr>
        <p:spPr>
          <a:xfrm>
            <a:off x="411480" y="2448306"/>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Documents tab shows records.</a:t>
            </a:r>
            <a:endParaRPr b="0" i="0" sz="1100" u="none" cap="none" strike="noStrike">
              <a:solidFill>
                <a:schemeClr val="dk1"/>
              </a:solidFill>
              <a:latin typeface="Calibri"/>
              <a:ea typeface="Calibri"/>
              <a:cs typeface="Calibri"/>
              <a:sym typeface="Calibri"/>
            </a:endParaRPr>
          </a:p>
        </p:txBody>
      </p:sp>
      <p:sp>
        <p:nvSpPr>
          <p:cNvPr id="345" name="Google Shape;345;p38"/>
          <p:cNvSpPr/>
          <p:nvPr/>
        </p:nvSpPr>
        <p:spPr>
          <a:xfrm>
            <a:off x="411480" y="2866644"/>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Schema tab shows field patterns based on sampled documents.</a:t>
            </a:r>
            <a:endParaRPr b="0" i="0" sz="1100" u="none" cap="none" strike="noStrike">
              <a:solidFill>
                <a:schemeClr val="dk1"/>
              </a:solidFill>
              <a:latin typeface="Calibri"/>
              <a:ea typeface="Calibri"/>
              <a:cs typeface="Calibri"/>
              <a:sym typeface="Calibri"/>
            </a:endParaRPr>
          </a:p>
        </p:txBody>
      </p:sp>
      <p:sp>
        <p:nvSpPr>
          <p:cNvPr id="346" name="Google Shape;346;p38"/>
          <p:cNvSpPr/>
          <p:nvPr/>
        </p:nvSpPr>
        <p:spPr>
          <a:xfrm>
            <a:off x="411480" y="3284982"/>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Indexes tab shows indexes and allows creating indexes.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B"/>
        </a:solidFill>
      </p:bgPr>
    </p:bg>
    <p:spTree>
      <p:nvGrpSpPr>
        <p:cNvPr id="351" name="Shape 351"/>
        <p:cNvGrpSpPr/>
        <p:nvPr/>
      </p:nvGrpSpPr>
      <p:grpSpPr>
        <a:xfrm>
          <a:off x="0" y="0"/>
          <a:ext cx="0" cy="0"/>
          <a:chOff x="0" y="0"/>
          <a:chExt cx="0" cy="0"/>
        </a:xfrm>
      </p:grpSpPr>
      <p:sp>
        <p:nvSpPr>
          <p:cNvPr id="352" name="Google Shape;352;p39"/>
          <p:cNvSpPr/>
          <p:nvPr/>
        </p:nvSpPr>
        <p:spPr>
          <a:xfrm>
            <a:off x="0" y="0"/>
            <a:ext cx="9143700" cy="51435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2500"/>
              <a:buFont typeface="Calibri"/>
              <a:buNone/>
            </a:pPr>
            <a:r>
              <a:rPr b="1" i="0" lang="en" sz="2500" u="none" cap="none" strike="noStrike">
                <a:solidFill>
                  <a:srgbClr val="FFFFFF"/>
                </a:solidFill>
                <a:latin typeface="Calibri"/>
                <a:ea typeface="Calibri"/>
                <a:cs typeface="Calibri"/>
                <a:sym typeface="Calibri"/>
              </a:rPr>
              <a:t>Activity</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p40"/>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Activity overview</a:t>
            </a:r>
            <a:endParaRPr b="0" i="0" sz="2000" u="none" cap="none" strike="noStrike">
              <a:solidFill>
                <a:schemeClr val="dk1"/>
              </a:solidFill>
              <a:latin typeface="Calibri"/>
              <a:ea typeface="Calibri"/>
              <a:cs typeface="Calibri"/>
              <a:sym typeface="Calibri"/>
            </a:endParaRPr>
          </a:p>
        </p:txBody>
      </p:sp>
      <p:sp>
        <p:nvSpPr>
          <p:cNvPr id="359" name="Google Shape;359;p40"/>
          <p:cNvSpPr/>
          <p:nvPr/>
        </p:nvSpPr>
        <p:spPr>
          <a:xfrm>
            <a:off x="411480" y="85725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We will use Compass to confirm what our API is doing.</a:t>
            </a:r>
            <a:endParaRPr b="0" i="0" sz="1100" u="none" cap="none" strike="noStrike">
              <a:solidFill>
                <a:schemeClr val="dk1"/>
              </a:solidFill>
              <a:latin typeface="Calibri"/>
              <a:ea typeface="Calibri"/>
              <a:cs typeface="Calibri"/>
              <a:sym typeface="Calibri"/>
            </a:endParaRPr>
          </a:p>
        </p:txBody>
      </p:sp>
      <p:sp>
        <p:nvSpPr>
          <p:cNvPr id="360" name="Google Shape;360;p40"/>
          <p:cNvSpPr/>
          <p:nvPr/>
        </p:nvSpPr>
        <p:spPr>
          <a:xfrm>
            <a:off x="411480" y="116586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You will do three checks.</a:t>
            </a:r>
            <a:endParaRPr b="0" i="0" sz="1100" u="none" cap="none" strike="noStrike">
              <a:solidFill>
                <a:schemeClr val="dk1"/>
              </a:solidFill>
              <a:latin typeface="Calibri"/>
              <a:ea typeface="Calibri"/>
              <a:cs typeface="Calibri"/>
              <a:sym typeface="Calibri"/>
            </a:endParaRPr>
          </a:p>
        </p:txBody>
      </p:sp>
      <p:sp>
        <p:nvSpPr>
          <p:cNvPr id="361" name="Google Shape;361;p40"/>
          <p:cNvSpPr/>
          <p:nvPr/>
        </p:nvSpPr>
        <p:spPr>
          <a:xfrm>
            <a:off x="411480" y="150876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Data exists in Atlas and is visible in Compass.</a:t>
            </a:r>
            <a:endParaRPr b="0" i="0" sz="1100" u="none" cap="none" strike="noStrike">
              <a:solidFill>
                <a:schemeClr val="dk1"/>
              </a:solidFill>
              <a:latin typeface="Calibri"/>
              <a:ea typeface="Calibri"/>
              <a:cs typeface="Calibri"/>
              <a:sym typeface="Calibri"/>
            </a:endParaRPr>
          </a:p>
        </p:txBody>
      </p:sp>
      <p:sp>
        <p:nvSpPr>
          <p:cNvPr id="362" name="Google Shape;362;p40"/>
          <p:cNvSpPr/>
          <p:nvPr/>
        </p:nvSpPr>
        <p:spPr>
          <a:xfrm>
            <a:off x="411480" y="1927098"/>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Filters match the same meaning as our API query parameters.</a:t>
            </a:r>
            <a:endParaRPr b="0" i="0" sz="1100" u="none" cap="none" strike="noStrike">
              <a:solidFill>
                <a:schemeClr val="dk1"/>
              </a:solidFill>
              <a:latin typeface="Calibri"/>
              <a:ea typeface="Calibri"/>
              <a:cs typeface="Calibri"/>
              <a:sym typeface="Calibri"/>
            </a:endParaRPr>
          </a:p>
        </p:txBody>
      </p:sp>
      <p:sp>
        <p:nvSpPr>
          <p:cNvPr id="363" name="Google Shape;363;p40"/>
          <p:cNvSpPr/>
          <p:nvPr/>
        </p:nvSpPr>
        <p:spPr>
          <a:xfrm>
            <a:off x="411480" y="2345436"/>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Sorting changes the order of documents as expected.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8" name="Shape 368"/>
        <p:cNvGrpSpPr/>
        <p:nvPr/>
      </p:nvGrpSpPr>
      <p:grpSpPr>
        <a:xfrm>
          <a:off x="0" y="0"/>
          <a:ext cx="0" cy="0"/>
          <a:chOff x="0" y="0"/>
          <a:chExt cx="0" cy="0"/>
        </a:xfrm>
      </p:grpSpPr>
      <p:sp>
        <p:nvSpPr>
          <p:cNvPr id="369" name="Google Shape;369;p41"/>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Activity step 1</a:t>
            </a:r>
            <a:endParaRPr b="0" i="0" sz="2000" u="none" cap="none" strike="noStrike">
              <a:solidFill>
                <a:schemeClr val="dk1"/>
              </a:solidFill>
              <a:latin typeface="Calibri"/>
              <a:ea typeface="Calibri"/>
              <a:cs typeface="Calibri"/>
              <a:sym typeface="Calibri"/>
            </a:endParaRPr>
          </a:p>
        </p:txBody>
      </p:sp>
      <p:sp>
        <p:nvSpPr>
          <p:cNvPr id="370" name="Google Shape;370;p41"/>
          <p:cNvSpPr/>
          <p:nvPr/>
        </p:nvSpPr>
        <p:spPr>
          <a:xfrm>
            <a:off x="411480" y="85725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Verify data is being stored in Atlas.</a:t>
            </a:r>
            <a:endParaRPr b="0" i="0" sz="1100" u="none" cap="none" strike="noStrike">
              <a:solidFill>
                <a:schemeClr val="dk1"/>
              </a:solidFill>
              <a:latin typeface="Calibri"/>
              <a:ea typeface="Calibri"/>
              <a:cs typeface="Calibri"/>
              <a:sym typeface="Calibri"/>
            </a:endParaRPr>
          </a:p>
        </p:txBody>
      </p:sp>
      <p:sp>
        <p:nvSpPr>
          <p:cNvPr id="371" name="Google Shape;371;p41"/>
          <p:cNvSpPr/>
          <p:nvPr/>
        </p:nvSpPr>
        <p:spPr>
          <a:xfrm>
            <a:off x="411480" y="123444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Run the Spring Boot app configured to use Atlas.</a:t>
            </a:r>
            <a:endParaRPr b="0" i="0" sz="1100" u="none" cap="none" strike="noStrike">
              <a:solidFill>
                <a:schemeClr val="dk1"/>
              </a:solidFill>
              <a:latin typeface="Calibri"/>
              <a:ea typeface="Calibri"/>
              <a:cs typeface="Calibri"/>
              <a:sym typeface="Calibri"/>
            </a:endParaRPr>
          </a:p>
        </p:txBody>
      </p:sp>
      <p:sp>
        <p:nvSpPr>
          <p:cNvPr id="372" name="Google Shape;372;p41"/>
          <p:cNvSpPr/>
          <p:nvPr/>
        </p:nvSpPr>
        <p:spPr>
          <a:xfrm>
            <a:off x="411480" y="1652778"/>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Create one student using the API.</a:t>
            </a:r>
            <a:endParaRPr b="0" i="0" sz="1100" u="none" cap="none" strike="noStrike">
              <a:solidFill>
                <a:schemeClr val="dk1"/>
              </a:solidFill>
              <a:latin typeface="Calibri"/>
              <a:ea typeface="Calibri"/>
              <a:cs typeface="Calibri"/>
              <a:sym typeface="Calibri"/>
            </a:endParaRPr>
          </a:p>
        </p:txBody>
      </p:sp>
      <p:sp>
        <p:nvSpPr>
          <p:cNvPr id="373" name="Google Shape;373;p41"/>
          <p:cNvSpPr/>
          <p:nvPr/>
        </p:nvSpPr>
        <p:spPr>
          <a:xfrm>
            <a:off x="411480" y="2071116"/>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In Compass, open the students collection.</a:t>
            </a:r>
            <a:endParaRPr b="0" i="0" sz="1100" u="none" cap="none" strike="noStrike">
              <a:solidFill>
                <a:schemeClr val="dk1"/>
              </a:solidFill>
              <a:latin typeface="Calibri"/>
              <a:ea typeface="Calibri"/>
              <a:cs typeface="Calibri"/>
              <a:sym typeface="Calibri"/>
            </a:endParaRPr>
          </a:p>
        </p:txBody>
      </p:sp>
      <p:sp>
        <p:nvSpPr>
          <p:cNvPr id="374" name="Google Shape;374;p41"/>
          <p:cNvSpPr/>
          <p:nvPr/>
        </p:nvSpPr>
        <p:spPr>
          <a:xfrm>
            <a:off x="411480" y="2489454"/>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Confirm the new document appears.</a:t>
            </a:r>
            <a:endParaRPr b="0" i="0" sz="1100" u="none" cap="none" strike="noStrike">
              <a:solidFill>
                <a:schemeClr val="dk1"/>
              </a:solidFill>
              <a:latin typeface="Calibri"/>
              <a:ea typeface="Calibri"/>
              <a:cs typeface="Calibri"/>
              <a:sym typeface="Calibri"/>
            </a:endParaRPr>
          </a:p>
        </p:txBody>
      </p:sp>
      <p:sp>
        <p:nvSpPr>
          <p:cNvPr id="375" name="Google Shape;375;p41"/>
          <p:cNvSpPr/>
          <p:nvPr/>
        </p:nvSpPr>
        <p:spPr>
          <a:xfrm>
            <a:off x="411480" y="2907792"/>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Open the document and identify key fields like _id, name, email, active.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0" name="Shape 380"/>
        <p:cNvGrpSpPr/>
        <p:nvPr/>
      </p:nvGrpSpPr>
      <p:grpSpPr>
        <a:xfrm>
          <a:off x="0" y="0"/>
          <a:ext cx="0" cy="0"/>
          <a:chOff x="0" y="0"/>
          <a:chExt cx="0" cy="0"/>
        </a:xfrm>
      </p:grpSpPr>
      <p:sp>
        <p:nvSpPr>
          <p:cNvPr id="381" name="Google Shape;381;p42"/>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Activity step 2</a:t>
            </a:r>
            <a:endParaRPr b="0" i="0" sz="2000" u="none" cap="none" strike="noStrike">
              <a:solidFill>
                <a:schemeClr val="dk1"/>
              </a:solidFill>
              <a:latin typeface="Calibri"/>
              <a:ea typeface="Calibri"/>
              <a:cs typeface="Calibri"/>
              <a:sym typeface="Calibri"/>
            </a:endParaRPr>
          </a:p>
        </p:txBody>
      </p:sp>
      <p:sp>
        <p:nvSpPr>
          <p:cNvPr id="382" name="Google Shape;382;p42"/>
          <p:cNvSpPr/>
          <p:nvPr/>
        </p:nvSpPr>
        <p:spPr>
          <a:xfrm>
            <a:off x="411480" y="85725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Goal</a:t>
            </a:r>
            <a:endParaRPr b="0" i="0" sz="1300" u="none" cap="none" strike="noStrike">
              <a:solidFill>
                <a:schemeClr val="dk1"/>
              </a:solidFill>
              <a:latin typeface="Calibri"/>
              <a:ea typeface="Calibri"/>
              <a:cs typeface="Calibri"/>
              <a:sym typeface="Calibri"/>
            </a:endParaRPr>
          </a:p>
        </p:txBody>
      </p:sp>
      <p:sp>
        <p:nvSpPr>
          <p:cNvPr id="383" name="Google Shape;383;p42"/>
          <p:cNvSpPr/>
          <p:nvPr/>
        </p:nvSpPr>
        <p:spPr>
          <a:xfrm>
            <a:off x="411480" y="116586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Match what the API does for active=true or active=false.</a:t>
            </a:r>
            <a:endParaRPr b="0" i="0" sz="1100" u="none" cap="none" strike="noStrike">
              <a:solidFill>
                <a:schemeClr val="dk1"/>
              </a:solidFill>
              <a:latin typeface="Calibri"/>
              <a:ea typeface="Calibri"/>
              <a:cs typeface="Calibri"/>
              <a:sym typeface="Calibri"/>
            </a:endParaRPr>
          </a:p>
        </p:txBody>
      </p:sp>
      <p:sp>
        <p:nvSpPr>
          <p:cNvPr id="384" name="Google Shape;384;p42"/>
          <p:cNvSpPr/>
          <p:nvPr/>
        </p:nvSpPr>
        <p:spPr>
          <a:xfrm>
            <a:off x="411480" y="154305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Compass filter example</a:t>
            </a:r>
            <a:endParaRPr b="0" i="0" sz="1300" u="none" cap="none" strike="noStrike">
              <a:solidFill>
                <a:schemeClr val="dk1"/>
              </a:solidFill>
              <a:latin typeface="Calibri"/>
              <a:ea typeface="Calibri"/>
              <a:cs typeface="Calibri"/>
              <a:sym typeface="Calibri"/>
            </a:endParaRPr>
          </a:p>
        </p:txBody>
      </p:sp>
      <p:sp>
        <p:nvSpPr>
          <p:cNvPr id="385" name="Google Shape;385;p42"/>
          <p:cNvSpPr/>
          <p:nvPr/>
        </p:nvSpPr>
        <p:spPr>
          <a:xfrm>
            <a:off x="411480" y="1851660"/>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900"/>
              <a:buFont typeface="Consolas"/>
              <a:buNone/>
            </a:pPr>
            <a:r>
              <a:rPr b="0" i="0" lang="en" sz="900" u="none" cap="none" strike="noStrike">
                <a:solidFill>
                  <a:srgbClr val="1F2937"/>
                </a:solidFill>
                <a:latin typeface="Consolas"/>
                <a:ea typeface="Consolas"/>
                <a:cs typeface="Consolas"/>
                <a:sym typeface="Consolas"/>
              </a:rPr>
              <a:t>{ "active": true }</a:t>
            </a:r>
            <a:endParaRPr b="0" i="0" sz="900" u="none" cap="none" strike="noStrike">
              <a:solidFill>
                <a:schemeClr val="dk1"/>
              </a:solidFill>
              <a:latin typeface="Calibri"/>
              <a:ea typeface="Calibri"/>
              <a:cs typeface="Calibri"/>
              <a:sym typeface="Calibri"/>
            </a:endParaRPr>
          </a:p>
        </p:txBody>
      </p:sp>
      <p:sp>
        <p:nvSpPr>
          <p:cNvPr id="386" name="Google Shape;386;p42"/>
          <p:cNvSpPr/>
          <p:nvPr/>
        </p:nvSpPr>
        <p:spPr>
          <a:xfrm>
            <a:off x="411480" y="236601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you should observe</a:t>
            </a:r>
            <a:endParaRPr b="0" i="0" sz="1300" u="none" cap="none" strike="noStrike">
              <a:solidFill>
                <a:schemeClr val="dk1"/>
              </a:solidFill>
              <a:latin typeface="Calibri"/>
              <a:ea typeface="Calibri"/>
              <a:cs typeface="Calibri"/>
              <a:sym typeface="Calibri"/>
            </a:endParaRPr>
          </a:p>
        </p:txBody>
      </p:sp>
      <p:sp>
        <p:nvSpPr>
          <p:cNvPr id="387" name="Google Shape;387;p42"/>
          <p:cNvSpPr/>
          <p:nvPr/>
        </p:nvSpPr>
        <p:spPr>
          <a:xfrm>
            <a:off x="411480" y="267462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Only documents with active true are shown.</a:t>
            </a:r>
            <a:endParaRPr b="0" i="0" sz="1100" u="none" cap="none" strike="noStrike">
              <a:solidFill>
                <a:schemeClr val="dk1"/>
              </a:solidFill>
              <a:latin typeface="Calibri"/>
              <a:ea typeface="Calibri"/>
              <a:cs typeface="Calibri"/>
              <a:sym typeface="Calibri"/>
            </a:endParaRPr>
          </a:p>
        </p:txBody>
      </p:sp>
      <p:sp>
        <p:nvSpPr>
          <p:cNvPr id="388" name="Google Shape;388;p42"/>
          <p:cNvSpPr/>
          <p:nvPr/>
        </p:nvSpPr>
        <p:spPr>
          <a:xfrm>
            <a:off x="411480" y="3092958"/>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Changing the filter to false flips the result set.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3" name="Shape 393"/>
        <p:cNvGrpSpPr/>
        <p:nvPr/>
      </p:nvGrpSpPr>
      <p:grpSpPr>
        <a:xfrm>
          <a:off x="0" y="0"/>
          <a:ext cx="0" cy="0"/>
          <a:chOff x="0" y="0"/>
          <a:chExt cx="0" cy="0"/>
        </a:xfrm>
      </p:grpSpPr>
      <p:sp>
        <p:nvSpPr>
          <p:cNvPr id="394" name="Google Shape;394;p43"/>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Activity step 3</a:t>
            </a:r>
            <a:endParaRPr b="0" i="0" sz="2000" u="none" cap="none" strike="noStrike">
              <a:solidFill>
                <a:schemeClr val="dk1"/>
              </a:solidFill>
              <a:latin typeface="Calibri"/>
              <a:ea typeface="Calibri"/>
              <a:cs typeface="Calibri"/>
              <a:sym typeface="Calibri"/>
            </a:endParaRPr>
          </a:p>
        </p:txBody>
      </p:sp>
      <p:sp>
        <p:nvSpPr>
          <p:cNvPr id="395" name="Google Shape;395;p43"/>
          <p:cNvSpPr/>
          <p:nvPr/>
        </p:nvSpPr>
        <p:spPr>
          <a:xfrm>
            <a:off x="411480" y="85725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Search style filter in Compass</a:t>
            </a:r>
            <a:endParaRPr b="0" i="0" sz="1300" u="none" cap="none" strike="noStrike">
              <a:solidFill>
                <a:schemeClr val="dk1"/>
              </a:solidFill>
              <a:latin typeface="Calibri"/>
              <a:ea typeface="Calibri"/>
              <a:cs typeface="Calibri"/>
              <a:sym typeface="Calibri"/>
            </a:endParaRPr>
          </a:p>
        </p:txBody>
      </p:sp>
      <p:sp>
        <p:nvSpPr>
          <p:cNvPr id="396" name="Google Shape;396;p43"/>
          <p:cNvSpPr/>
          <p:nvPr/>
        </p:nvSpPr>
        <p:spPr>
          <a:xfrm>
            <a:off x="411480" y="116586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Our API supports q for name or email matching.</a:t>
            </a:r>
            <a:endParaRPr b="0" i="0" sz="1100" u="none" cap="none" strike="noStrike">
              <a:solidFill>
                <a:schemeClr val="dk1"/>
              </a:solidFill>
              <a:latin typeface="Calibri"/>
              <a:ea typeface="Calibri"/>
              <a:cs typeface="Calibri"/>
              <a:sym typeface="Calibri"/>
            </a:endParaRPr>
          </a:p>
        </p:txBody>
      </p:sp>
      <p:sp>
        <p:nvSpPr>
          <p:cNvPr id="397" name="Google Shape;397;p43"/>
          <p:cNvSpPr/>
          <p:nvPr/>
        </p:nvSpPr>
        <p:spPr>
          <a:xfrm>
            <a:off x="411480" y="1556766"/>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Compass filters are explicit, so you write the conditions yourself.</a:t>
            </a:r>
            <a:endParaRPr b="0" i="0" sz="1100" u="none" cap="none" strike="noStrike">
              <a:solidFill>
                <a:schemeClr val="dk1"/>
              </a:solidFill>
              <a:latin typeface="Calibri"/>
              <a:ea typeface="Calibri"/>
              <a:cs typeface="Calibri"/>
              <a:sym typeface="Calibri"/>
            </a:endParaRPr>
          </a:p>
        </p:txBody>
      </p:sp>
      <p:sp>
        <p:nvSpPr>
          <p:cNvPr id="398" name="Google Shape;398;p43"/>
          <p:cNvSpPr/>
          <p:nvPr/>
        </p:nvSpPr>
        <p:spPr>
          <a:xfrm>
            <a:off x="411480" y="2119122"/>
            <a:ext cx="4023246"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200"/>
              <a:buFont typeface="Calibri"/>
              <a:buNone/>
            </a:pPr>
            <a:r>
              <a:rPr b="1" i="0" lang="en" sz="1200" u="none" cap="none" strike="noStrike">
                <a:solidFill>
                  <a:srgbClr val="0B1F3B"/>
                </a:solidFill>
                <a:latin typeface="Calibri"/>
                <a:ea typeface="Calibri"/>
                <a:cs typeface="Calibri"/>
                <a:sym typeface="Calibri"/>
              </a:rPr>
              <a:t>Example 1: name contains "ki"</a:t>
            </a:r>
            <a:endParaRPr b="0" i="0" sz="1200" u="none" cap="none" strike="noStrike">
              <a:solidFill>
                <a:schemeClr val="dk1"/>
              </a:solidFill>
              <a:latin typeface="Calibri"/>
              <a:ea typeface="Calibri"/>
              <a:cs typeface="Calibri"/>
              <a:sym typeface="Calibri"/>
            </a:endParaRPr>
          </a:p>
        </p:txBody>
      </p:sp>
      <p:sp>
        <p:nvSpPr>
          <p:cNvPr id="399" name="Google Shape;399;p43"/>
          <p:cNvSpPr/>
          <p:nvPr/>
        </p:nvSpPr>
        <p:spPr>
          <a:xfrm>
            <a:off x="4709046" y="2119122"/>
            <a:ext cx="4023246"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200"/>
              <a:buFont typeface="Calibri"/>
              <a:buNone/>
            </a:pPr>
            <a:r>
              <a:rPr b="1" i="0" lang="en" sz="1200" u="none" cap="none" strike="noStrike">
                <a:solidFill>
                  <a:srgbClr val="0B1F3B"/>
                </a:solidFill>
                <a:latin typeface="Calibri"/>
                <a:ea typeface="Calibri"/>
                <a:cs typeface="Calibri"/>
                <a:sym typeface="Calibri"/>
              </a:rPr>
              <a:t>Example 2: name or email contains "ki"</a:t>
            </a:r>
            <a:endParaRPr b="0" i="0" sz="1200" u="none" cap="none" strike="noStrike">
              <a:solidFill>
                <a:schemeClr val="dk1"/>
              </a:solidFill>
              <a:latin typeface="Calibri"/>
              <a:ea typeface="Calibri"/>
              <a:cs typeface="Calibri"/>
              <a:sym typeface="Calibri"/>
            </a:endParaRPr>
          </a:p>
        </p:txBody>
      </p:sp>
      <p:sp>
        <p:nvSpPr>
          <p:cNvPr id="400" name="Google Shape;400;p43"/>
          <p:cNvSpPr/>
          <p:nvPr/>
        </p:nvSpPr>
        <p:spPr>
          <a:xfrm>
            <a:off x="411480" y="2427732"/>
            <a:ext cx="4023246" cy="3543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800"/>
              <a:buFont typeface="Consolas"/>
              <a:buNone/>
            </a:pPr>
            <a:r>
              <a:rPr b="0" i="0" lang="en" sz="800" u="none" cap="none" strike="noStrike">
                <a:solidFill>
                  <a:srgbClr val="1F2937"/>
                </a:solidFill>
                <a:latin typeface="Consolas"/>
                <a:ea typeface="Consolas"/>
                <a:cs typeface="Consolas"/>
                <a:sym typeface="Consolas"/>
              </a:rPr>
              <a:t>{ "name": { "$regex": "ki", "$options": "i" } }</a:t>
            </a:r>
            <a:endParaRPr b="0" i="0" sz="800" u="none" cap="none" strike="noStrike">
              <a:solidFill>
                <a:schemeClr val="dk1"/>
              </a:solidFill>
              <a:latin typeface="Calibri"/>
              <a:ea typeface="Calibri"/>
              <a:cs typeface="Calibri"/>
              <a:sym typeface="Calibri"/>
            </a:endParaRPr>
          </a:p>
        </p:txBody>
      </p:sp>
      <p:sp>
        <p:nvSpPr>
          <p:cNvPr id="401" name="Google Shape;401;p43"/>
          <p:cNvSpPr/>
          <p:nvPr/>
        </p:nvSpPr>
        <p:spPr>
          <a:xfrm>
            <a:off x="4709046" y="2427732"/>
            <a:ext cx="4023246" cy="6972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800"/>
              <a:buFont typeface="Consolas"/>
              <a:buNone/>
            </a:pPr>
            <a:r>
              <a:rPr b="0" i="0" lang="en" sz="800" u="none" cap="none" strike="noStrike">
                <a:solidFill>
                  <a:srgbClr val="1F2937"/>
                </a:solidFill>
                <a:latin typeface="Consolas"/>
                <a:ea typeface="Consolas"/>
                <a:cs typeface="Consolas"/>
                <a:sym typeface="Consolas"/>
              </a:rPr>
              <a:t>{ "$or":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800"/>
              <a:buFont typeface="Consolas"/>
              <a:buNone/>
            </a:pPr>
            <a:r>
              <a:rPr b="0" i="0" lang="en" sz="800" u="none" cap="none" strike="noStrike">
                <a:solidFill>
                  <a:srgbClr val="1F2937"/>
                </a:solidFill>
                <a:latin typeface="Consolas"/>
                <a:ea typeface="Consolas"/>
                <a:cs typeface="Consolas"/>
                <a:sym typeface="Consolas"/>
              </a:rPr>
              <a:t>  { "name": { "$regex": "ki", "$options": "i" }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800"/>
              <a:buFont typeface="Consolas"/>
              <a:buNone/>
            </a:pPr>
            <a:r>
              <a:rPr b="0" i="0" lang="en" sz="800" u="none" cap="none" strike="noStrike">
                <a:solidFill>
                  <a:srgbClr val="1F2937"/>
                </a:solidFill>
                <a:latin typeface="Consolas"/>
                <a:ea typeface="Consolas"/>
                <a:cs typeface="Consolas"/>
                <a:sym typeface="Consolas"/>
              </a:rPr>
              <a:t>  { "email": { "$regex": "ki", "$options": "i" }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800"/>
              <a:buFont typeface="Consolas"/>
              <a:buNone/>
            </a:pPr>
            <a:r>
              <a:rPr b="0" i="0" lang="en" sz="800" u="none" cap="none" strike="noStrike">
                <a:solidFill>
                  <a:srgbClr val="1F2937"/>
                </a:solidFill>
                <a:latin typeface="Consolas"/>
                <a:ea typeface="Consolas"/>
                <a:cs typeface="Consolas"/>
                <a:sym typeface="Consolas"/>
              </a:rPr>
              <a:t>] }</a:t>
            </a:r>
            <a:endParaRPr b="0" i="0" sz="800" u="none" cap="none" strike="noStrike">
              <a:solidFill>
                <a:schemeClr val="dk1"/>
              </a:solidFill>
              <a:latin typeface="Calibri"/>
              <a:ea typeface="Calibri"/>
              <a:cs typeface="Calibri"/>
              <a:sym typeface="Calibri"/>
            </a:endParaRPr>
          </a:p>
        </p:txBody>
      </p:sp>
      <p:sp>
        <p:nvSpPr>
          <p:cNvPr id="402" name="Google Shape;402;p43"/>
          <p:cNvSpPr/>
          <p:nvPr/>
        </p:nvSpPr>
        <p:spPr>
          <a:xfrm>
            <a:off x="411480" y="3296412"/>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Note</a:t>
            </a:r>
            <a:endParaRPr b="0" i="0" sz="1300" u="none" cap="none" strike="noStrike">
              <a:solidFill>
                <a:schemeClr val="dk1"/>
              </a:solidFill>
              <a:latin typeface="Calibri"/>
              <a:ea typeface="Calibri"/>
              <a:cs typeface="Calibri"/>
              <a:sym typeface="Calibri"/>
            </a:endParaRPr>
          </a:p>
        </p:txBody>
      </p:sp>
      <p:sp>
        <p:nvSpPr>
          <p:cNvPr id="403" name="Google Shape;403;p43"/>
          <p:cNvSpPr/>
          <p:nvPr/>
        </p:nvSpPr>
        <p:spPr>
          <a:xfrm>
            <a:off x="411480" y="3605022"/>
            <a:ext cx="8320811" cy="502920"/>
          </a:xfrm>
          <a:prstGeom prst="rect">
            <a:avLst/>
          </a:prstGeom>
          <a:noFill/>
          <a:ln>
            <a:noFill/>
          </a:ln>
        </p:spPr>
        <p:txBody>
          <a:bodyPr anchorCtr="0" anchor="ctr" bIns="34275" lIns="68575" spcFirstLastPara="1" rIns="68575" wrap="square" tIns="34275">
            <a:noAutofit/>
          </a:bodyPr>
          <a:lstStyle/>
          <a:p>
            <a:pPr indent="-177800" lvl="0" marL="177800" marR="0" rtl="0" algn="l">
              <a:spcBef>
                <a:spcPts val="0"/>
              </a:spcBef>
              <a:spcAft>
                <a:spcPts val="0"/>
              </a:spcAft>
              <a:buClr>
                <a:srgbClr val="1F2937"/>
              </a:buClr>
              <a:buSzPts val="1000"/>
              <a:buFont typeface="Calibri"/>
              <a:buChar char="•"/>
            </a:pPr>
            <a:r>
              <a:rPr b="0" i="0" lang="en" sz="1000" u="none" cap="none" strike="noStrike">
                <a:solidFill>
                  <a:srgbClr val="1F2937"/>
                </a:solidFill>
                <a:latin typeface="Calibri"/>
                <a:ea typeface="Calibri"/>
                <a:cs typeface="Calibri"/>
                <a:sym typeface="Calibri"/>
              </a:rPr>
              <a:t>We are not trying to perfectly replicate the exact API search behavior in Compass.</a:t>
            </a:r>
            <a:endParaRPr b="0" i="0" sz="1000" u="none" cap="none" strike="noStrike">
              <a:solidFill>
                <a:schemeClr val="dk1"/>
              </a:solidFill>
              <a:latin typeface="Calibri"/>
              <a:ea typeface="Calibri"/>
              <a:cs typeface="Calibri"/>
              <a:sym typeface="Calibri"/>
            </a:endParaRPr>
          </a:p>
        </p:txBody>
      </p:sp>
      <p:sp>
        <p:nvSpPr>
          <p:cNvPr id="404" name="Google Shape;404;p43"/>
          <p:cNvSpPr/>
          <p:nvPr/>
        </p:nvSpPr>
        <p:spPr>
          <a:xfrm>
            <a:off x="411480" y="4121658"/>
            <a:ext cx="8320811" cy="354330"/>
          </a:xfrm>
          <a:prstGeom prst="rect">
            <a:avLst/>
          </a:prstGeom>
          <a:noFill/>
          <a:ln>
            <a:noFill/>
          </a:ln>
        </p:spPr>
        <p:txBody>
          <a:bodyPr anchorCtr="0" anchor="ctr" bIns="34275" lIns="68575" spcFirstLastPara="1" rIns="68575" wrap="square" tIns="34275">
            <a:noAutofit/>
          </a:bodyPr>
          <a:lstStyle/>
          <a:p>
            <a:pPr indent="-177800" lvl="0" marL="177800" marR="0" rtl="0" algn="l">
              <a:spcBef>
                <a:spcPts val="0"/>
              </a:spcBef>
              <a:spcAft>
                <a:spcPts val="0"/>
              </a:spcAft>
              <a:buClr>
                <a:srgbClr val="1F2937"/>
              </a:buClr>
              <a:buSzPts val="1000"/>
              <a:buFont typeface="Calibri"/>
              <a:buChar char="•"/>
            </a:pPr>
            <a:r>
              <a:rPr b="0" i="0" lang="en" sz="1000" u="none" cap="none" strike="noStrike">
                <a:solidFill>
                  <a:srgbClr val="1F2937"/>
                </a:solidFill>
                <a:latin typeface="Calibri"/>
                <a:ea typeface="Calibri"/>
                <a:cs typeface="Calibri"/>
                <a:sym typeface="Calibri"/>
              </a:rPr>
              <a:t>The goal is to understand the data and verify what is stored.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9" name="Shape 409"/>
        <p:cNvGrpSpPr/>
        <p:nvPr/>
      </p:nvGrpSpPr>
      <p:grpSpPr>
        <a:xfrm>
          <a:off x="0" y="0"/>
          <a:ext cx="0" cy="0"/>
          <a:chOff x="0" y="0"/>
          <a:chExt cx="0" cy="0"/>
        </a:xfrm>
      </p:grpSpPr>
      <p:sp>
        <p:nvSpPr>
          <p:cNvPr id="410" name="Google Shape;410;p44"/>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Sorting and limiting in Compass</a:t>
            </a:r>
            <a:endParaRPr b="0" i="0" sz="2000" u="none" cap="none" strike="noStrike">
              <a:solidFill>
                <a:schemeClr val="dk1"/>
              </a:solidFill>
              <a:latin typeface="Calibri"/>
              <a:ea typeface="Calibri"/>
              <a:cs typeface="Calibri"/>
              <a:sym typeface="Calibri"/>
            </a:endParaRPr>
          </a:p>
        </p:txBody>
      </p:sp>
      <p:sp>
        <p:nvSpPr>
          <p:cNvPr id="411" name="Google Shape;411;p44"/>
          <p:cNvSpPr/>
          <p:nvPr/>
        </p:nvSpPr>
        <p:spPr>
          <a:xfrm>
            <a:off x="411480" y="85725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Sorting</a:t>
            </a:r>
            <a:endParaRPr b="0" i="0" sz="1300" u="none" cap="none" strike="noStrike">
              <a:solidFill>
                <a:schemeClr val="dk1"/>
              </a:solidFill>
              <a:latin typeface="Calibri"/>
              <a:ea typeface="Calibri"/>
              <a:cs typeface="Calibri"/>
              <a:sym typeface="Calibri"/>
            </a:endParaRPr>
          </a:p>
        </p:txBody>
      </p:sp>
      <p:sp>
        <p:nvSpPr>
          <p:cNvPr id="412" name="Google Shape;412;p44"/>
          <p:cNvSpPr/>
          <p:nvPr/>
        </p:nvSpPr>
        <p:spPr>
          <a:xfrm>
            <a:off x="411480" y="116586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Use the Sort control to sort by a field such as name.</a:t>
            </a:r>
            <a:endParaRPr b="0" i="0" sz="1100" u="none" cap="none" strike="noStrike">
              <a:solidFill>
                <a:schemeClr val="dk1"/>
              </a:solidFill>
              <a:latin typeface="Calibri"/>
              <a:ea typeface="Calibri"/>
              <a:cs typeface="Calibri"/>
              <a:sym typeface="Calibri"/>
            </a:endParaRPr>
          </a:p>
        </p:txBody>
      </p:sp>
      <p:sp>
        <p:nvSpPr>
          <p:cNvPr id="413" name="Google Shape;413;p44"/>
          <p:cNvSpPr/>
          <p:nvPr/>
        </p:nvSpPr>
        <p:spPr>
          <a:xfrm>
            <a:off x="411480" y="1584198"/>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Choose ascending or descending.</a:t>
            </a:r>
            <a:endParaRPr b="0" i="0" sz="1100" u="none" cap="none" strike="noStrike">
              <a:solidFill>
                <a:schemeClr val="dk1"/>
              </a:solidFill>
              <a:latin typeface="Calibri"/>
              <a:ea typeface="Calibri"/>
              <a:cs typeface="Calibri"/>
              <a:sym typeface="Calibri"/>
            </a:endParaRPr>
          </a:p>
        </p:txBody>
      </p:sp>
      <p:sp>
        <p:nvSpPr>
          <p:cNvPr id="414" name="Google Shape;414;p44"/>
          <p:cNvSpPr/>
          <p:nvPr/>
        </p:nvSpPr>
        <p:spPr>
          <a:xfrm>
            <a:off x="411480" y="2139696"/>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Limiting</a:t>
            </a:r>
            <a:endParaRPr b="0" i="0" sz="1300" u="none" cap="none" strike="noStrike">
              <a:solidFill>
                <a:schemeClr val="dk1"/>
              </a:solidFill>
              <a:latin typeface="Calibri"/>
              <a:ea typeface="Calibri"/>
              <a:cs typeface="Calibri"/>
              <a:sym typeface="Calibri"/>
            </a:endParaRPr>
          </a:p>
        </p:txBody>
      </p:sp>
      <p:sp>
        <p:nvSpPr>
          <p:cNvPr id="415" name="Google Shape;415;p44"/>
          <p:cNvSpPr/>
          <p:nvPr/>
        </p:nvSpPr>
        <p:spPr>
          <a:xfrm>
            <a:off x="411480" y="2448306"/>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Use the Limit control to return fewer documents.</a:t>
            </a:r>
            <a:endParaRPr b="0" i="0" sz="1100" u="none" cap="none" strike="noStrike">
              <a:solidFill>
                <a:schemeClr val="dk1"/>
              </a:solidFill>
              <a:latin typeface="Calibri"/>
              <a:ea typeface="Calibri"/>
              <a:cs typeface="Calibri"/>
              <a:sym typeface="Calibri"/>
            </a:endParaRPr>
          </a:p>
        </p:txBody>
      </p:sp>
      <p:sp>
        <p:nvSpPr>
          <p:cNvPr id="416" name="Google Shape;416;p44"/>
          <p:cNvSpPr/>
          <p:nvPr/>
        </p:nvSpPr>
        <p:spPr>
          <a:xfrm>
            <a:off x="411480" y="2866644"/>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This is useful when a collection becomes large.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1" name="Shape 421"/>
        <p:cNvGrpSpPr/>
        <p:nvPr/>
      </p:nvGrpSpPr>
      <p:grpSpPr>
        <a:xfrm>
          <a:off x="0" y="0"/>
          <a:ext cx="0" cy="0"/>
          <a:chOff x="0" y="0"/>
          <a:chExt cx="0" cy="0"/>
        </a:xfrm>
      </p:grpSpPr>
      <p:sp>
        <p:nvSpPr>
          <p:cNvPr id="422" name="Google Shape;422;p45"/>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Managing collections in Atlas using Compass</a:t>
            </a:r>
            <a:endParaRPr b="0" i="0" sz="2000" u="none" cap="none" strike="noStrike">
              <a:solidFill>
                <a:schemeClr val="dk1"/>
              </a:solidFill>
              <a:latin typeface="Calibri"/>
              <a:ea typeface="Calibri"/>
              <a:cs typeface="Calibri"/>
              <a:sym typeface="Calibri"/>
            </a:endParaRPr>
          </a:p>
        </p:txBody>
      </p:sp>
      <p:sp>
        <p:nvSpPr>
          <p:cNvPr id="423" name="Google Shape;423;p45"/>
          <p:cNvSpPr/>
          <p:nvPr/>
        </p:nvSpPr>
        <p:spPr>
          <a:xfrm>
            <a:off x="411480" y="85725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Create database and collection</a:t>
            </a:r>
            <a:endParaRPr b="0" i="0" sz="1300" u="none" cap="none" strike="noStrike">
              <a:solidFill>
                <a:schemeClr val="dk1"/>
              </a:solidFill>
              <a:latin typeface="Calibri"/>
              <a:ea typeface="Calibri"/>
              <a:cs typeface="Calibri"/>
              <a:sym typeface="Calibri"/>
            </a:endParaRPr>
          </a:p>
        </p:txBody>
      </p:sp>
      <p:sp>
        <p:nvSpPr>
          <p:cNvPr id="424" name="Google Shape;424;p45"/>
          <p:cNvSpPr/>
          <p:nvPr/>
        </p:nvSpPr>
        <p:spPr>
          <a:xfrm>
            <a:off x="411480" y="116586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In Compass, create a database name and a collection name.</a:t>
            </a:r>
            <a:endParaRPr b="0" i="0" sz="1100" u="none" cap="none" strike="noStrike">
              <a:solidFill>
                <a:schemeClr val="dk1"/>
              </a:solidFill>
              <a:latin typeface="Calibri"/>
              <a:ea typeface="Calibri"/>
              <a:cs typeface="Calibri"/>
              <a:sym typeface="Calibri"/>
            </a:endParaRPr>
          </a:p>
        </p:txBody>
      </p:sp>
      <p:sp>
        <p:nvSpPr>
          <p:cNvPr id="425" name="Google Shape;425;p45"/>
          <p:cNvSpPr/>
          <p:nvPr/>
        </p:nvSpPr>
        <p:spPr>
          <a:xfrm>
            <a:off x="411480" y="1584198"/>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Example collections for our project: students, courses, enrollments.</a:t>
            </a:r>
            <a:endParaRPr b="0" i="0" sz="1100" u="none" cap="none" strike="noStrike">
              <a:solidFill>
                <a:schemeClr val="dk1"/>
              </a:solidFill>
              <a:latin typeface="Calibri"/>
              <a:ea typeface="Calibri"/>
              <a:cs typeface="Calibri"/>
              <a:sym typeface="Calibri"/>
            </a:endParaRPr>
          </a:p>
        </p:txBody>
      </p:sp>
      <p:sp>
        <p:nvSpPr>
          <p:cNvPr id="426" name="Google Shape;426;p45"/>
          <p:cNvSpPr/>
          <p:nvPr/>
        </p:nvSpPr>
        <p:spPr>
          <a:xfrm>
            <a:off x="411480" y="2139696"/>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Insert a document</a:t>
            </a:r>
            <a:endParaRPr b="0" i="0" sz="1300" u="none" cap="none" strike="noStrike">
              <a:solidFill>
                <a:schemeClr val="dk1"/>
              </a:solidFill>
              <a:latin typeface="Calibri"/>
              <a:ea typeface="Calibri"/>
              <a:cs typeface="Calibri"/>
              <a:sym typeface="Calibri"/>
            </a:endParaRPr>
          </a:p>
        </p:txBody>
      </p:sp>
      <p:sp>
        <p:nvSpPr>
          <p:cNvPr id="427" name="Google Shape;427;p45"/>
          <p:cNvSpPr/>
          <p:nvPr/>
        </p:nvSpPr>
        <p:spPr>
          <a:xfrm>
            <a:off x="411480" y="2448306"/>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Use Add Data to insert a document.</a:t>
            </a:r>
            <a:endParaRPr b="0" i="0" sz="1100" u="none" cap="none" strike="noStrike">
              <a:solidFill>
                <a:schemeClr val="dk1"/>
              </a:solidFill>
              <a:latin typeface="Calibri"/>
              <a:ea typeface="Calibri"/>
              <a:cs typeface="Calibri"/>
              <a:sym typeface="Calibri"/>
            </a:endParaRPr>
          </a:p>
        </p:txBody>
      </p:sp>
      <p:sp>
        <p:nvSpPr>
          <p:cNvPr id="428" name="Google Shape;428;p45"/>
          <p:cNvSpPr/>
          <p:nvPr/>
        </p:nvSpPr>
        <p:spPr>
          <a:xfrm>
            <a:off x="411480" y="2866644"/>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Refresh to confirm it was stored.</a:t>
            </a:r>
            <a:endParaRPr b="0" i="0" sz="1100" u="none" cap="none" strike="noStrike">
              <a:solidFill>
                <a:schemeClr val="dk1"/>
              </a:solidFill>
              <a:latin typeface="Calibri"/>
              <a:ea typeface="Calibri"/>
              <a:cs typeface="Calibri"/>
              <a:sym typeface="Calibri"/>
            </a:endParaRPr>
          </a:p>
        </p:txBody>
      </p:sp>
      <p:sp>
        <p:nvSpPr>
          <p:cNvPr id="429" name="Google Shape;429;p45"/>
          <p:cNvSpPr/>
          <p:nvPr/>
        </p:nvSpPr>
        <p:spPr>
          <a:xfrm>
            <a:off x="411480" y="3422142"/>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Update a document</a:t>
            </a:r>
            <a:endParaRPr b="0" i="0" sz="1300" u="none" cap="none" strike="noStrike">
              <a:solidFill>
                <a:schemeClr val="dk1"/>
              </a:solidFill>
              <a:latin typeface="Calibri"/>
              <a:ea typeface="Calibri"/>
              <a:cs typeface="Calibri"/>
              <a:sym typeface="Calibri"/>
            </a:endParaRPr>
          </a:p>
        </p:txBody>
      </p:sp>
      <p:sp>
        <p:nvSpPr>
          <p:cNvPr id="430" name="Google Shape;430;p45"/>
          <p:cNvSpPr/>
          <p:nvPr/>
        </p:nvSpPr>
        <p:spPr>
          <a:xfrm>
            <a:off x="411480" y="3730752"/>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Edit a field in a document and save.</a:t>
            </a:r>
            <a:endParaRPr b="0" i="0" sz="1100" u="none" cap="none" strike="noStrike">
              <a:solidFill>
                <a:schemeClr val="dk1"/>
              </a:solidFill>
              <a:latin typeface="Calibri"/>
              <a:ea typeface="Calibri"/>
              <a:cs typeface="Calibri"/>
              <a:sym typeface="Calibri"/>
            </a:endParaRPr>
          </a:p>
        </p:txBody>
      </p:sp>
      <p:sp>
        <p:nvSpPr>
          <p:cNvPr id="431" name="Google Shape;431;p45"/>
          <p:cNvSpPr/>
          <p:nvPr/>
        </p:nvSpPr>
        <p:spPr>
          <a:xfrm>
            <a:off x="411480" y="414909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Refresh to confirm the update is persisted.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6" name="Shape 436"/>
        <p:cNvGrpSpPr/>
        <p:nvPr/>
      </p:nvGrpSpPr>
      <p:grpSpPr>
        <a:xfrm>
          <a:off x="0" y="0"/>
          <a:ext cx="0" cy="0"/>
          <a:chOff x="0" y="0"/>
          <a:chExt cx="0" cy="0"/>
        </a:xfrm>
      </p:grpSpPr>
      <p:sp>
        <p:nvSpPr>
          <p:cNvPr id="437" name="Google Shape;437;p46"/>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Indexes in Compass</a:t>
            </a:r>
            <a:endParaRPr b="0" i="0" sz="2000" u="none" cap="none" strike="noStrike">
              <a:solidFill>
                <a:schemeClr val="dk1"/>
              </a:solidFill>
              <a:latin typeface="Calibri"/>
              <a:ea typeface="Calibri"/>
              <a:cs typeface="Calibri"/>
              <a:sym typeface="Calibri"/>
            </a:endParaRPr>
          </a:p>
        </p:txBody>
      </p:sp>
      <p:sp>
        <p:nvSpPr>
          <p:cNvPr id="438" name="Google Shape;438;p46"/>
          <p:cNvSpPr/>
          <p:nvPr/>
        </p:nvSpPr>
        <p:spPr>
          <a:xfrm>
            <a:off x="411480" y="85725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This is a tool-focused check, not a deep theory recap.</a:t>
            </a:r>
            <a:endParaRPr b="0" i="0" sz="1100" u="none" cap="none" strike="noStrike">
              <a:solidFill>
                <a:schemeClr val="dk1"/>
              </a:solidFill>
              <a:latin typeface="Calibri"/>
              <a:ea typeface="Calibri"/>
              <a:cs typeface="Calibri"/>
              <a:sym typeface="Calibri"/>
            </a:endParaRPr>
          </a:p>
        </p:txBody>
      </p:sp>
      <p:sp>
        <p:nvSpPr>
          <p:cNvPr id="439" name="Google Shape;439;p46"/>
          <p:cNvSpPr/>
          <p:nvPr/>
        </p:nvSpPr>
        <p:spPr>
          <a:xfrm>
            <a:off x="411480" y="123444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Where to look</a:t>
            </a:r>
            <a:endParaRPr b="0" i="0" sz="1300" u="none" cap="none" strike="noStrike">
              <a:solidFill>
                <a:schemeClr val="dk1"/>
              </a:solidFill>
              <a:latin typeface="Calibri"/>
              <a:ea typeface="Calibri"/>
              <a:cs typeface="Calibri"/>
              <a:sym typeface="Calibri"/>
            </a:endParaRPr>
          </a:p>
        </p:txBody>
      </p:sp>
      <p:sp>
        <p:nvSpPr>
          <p:cNvPr id="440" name="Google Shape;440;p46"/>
          <p:cNvSpPr/>
          <p:nvPr/>
        </p:nvSpPr>
        <p:spPr>
          <a:xfrm>
            <a:off x="411480" y="154305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Open a collection.</a:t>
            </a:r>
            <a:endParaRPr b="0" i="0" sz="1100" u="none" cap="none" strike="noStrike">
              <a:solidFill>
                <a:schemeClr val="dk1"/>
              </a:solidFill>
              <a:latin typeface="Calibri"/>
              <a:ea typeface="Calibri"/>
              <a:cs typeface="Calibri"/>
              <a:sym typeface="Calibri"/>
            </a:endParaRPr>
          </a:p>
        </p:txBody>
      </p:sp>
      <p:sp>
        <p:nvSpPr>
          <p:cNvPr id="441" name="Google Shape;441;p46"/>
          <p:cNvSpPr/>
          <p:nvPr/>
        </p:nvSpPr>
        <p:spPr>
          <a:xfrm>
            <a:off x="411480" y="1961388"/>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Go to the Indexes tab.</a:t>
            </a:r>
            <a:endParaRPr b="0" i="0" sz="1100" u="none" cap="none" strike="noStrike">
              <a:solidFill>
                <a:schemeClr val="dk1"/>
              </a:solidFill>
              <a:latin typeface="Calibri"/>
              <a:ea typeface="Calibri"/>
              <a:cs typeface="Calibri"/>
              <a:sym typeface="Calibri"/>
            </a:endParaRPr>
          </a:p>
        </p:txBody>
      </p:sp>
      <p:sp>
        <p:nvSpPr>
          <p:cNvPr id="442" name="Google Shape;442;p46"/>
          <p:cNvSpPr/>
          <p:nvPr/>
        </p:nvSpPr>
        <p:spPr>
          <a:xfrm>
            <a:off x="411480" y="2516886"/>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to verify</a:t>
            </a:r>
            <a:endParaRPr b="0" i="0" sz="1300" u="none" cap="none" strike="noStrike">
              <a:solidFill>
                <a:schemeClr val="dk1"/>
              </a:solidFill>
              <a:latin typeface="Calibri"/>
              <a:ea typeface="Calibri"/>
              <a:cs typeface="Calibri"/>
              <a:sym typeface="Calibri"/>
            </a:endParaRPr>
          </a:p>
        </p:txBody>
      </p:sp>
      <p:sp>
        <p:nvSpPr>
          <p:cNvPr id="443" name="Google Shape;443;p46"/>
          <p:cNvSpPr/>
          <p:nvPr/>
        </p:nvSpPr>
        <p:spPr>
          <a:xfrm>
            <a:off x="411480" y="2825496"/>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 unique index on email shows as unique.</a:t>
            </a:r>
            <a:endParaRPr b="0" i="0" sz="1100" u="none" cap="none" strike="noStrike">
              <a:solidFill>
                <a:schemeClr val="dk1"/>
              </a:solidFill>
              <a:latin typeface="Calibri"/>
              <a:ea typeface="Calibri"/>
              <a:cs typeface="Calibri"/>
              <a:sym typeface="Calibri"/>
            </a:endParaRPr>
          </a:p>
        </p:txBody>
      </p:sp>
      <p:sp>
        <p:nvSpPr>
          <p:cNvPr id="444" name="Google Shape;444;p46"/>
          <p:cNvSpPr/>
          <p:nvPr/>
        </p:nvSpPr>
        <p:spPr>
          <a:xfrm>
            <a:off x="411480" y="3243834"/>
            <a:ext cx="8320811" cy="54864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If you try inserting a duplicate email using Compass, MongoDB rejects the write.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9" name="Shape 449"/>
        <p:cNvGrpSpPr/>
        <p:nvPr/>
      </p:nvGrpSpPr>
      <p:grpSpPr>
        <a:xfrm>
          <a:off x="0" y="0"/>
          <a:ext cx="0" cy="0"/>
          <a:chOff x="0" y="0"/>
          <a:chExt cx="0" cy="0"/>
        </a:xfrm>
      </p:grpSpPr>
      <p:sp>
        <p:nvSpPr>
          <p:cNvPr id="450" name="Google Shape;450;p47"/>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Monitoring and performance overview in Atlas</a:t>
            </a:r>
            <a:endParaRPr b="0" i="0" sz="2000" u="none" cap="none" strike="noStrike">
              <a:solidFill>
                <a:schemeClr val="dk1"/>
              </a:solidFill>
              <a:latin typeface="Calibri"/>
              <a:ea typeface="Calibri"/>
              <a:cs typeface="Calibri"/>
              <a:sym typeface="Calibri"/>
            </a:endParaRPr>
          </a:p>
        </p:txBody>
      </p:sp>
      <p:sp>
        <p:nvSpPr>
          <p:cNvPr id="451" name="Google Shape;451;p47"/>
          <p:cNvSpPr/>
          <p:nvPr/>
        </p:nvSpPr>
        <p:spPr>
          <a:xfrm>
            <a:off x="411480" y="85725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Today we only learn where to look.</a:t>
            </a:r>
            <a:endParaRPr b="0" i="0" sz="1100" u="none" cap="none" strike="noStrike">
              <a:solidFill>
                <a:schemeClr val="dk1"/>
              </a:solidFill>
              <a:latin typeface="Calibri"/>
              <a:ea typeface="Calibri"/>
              <a:cs typeface="Calibri"/>
              <a:sym typeface="Calibri"/>
            </a:endParaRPr>
          </a:p>
        </p:txBody>
      </p:sp>
      <p:sp>
        <p:nvSpPr>
          <p:cNvPr id="452" name="Google Shape;452;p47"/>
          <p:cNvSpPr/>
          <p:nvPr/>
        </p:nvSpPr>
        <p:spPr>
          <a:xfrm>
            <a:off x="411480" y="123444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Cluster metrics</a:t>
            </a:r>
            <a:endParaRPr b="0" i="0" sz="1300" u="none" cap="none" strike="noStrike">
              <a:solidFill>
                <a:schemeClr val="dk1"/>
              </a:solidFill>
              <a:latin typeface="Calibri"/>
              <a:ea typeface="Calibri"/>
              <a:cs typeface="Calibri"/>
              <a:sym typeface="Calibri"/>
            </a:endParaRPr>
          </a:p>
        </p:txBody>
      </p:sp>
      <p:sp>
        <p:nvSpPr>
          <p:cNvPr id="453" name="Google Shape;453;p47"/>
          <p:cNvSpPr/>
          <p:nvPr/>
        </p:nvSpPr>
        <p:spPr>
          <a:xfrm>
            <a:off x="411480" y="154305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Connection count.</a:t>
            </a:r>
            <a:endParaRPr b="0" i="0" sz="1100" u="none" cap="none" strike="noStrike">
              <a:solidFill>
                <a:schemeClr val="dk1"/>
              </a:solidFill>
              <a:latin typeface="Calibri"/>
              <a:ea typeface="Calibri"/>
              <a:cs typeface="Calibri"/>
              <a:sym typeface="Calibri"/>
            </a:endParaRPr>
          </a:p>
        </p:txBody>
      </p:sp>
      <p:sp>
        <p:nvSpPr>
          <p:cNvPr id="454" name="Google Shape;454;p47"/>
          <p:cNvSpPr/>
          <p:nvPr/>
        </p:nvSpPr>
        <p:spPr>
          <a:xfrm>
            <a:off x="411480" y="1961388"/>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Operation rate.</a:t>
            </a:r>
            <a:endParaRPr b="0" i="0" sz="1100" u="none" cap="none" strike="noStrike">
              <a:solidFill>
                <a:schemeClr val="dk1"/>
              </a:solidFill>
              <a:latin typeface="Calibri"/>
              <a:ea typeface="Calibri"/>
              <a:cs typeface="Calibri"/>
              <a:sym typeface="Calibri"/>
            </a:endParaRPr>
          </a:p>
        </p:txBody>
      </p:sp>
      <p:sp>
        <p:nvSpPr>
          <p:cNvPr id="455" name="Google Shape;455;p47"/>
          <p:cNvSpPr/>
          <p:nvPr/>
        </p:nvSpPr>
        <p:spPr>
          <a:xfrm>
            <a:off x="411480" y="2516886"/>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Query performance</a:t>
            </a:r>
            <a:endParaRPr b="0" i="0" sz="1300" u="none" cap="none" strike="noStrike">
              <a:solidFill>
                <a:schemeClr val="dk1"/>
              </a:solidFill>
              <a:latin typeface="Calibri"/>
              <a:ea typeface="Calibri"/>
              <a:cs typeface="Calibri"/>
              <a:sym typeface="Calibri"/>
            </a:endParaRPr>
          </a:p>
        </p:txBody>
      </p:sp>
      <p:sp>
        <p:nvSpPr>
          <p:cNvPr id="456" name="Google Shape;456;p47"/>
          <p:cNvSpPr/>
          <p:nvPr/>
        </p:nvSpPr>
        <p:spPr>
          <a:xfrm>
            <a:off x="411480" y="2825496"/>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Use Query Insights and Query Profiler to see slow operations.</a:t>
            </a:r>
            <a:endParaRPr b="0" i="0" sz="1100" u="none" cap="none" strike="noStrike">
              <a:solidFill>
                <a:schemeClr val="dk1"/>
              </a:solidFill>
              <a:latin typeface="Calibri"/>
              <a:ea typeface="Calibri"/>
              <a:cs typeface="Calibri"/>
              <a:sym typeface="Calibri"/>
            </a:endParaRPr>
          </a:p>
        </p:txBody>
      </p:sp>
      <p:sp>
        <p:nvSpPr>
          <p:cNvPr id="457" name="Google Shape;457;p47"/>
          <p:cNvSpPr/>
          <p:nvPr/>
        </p:nvSpPr>
        <p:spPr>
          <a:xfrm>
            <a:off x="411480" y="3243834"/>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Look for queries that take high time or scan too many documents.</a:t>
            </a:r>
            <a:endParaRPr b="0" i="0" sz="1100" u="none" cap="none" strike="noStrike">
              <a:solidFill>
                <a:schemeClr val="dk1"/>
              </a:solidFill>
              <a:latin typeface="Calibri"/>
              <a:ea typeface="Calibri"/>
              <a:cs typeface="Calibri"/>
              <a:sym typeface="Calibri"/>
            </a:endParaRPr>
          </a:p>
        </p:txBody>
      </p:sp>
      <p:sp>
        <p:nvSpPr>
          <p:cNvPr id="458" name="Google Shape;458;p47"/>
          <p:cNvSpPr/>
          <p:nvPr/>
        </p:nvSpPr>
        <p:spPr>
          <a:xfrm>
            <a:off x="411480" y="3799332"/>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Performance advisor</a:t>
            </a:r>
            <a:endParaRPr b="0" i="0" sz="1300" u="none" cap="none" strike="noStrike">
              <a:solidFill>
                <a:schemeClr val="dk1"/>
              </a:solidFill>
              <a:latin typeface="Calibri"/>
              <a:ea typeface="Calibri"/>
              <a:cs typeface="Calibri"/>
              <a:sym typeface="Calibri"/>
            </a:endParaRPr>
          </a:p>
        </p:txBody>
      </p:sp>
      <p:sp>
        <p:nvSpPr>
          <p:cNvPr id="459" name="Google Shape;459;p47"/>
          <p:cNvSpPr/>
          <p:nvPr/>
        </p:nvSpPr>
        <p:spPr>
          <a:xfrm>
            <a:off x="411480" y="4107942"/>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Atlas can suggest indexes based on observed query patterns.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4" name="Shape 464"/>
        <p:cNvGrpSpPr/>
        <p:nvPr/>
      </p:nvGrpSpPr>
      <p:grpSpPr>
        <a:xfrm>
          <a:off x="0" y="0"/>
          <a:ext cx="0" cy="0"/>
          <a:chOff x="0" y="0"/>
          <a:chExt cx="0" cy="0"/>
        </a:xfrm>
      </p:grpSpPr>
      <p:sp>
        <p:nvSpPr>
          <p:cNvPr id="465" name="Google Shape;465;p48"/>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Common connection failures and quick fixes</a:t>
            </a:r>
            <a:endParaRPr b="0" i="0" sz="2000" u="none" cap="none" strike="noStrike">
              <a:solidFill>
                <a:schemeClr val="dk1"/>
              </a:solidFill>
              <a:latin typeface="Calibri"/>
              <a:ea typeface="Calibri"/>
              <a:cs typeface="Calibri"/>
              <a:sym typeface="Calibri"/>
            </a:endParaRPr>
          </a:p>
        </p:txBody>
      </p:sp>
      <p:sp>
        <p:nvSpPr>
          <p:cNvPr id="466" name="Google Shape;466;p48"/>
          <p:cNvSpPr/>
          <p:nvPr/>
        </p:nvSpPr>
        <p:spPr>
          <a:xfrm>
            <a:off x="411480" y="85725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Connection fails immediately</a:t>
            </a:r>
            <a:endParaRPr b="0" i="0" sz="1300" u="none" cap="none" strike="noStrike">
              <a:solidFill>
                <a:schemeClr val="dk1"/>
              </a:solidFill>
              <a:latin typeface="Calibri"/>
              <a:ea typeface="Calibri"/>
              <a:cs typeface="Calibri"/>
              <a:sym typeface="Calibri"/>
            </a:endParaRPr>
          </a:p>
        </p:txBody>
      </p:sp>
      <p:sp>
        <p:nvSpPr>
          <p:cNvPr id="467" name="Google Shape;467;p48"/>
          <p:cNvSpPr/>
          <p:nvPr/>
        </p:nvSpPr>
        <p:spPr>
          <a:xfrm>
            <a:off x="411480" y="116586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Check IP access list, add your current IP.</a:t>
            </a:r>
            <a:endParaRPr b="0" i="0" sz="1100" u="none" cap="none" strike="noStrike">
              <a:solidFill>
                <a:schemeClr val="dk1"/>
              </a:solidFill>
              <a:latin typeface="Calibri"/>
              <a:ea typeface="Calibri"/>
              <a:cs typeface="Calibri"/>
              <a:sym typeface="Calibri"/>
            </a:endParaRPr>
          </a:p>
        </p:txBody>
      </p:sp>
      <p:sp>
        <p:nvSpPr>
          <p:cNvPr id="468" name="Google Shape;468;p48"/>
          <p:cNvSpPr/>
          <p:nvPr/>
        </p:nvSpPr>
        <p:spPr>
          <a:xfrm>
            <a:off x="411480" y="1584198"/>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Check database user and password.</a:t>
            </a:r>
            <a:endParaRPr b="0" i="0" sz="1100" u="none" cap="none" strike="noStrike">
              <a:solidFill>
                <a:schemeClr val="dk1"/>
              </a:solidFill>
              <a:latin typeface="Calibri"/>
              <a:ea typeface="Calibri"/>
              <a:cs typeface="Calibri"/>
              <a:sym typeface="Calibri"/>
            </a:endParaRPr>
          </a:p>
        </p:txBody>
      </p:sp>
      <p:sp>
        <p:nvSpPr>
          <p:cNvPr id="469" name="Google Shape;469;p48"/>
          <p:cNvSpPr/>
          <p:nvPr/>
        </p:nvSpPr>
        <p:spPr>
          <a:xfrm>
            <a:off x="411480" y="2139696"/>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Auth error</a:t>
            </a:r>
            <a:endParaRPr b="0" i="0" sz="1300" u="none" cap="none" strike="noStrike">
              <a:solidFill>
                <a:schemeClr val="dk1"/>
              </a:solidFill>
              <a:latin typeface="Calibri"/>
              <a:ea typeface="Calibri"/>
              <a:cs typeface="Calibri"/>
              <a:sym typeface="Calibri"/>
            </a:endParaRPr>
          </a:p>
        </p:txBody>
      </p:sp>
      <p:sp>
        <p:nvSpPr>
          <p:cNvPr id="470" name="Google Shape;470;p48"/>
          <p:cNvSpPr/>
          <p:nvPr/>
        </p:nvSpPr>
        <p:spPr>
          <a:xfrm>
            <a:off x="411480" y="2448306"/>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Confirm you are using a database user, not your Atlas login.</a:t>
            </a:r>
            <a:endParaRPr b="0" i="0" sz="1100" u="none" cap="none" strike="noStrike">
              <a:solidFill>
                <a:schemeClr val="dk1"/>
              </a:solidFill>
              <a:latin typeface="Calibri"/>
              <a:ea typeface="Calibri"/>
              <a:cs typeface="Calibri"/>
              <a:sym typeface="Calibri"/>
            </a:endParaRPr>
          </a:p>
        </p:txBody>
      </p:sp>
      <p:sp>
        <p:nvSpPr>
          <p:cNvPr id="471" name="Google Shape;471;p48"/>
          <p:cNvSpPr/>
          <p:nvPr/>
        </p:nvSpPr>
        <p:spPr>
          <a:xfrm>
            <a:off x="411480" y="2866644"/>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Confirm username and password are correct.</a:t>
            </a:r>
            <a:endParaRPr b="0" i="0" sz="1100" u="none" cap="none" strike="noStrike">
              <a:solidFill>
                <a:schemeClr val="dk1"/>
              </a:solidFill>
              <a:latin typeface="Calibri"/>
              <a:ea typeface="Calibri"/>
              <a:cs typeface="Calibri"/>
              <a:sym typeface="Calibri"/>
            </a:endParaRPr>
          </a:p>
        </p:txBody>
      </p:sp>
      <p:sp>
        <p:nvSpPr>
          <p:cNvPr id="472" name="Google Shape;472;p48"/>
          <p:cNvSpPr/>
          <p:nvPr/>
        </p:nvSpPr>
        <p:spPr>
          <a:xfrm>
            <a:off x="411480" y="3422142"/>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Network issues</a:t>
            </a:r>
            <a:endParaRPr b="0" i="0" sz="1300" u="none" cap="none" strike="noStrike">
              <a:solidFill>
                <a:schemeClr val="dk1"/>
              </a:solidFill>
              <a:latin typeface="Calibri"/>
              <a:ea typeface="Calibri"/>
              <a:cs typeface="Calibri"/>
              <a:sym typeface="Calibri"/>
            </a:endParaRPr>
          </a:p>
        </p:txBody>
      </p:sp>
      <p:sp>
        <p:nvSpPr>
          <p:cNvPr id="473" name="Google Shape;473;p48"/>
          <p:cNvSpPr/>
          <p:nvPr/>
        </p:nvSpPr>
        <p:spPr>
          <a:xfrm>
            <a:off x="411480" y="3730752"/>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Some networks block outbound ports used by Atlas.</a:t>
            </a:r>
            <a:endParaRPr b="0" i="0" sz="1100" u="none" cap="none" strike="noStrike">
              <a:solidFill>
                <a:schemeClr val="dk1"/>
              </a:solidFill>
              <a:latin typeface="Calibri"/>
              <a:ea typeface="Calibri"/>
              <a:cs typeface="Calibri"/>
              <a:sym typeface="Calibri"/>
            </a:endParaRPr>
          </a:p>
        </p:txBody>
      </p:sp>
      <p:sp>
        <p:nvSpPr>
          <p:cNvPr id="474" name="Google Shape;474;p48"/>
          <p:cNvSpPr/>
          <p:nvPr/>
        </p:nvSpPr>
        <p:spPr>
          <a:xfrm>
            <a:off x="411480" y="414909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Try a different network if needed.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B"/>
        </a:solidFill>
      </p:bgPr>
    </p:bg>
    <p:spTree>
      <p:nvGrpSpPr>
        <p:cNvPr id="479" name="Shape 479"/>
        <p:cNvGrpSpPr/>
        <p:nvPr/>
      </p:nvGrpSpPr>
      <p:grpSpPr>
        <a:xfrm>
          <a:off x="0" y="0"/>
          <a:ext cx="0" cy="0"/>
          <a:chOff x="0" y="0"/>
          <a:chExt cx="0" cy="0"/>
        </a:xfrm>
      </p:grpSpPr>
      <p:sp>
        <p:nvSpPr>
          <p:cNvPr id="480" name="Google Shape;480;p49"/>
          <p:cNvSpPr/>
          <p:nvPr/>
        </p:nvSpPr>
        <p:spPr>
          <a:xfrm>
            <a:off x="0" y="0"/>
            <a:ext cx="9143771" cy="51435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2500"/>
              <a:buFont typeface="Calibri"/>
              <a:buNone/>
            </a:pPr>
            <a:r>
              <a:rPr b="1" i="0" lang="en" sz="2500" u="none" cap="none" strike="noStrike">
                <a:solidFill>
                  <a:srgbClr val="FFFFFF"/>
                </a:solidFill>
                <a:latin typeface="Calibri"/>
                <a:ea typeface="Calibri"/>
                <a:cs typeface="Calibri"/>
                <a:sym typeface="Calibri"/>
              </a:rPr>
              <a:t>Activity</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5" name="Shape 485"/>
        <p:cNvGrpSpPr/>
        <p:nvPr/>
      </p:nvGrpSpPr>
      <p:grpSpPr>
        <a:xfrm>
          <a:off x="0" y="0"/>
          <a:ext cx="0" cy="0"/>
          <a:chOff x="0" y="0"/>
          <a:chExt cx="0" cy="0"/>
        </a:xfrm>
      </p:grpSpPr>
      <p:sp>
        <p:nvSpPr>
          <p:cNvPr id="486" name="Google Shape;486;p50"/>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Activity goal</a:t>
            </a:r>
            <a:endParaRPr b="0" i="0" sz="2000" u="none" cap="none" strike="noStrike">
              <a:solidFill>
                <a:schemeClr val="dk1"/>
              </a:solidFill>
              <a:latin typeface="Calibri"/>
              <a:ea typeface="Calibri"/>
              <a:cs typeface="Calibri"/>
              <a:sym typeface="Calibri"/>
            </a:endParaRPr>
          </a:p>
        </p:txBody>
      </p:sp>
      <p:sp>
        <p:nvSpPr>
          <p:cNvPr id="487" name="Google Shape;487;p50"/>
          <p:cNvSpPr/>
          <p:nvPr/>
        </p:nvSpPr>
        <p:spPr>
          <a:xfrm>
            <a:off x="411480" y="85725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Fix one API behavior bug in our list endpoint.</a:t>
            </a:r>
            <a:endParaRPr b="0" i="0" sz="1100" u="none" cap="none" strike="noStrike">
              <a:solidFill>
                <a:schemeClr val="dk1"/>
              </a:solidFill>
              <a:latin typeface="Calibri"/>
              <a:ea typeface="Calibri"/>
              <a:cs typeface="Calibri"/>
              <a:sym typeface="Calibri"/>
            </a:endParaRPr>
          </a:p>
        </p:txBody>
      </p:sp>
      <p:sp>
        <p:nvSpPr>
          <p:cNvPr id="488" name="Google Shape;488;p50"/>
          <p:cNvSpPr/>
          <p:nvPr/>
        </p:nvSpPr>
        <p:spPr>
          <a:xfrm>
            <a:off x="411480" y="1248156"/>
            <a:ext cx="8320811" cy="54864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If the client sends an unsupported sortBy field, our API should return 400, not 500.</a:t>
            </a:r>
            <a:endParaRPr b="0" i="0" sz="1100" u="none" cap="none" strike="noStrike">
              <a:solidFill>
                <a:schemeClr val="dk1"/>
              </a:solidFill>
              <a:latin typeface="Calibri"/>
              <a:ea typeface="Calibri"/>
              <a:cs typeface="Calibri"/>
              <a:sym typeface="Calibri"/>
            </a:endParaRPr>
          </a:p>
        </p:txBody>
      </p:sp>
      <p:sp>
        <p:nvSpPr>
          <p:cNvPr id="489" name="Google Shape;489;p50"/>
          <p:cNvSpPr/>
          <p:nvPr/>
        </p:nvSpPr>
        <p:spPr>
          <a:xfrm>
            <a:off x="411480" y="1981962"/>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Problem statement</a:t>
            </a:r>
            <a:endParaRPr b="0" i="0" sz="1300" u="none" cap="none" strike="noStrike">
              <a:solidFill>
                <a:schemeClr val="dk1"/>
              </a:solidFill>
              <a:latin typeface="Calibri"/>
              <a:ea typeface="Calibri"/>
              <a:cs typeface="Calibri"/>
              <a:sym typeface="Calibri"/>
            </a:endParaRPr>
          </a:p>
        </p:txBody>
      </p:sp>
      <p:sp>
        <p:nvSpPr>
          <p:cNvPr id="490" name="Google Shape;490;p50"/>
          <p:cNvSpPr/>
          <p:nvPr/>
        </p:nvSpPr>
        <p:spPr>
          <a:xfrm>
            <a:off x="411480" y="2290572"/>
            <a:ext cx="8320811" cy="54864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In StudentService.searchStudents, we validate sortBy against allowed fields.</a:t>
            </a:r>
            <a:endParaRPr b="0" i="0" sz="1100" u="none" cap="none" strike="noStrike">
              <a:solidFill>
                <a:schemeClr val="dk1"/>
              </a:solidFill>
              <a:latin typeface="Calibri"/>
              <a:ea typeface="Calibri"/>
              <a:cs typeface="Calibri"/>
              <a:sym typeface="Calibri"/>
            </a:endParaRPr>
          </a:p>
        </p:txBody>
      </p:sp>
      <p:sp>
        <p:nvSpPr>
          <p:cNvPr id="491" name="Google Shape;491;p50"/>
          <p:cNvSpPr/>
          <p:nvPr/>
        </p:nvSpPr>
        <p:spPr>
          <a:xfrm>
            <a:off x="411480" y="288036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When sortBy is not supported, the code throws IllegalArgumentException.</a:t>
            </a:r>
            <a:endParaRPr b="0" i="0" sz="1100" u="none" cap="none" strike="noStrike">
              <a:solidFill>
                <a:schemeClr val="dk1"/>
              </a:solidFill>
              <a:latin typeface="Calibri"/>
              <a:ea typeface="Calibri"/>
              <a:cs typeface="Calibri"/>
              <a:sym typeface="Calibri"/>
            </a:endParaRPr>
          </a:p>
        </p:txBody>
      </p:sp>
      <p:sp>
        <p:nvSpPr>
          <p:cNvPr id="492" name="Google Shape;492;p50"/>
          <p:cNvSpPr/>
          <p:nvPr/>
        </p:nvSpPr>
        <p:spPr>
          <a:xfrm>
            <a:off x="411480" y="3298698"/>
            <a:ext cx="8320811" cy="54864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That exception is not handled by GlobalExceptionHandler, so it becomes a 500 response.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7" name="Shape 497"/>
        <p:cNvGrpSpPr/>
        <p:nvPr/>
      </p:nvGrpSpPr>
      <p:grpSpPr>
        <a:xfrm>
          <a:off x="0" y="0"/>
          <a:ext cx="0" cy="0"/>
          <a:chOff x="0" y="0"/>
          <a:chExt cx="0" cy="0"/>
        </a:xfrm>
      </p:grpSpPr>
      <p:sp>
        <p:nvSpPr>
          <p:cNvPr id="498" name="Google Shape;498;p51"/>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How to reproduce and what to expect</a:t>
            </a:r>
            <a:endParaRPr b="0" i="0" sz="2000" u="none" cap="none" strike="noStrike">
              <a:solidFill>
                <a:schemeClr val="dk1"/>
              </a:solidFill>
              <a:latin typeface="Calibri"/>
              <a:ea typeface="Calibri"/>
              <a:cs typeface="Calibri"/>
              <a:sym typeface="Calibri"/>
            </a:endParaRPr>
          </a:p>
        </p:txBody>
      </p:sp>
      <p:sp>
        <p:nvSpPr>
          <p:cNvPr id="499" name="Google Shape;499;p51"/>
          <p:cNvSpPr/>
          <p:nvPr/>
        </p:nvSpPr>
        <p:spPr>
          <a:xfrm>
            <a:off x="411480" y="85725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Example request</a:t>
            </a:r>
            <a:endParaRPr b="0" i="0" sz="1300" u="none" cap="none" strike="noStrike">
              <a:solidFill>
                <a:schemeClr val="dk1"/>
              </a:solidFill>
              <a:latin typeface="Calibri"/>
              <a:ea typeface="Calibri"/>
              <a:cs typeface="Calibri"/>
              <a:sym typeface="Calibri"/>
            </a:endParaRPr>
          </a:p>
        </p:txBody>
      </p:sp>
      <p:sp>
        <p:nvSpPr>
          <p:cNvPr id="500" name="Google Shape;500;p51"/>
          <p:cNvSpPr/>
          <p:nvPr/>
        </p:nvSpPr>
        <p:spPr>
          <a:xfrm>
            <a:off x="411480" y="1165860"/>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900"/>
              <a:buFont typeface="Consolas"/>
              <a:buNone/>
            </a:pPr>
            <a:r>
              <a:rPr b="0" i="0" lang="en" sz="900" u="none" cap="none" strike="noStrike">
                <a:solidFill>
                  <a:srgbClr val="1F2937"/>
                </a:solidFill>
                <a:latin typeface="Consolas"/>
                <a:ea typeface="Consolas"/>
                <a:cs typeface="Consolas"/>
                <a:sym typeface="Consolas"/>
              </a:rPr>
              <a:t>GET /students?sortBy=createdAt&amp;sortDir=asc</a:t>
            </a:r>
            <a:endParaRPr b="0" i="0" sz="900" u="none" cap="none" strike="noStrike">
              <a:solidFill>
                <a:schemeClr val="dk1"/>
              </a:solidFill>
              <a:latin typeface="Calibri"/>
              <a:ea typeface="Calibri"/>
              <a:cs typeface="Calibri"/>
              <a:sym typeface="Calibri"/>
            </a:endParaRPr>
          </a:p>
        </p:txBody>
      </p:sp>
      <p:sp>
        <p:nvSpPr>
          <p:cNvPr id="501" name="Google Shape;501;p51"/>
          <p:cNvSpPr/>
          <p:nvPr/>
        </p:nvSpPr>
        <p:spPr>
          <a:xfrm>
            <a:off x="411480" y="168021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Current behavior</a:t>
            </a:r>
            <a:endParaRPr b="0" i="0" sz="1300" u="none" cap="none" strike="noStrike">
              <a:solidFill>
                <a:schemeClr val="dk1"/>
              </a:solidFill>
              <a:latin typeface="Calibri"/>
              <a:ea typeface="Calibri"/>
              <a:cs typeface="Calibri"/>
              <a:sym typeface="Calibri"/>
            </a:endParaRPr>
          </a:p>
        </p:txBody>
      </p:sp>
      <p:sp>
        <p:nvSpPr>
          <p:cNvPr id="502" name="Google Shape;502;p51"/>
          <p:cNvSpPr/>
          <p:nvPr/>
        </p:nvSpPr>
        <p:spPr>
          <a:xfrm>
            <a:off x="411480" y="198882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API returns 500.</a:t>
            </a:r>
            <a:endParaRPr b="0" i="0" sz="1100" u="none" cap="none" strike="noStrike">
              <a:solidFill>
                <a:schemeClr val="dk1"/>
              </a:solidFill>
              <a:latin typeface="Calibri"/>
              <a:ea typeface="Calibri"/>
              <a:cs typeface="Calibri"/>
              <a:sym typeface="Calibri"/>
            </a:endParaRPr>
          </a:p>
        </p:txBody>
      </p:sp>
      <p:sp>
        <p:nvSpPr>
          <p:cNvPr id="503" name="Google Shape;503;p51"/>
          <p:cNvSpPr/>
          <p:nvPr/>
        </p:nvSpPr>
        <p:spPr>
          <a:xfrm>
            <a:off x="411480" y="2510028"/>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Expected behavior</a:t>
            </a:r>
            <a:endParaRPr b="0" i="0" sz="1300" u="none" cap="none" strike="noStrike">
              <a:solidFill>
                <a:schemeClr val="dk1"/>
              </a:solidFill>
              <a:latin typeface="Calibri"/>
              <a:ea typeface="Calibri"/>
              <a:cs typeface="Calibri"/>
              <a:sym typeface="Calibri"/>
            </a:endParaRPr>
          </a:p>
        </p:txBody>
      </p:sp>
      <p:sp>
        <p:nvSpPr>
          <p:cNvPr id="504" name="Google Shape;504;p51"/>
          <p:cNvSpPr/>
          <p:nvPr/>
        </p:nvSpPr>
        <p:spPr>
          <a:xfrm>
            <a:off x="411480" y="2818638"/>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API returns 400.</a:t>
            </a:r>
            <a:endParaRPr b="0" i="0" sz="1100" u="none" cap="none" strike="noStrike">
              <a:solidFill>
                <a:schemeClr val="dk1"/>
              </a:solidFill>
              <a:latin typeface="Calibri"/>
              <a:ea typeface="Calibri"/>
              <a:cs typeface="Calibri"/>
              <a:sym typeface="Calibri"/>
            </a:endParaRPr>
          </a:p>
        </p:txBody>
      </p:sp>
      <p:sp>
        <p:nvSpPr>
          <p:cNvPr id="505" name="Google Shape;505;p51"/>
          <p:cNvSpPr/>
          <p:nvPr/>
        </p:nvSpPr>
        <p:spPr>
          <a:xfrm>
            <a:off x="411480" y="3236976"/>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Response body explains sortBy is invalid and lists allowed values.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0" name="Shape 510"/>
        <p:cNvGrpSpPr/>
        <p:nvPr/>
      </p:nvGrpSpPr>
      <p:grpSpPr>
        <a:xfrm>
          <a:off x="0" y="0"/>
          <a:ext cx="0" cy="0"/>
          <a:chOff x="0" y="0"/>
          <a:chExt cx="0" cy="0"/>
        </a:xfrm>
      </p:grpSpPr>
      <p:sp>
        <p:nvSpPr>
          <p:cNvPr id="511" name="Google Shape;511;p52"/>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Where the fix should be applied</a:t>
            </a:r>
            <a:endParaRPr b="0" i="0" sz="2000" u="none" cap="none" strike="noStrike">
              <a:solidFill>
                <a:schemeClr val="dk1"/>
              </a:solidFill>
              <a:latin typeface="Calibri"/>
              <a:ea typeface="Calibri"/>
              <a:cs typeface="Calibri"/>
              <a:sym typeface="Calibri"/>
            </a:endParaRPr>
          </a:p>
        </p:txBody>
      </p:sp>
      <p:sp>
        <p:nvSpPr>
          <p:cNvPr id="512" name="Google Shape;512;p52"/>
          <p:cNvSpPr/>
          <p:nvPr/>
        </p:nvSpPr>
        <p:spPr>
          <a:xfrm>
            <a:off x="411480" y="85725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exception is thrown in the service layer.</a:t>
            </a:r>
            <a:endParaRPr b="0" i="0" sz="1100" u="none" cap="none" strike="noStrike">
              <a:solidFill>
                <a:schemeClr val="dk1"/>
              </a:solidFill>
              <a:latin typeface="Calibri"/>
              <a:ea typeface="Calibri"/>
              <a:cs typeface="Calibri"/>
              <a:sym typeface="Calibri"/>
            </a:endParaRPr>
          </a:p>
        </p:txBody>
      </p:sp>
      <p:sp>
        <p:nvSpPr>
          <p:cNvPr id="513" name="Google Shape;513;p52"/>
          <p:cNvSpPr/>
          <p:nvPr/>
        </p:nvSpPr>
        <p:spPr>
          <a:xfrm>
            <a:off x="411480" y="1255014"/>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fix should be handled centrally in GlobalExceptionHandler.</a:t>
            </a:r>
            <a:endParaRPr b="0" i="0" sz="1100" u="none" cap="none" strike="noStrike">
              <a:solidFill>
                <a:schemeClr val="dk1"/>
              </a:solidFill>
              <a:latin typeface="Calibri"/>
              <a:ea typeface="Calibri"/>
              <a:cs typeface="Calibri"/>
              <a:sym typeface="Calibri"/>
            </a:endParaRPr>
          </a:p>
        </p:txBody>
      </p:sp>
      <p:sp>
        <p:nvSpPr>
          <p:cNvPr id="514" name="Google Shape;514;p52"/>
          <p:cNvSpPr/>
          <p:nvPr/>
        </p:nvSpPr>
        <p:spPr>
          <a:xfrm>
            <a:off x="411480" y="1824228"/>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Two valid approaches</a:t>
            </a:r>
            <a:endParaRPr b="0" i="0" sz="1300" u="none" cap="none" strike="noStrike">
              <a:solidFill>
                <a:schemeClr val="dk1"/>
              </a:solidFill>
              <a:latin typeface="Calibri"/>
              <a:ea typeface="Calibri"/>
              <a:cs typeface="Calibri"/>
              <a:sym typeface="Calibri"/>
            </a:endParaRPr>
          </a:p>
        </p:txBody>
      </p:sp>
      <p:sp>
        <p:nvSpPr>
          <p:cNvPr id="515" name="Google Shape;515;p52"/>
          <p:cNvSpPr/>
          <p:nvPr/>
        </p:nvSpPr>
        <p:spPr>
          <a:xfrm>
            <a:off x="411480" y="2132838"/>
            <a:ext cx="8320811" cy="54864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Handle IllegalArgumentException in GlobalExceptionHandler and map it to 400.</a:t>
            </a:r>
            <a:endParaRPr b="0" i="0" sz="1100" u="none" cap="none" strike="noStrike">
              <a:solidFill>
                <a:schemeClr val="dk1"/>
              </a:solidFill>
              <a:latin typeface="Calibri"/>
              <a:ea typeface="Calibri"/>
              <a:cs typeface="Calibri"/>
              <a:sym typeface="Calibri"/>
            </a:endParaRPr>
          </a:p>
        </p:txBody>
      </p:sp>
      <p:sp>
        <p:nvSpPr>
          <p:cNvPr id="516" name="Google Shape;516;p52"/>
          <p:cNvSpPr/>
          <p:nvPr/>
        </p:nvSpPr>
        <p:spPr>
          <a:xfrm>
            <a:off x="411480" y="2702052"/>
            <a:ext cx="8320811" cy="54864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Create a custom exception like InvalidQueryParamException, throw it from the service, and map it to 400 in GlobalExceptionHandler.</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1" name="Shape 521"/>
        <p:cNvGrpSpPr/>
        <p:nvPr/>
      </p:nvGrpSpPr>
      <p:grpSpPr>
        <a:xfrm>
          <a:off x="0" y="0"/>
          <a:ext cx="0" cy="0"/>
          <a:chOff x="0" y="0"/>
          <a:chExt cx="0" cy="0"/>
        </a:xfrm>
      </p:grpSpPr>
      <p:sp>
        <p:nvSpPr>
          <p:cNvPr id="522" name="Google Shape;522;p53"/>
          <p:cNvSpPr/>
          <p:nvPr/>
        </p:nvSpPr>
        <p:spPr>
          <a:xfrm>
            <a:off x="411480" y="274320"/>
            <a:ext cx="8320811"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Success criteria</a:t>
            </a:r>
            <a:endParaRPr b="0" i="0" sz="2000" u="none" cap="none" strike="noStrike">
              <a:solidFill>
                <a:schemeClr val="dk1"/>
              </a:solidFill>
              <a:latin typeface="Calibri"/>
              <a:ea typeface="Calibri"/>
              <a:cs typeface="Calibri"/>
              <a:sym typeface="Calibri"/>
            </a:endParaRPr>
          </a:p>
        </p:txBody>
      </p:sp>
      <p:sp>
        <p:nvSpPr>
          <p:cNvPr id="523" name="Google Shape;523;p53"/>
          <p:cNvSpPr/>
          <p:nvPr/>
        </p:nvSpPr>
        <p:spPr>
          <a:xfrm>
            <a:off x="411480" y="85725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When the client sends</a:t>
            </a:r>
            <a:endParaRPr b="0" i="0" sz="1300" u="none" cap="none" strike="noStrike">
              <a:solidFill>
                <a:schemeClr val="dk1"/>
              </a:solidFill>
              <a:latin typeface="Calibri"/>
              <a:ea typeface="Calibri"/>
              <a:cs typeface="Calibri"/>
              <a:sym typeface="Calibri"/>
            </a:endParaRPr>
          </a:p>
        </p:txBody>
      </p:sp>
      <p:sp>
        <p:nvSpPr>
          <p:cNvPr id="524" name="Google Shape;524;p53"/>
          <p:cNvSpPr/>
          <p:nvPr/>
        </p:nvSpPr>
        <p:spPr>
          <a:xfrm>
            <a:off x="411480" y="1165860"/>
            <a:ext cx="8320811"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7"/>
              </a:buClr>
              <a:buSzPts val="900"/>
              <a:buFont typeface="Consolas"/>
              <a:buNone/>
            </a:pPr>
            <a:r>
              <a:rPr b="0" i="0" lang="en" sz="900" u="none" cap="none" strike="noStrike">
                <a:solidFill>
                  <a:srgbClr val="1F2937"/>
                </a:solidFill>
                <a:latin typeface="Consolas"/>
                <a:ea typeface="Consolas"/>
                <a:cs typeface="Consolas"/>
                <a:sym typeface="Consolas"/>
              </a:rPr>
              <a:t>GET /students?sortBy=createdAt&amp;sortDir=asc</a:t>
            </a:r>
            <a:endParaRPr b="0" i="0" sz="900" u="none" cap="none" strike="noStrike">
              <a:solidFill>
                <a:schemeClr val="dk1"/>
              </a:solidFill>
              <a:latin typeface="Calibri"/>
              <a:ea typeface="Calibri"/>
              <a:cs typeface="Calibri"/>
              <a:sym typeface="Calibri"/>
            </a:endParaRPr>
          </a:p>
        </p:txBody>
      </p:sp>
      <p:sp>
        <p:nvSpPr>
          <p:cNvPr id="525" name="Google Shape;525;p53"/>
          <p:cNvSpPr/>
          <p:nvPr/>
        </p:nvSpPr>
        <p:spPr>
          <a:xfrm>
            <a:off x="411480" y="1680210"/>
            <a:ext cx="8320811"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We should see</a:t>
            </a:r>
            <a:endParaRPr b="0" i="0" sz="1300" u="none" cap="none" strike="noStrike">
              <a:solidFill>
                <a:schemeClr val="dk1"/>
              </a:solidFill>
              <a:latin typeface="Calibri"/>
              <a:ea typeface="Calibri"/>
              <a:cs typeface="Calibri"/>
              <a:sym typeface="Calibri"/>
            </a:endParaRPr>
          </a:p>
        </p:txBody>
      </p:sp>
      <p:sp>
        <p:nvSpPr>
          <p:cNvPr id="526" name="Google Shape;526;p53"/>
          <p:cNvSpPr/>
          <p:nvPr/>
        </p:nvSpPr>
        <p:spPr>
          <a:xfrm>
            <a:off x="411480" y="1988820"/>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HTTP status 400.</a:t>
            </a:r>
            <a:endParaRPr b="0" i="0" sz="1100" u="none" cap="none" strike="noStrike">
              <a:solidFill>
                <a:schemeClr val="dk1"/>
              </a:solidFill>
              <a:latin typeface="Calibri"/>
              <a:ea typeface="Calibri"/>
              <a:cs typeface="Calibri"/>
              <a:sym typeface="Calibri"/>
            </a:endParaRPr>
          </a:p>
        </p:txBody>
      </p:sp>
      <p:sp>
        <p:nvSpPr>
          <p:cNvPr id="527" name="Google Shape;527;p53"/>
          <p:cNvSpPr/>
          <p:nvPr/>
        </p:nvSpPr>
        <p:spPr>
          <a:xfrm>
            <a:off x="411480" y="2407158"/>
            <a:ext cx="8320811" cy="54864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 clean message like: Unsupported sortBy: createdAt. Allowed values: name, email</a:t>
            </a:r>
            <a:endParaRPr b="0" i="0" sz="1100" u="none" cap="none" strike="noStrike">
              <a:solidFill>
                <a:schemeClr val="dk1"/>
              </a:solidFill>
              <a:latin typeface="Calibri"/>
              <a:ea typeface="Calibri"/>
              <a:cs typeface="Calibri"/>
              <a:sym typeface="Calibri"/>
            </a:endParaRPr>
          </a:p>
        </p:txBody>
      </p:sp>
      <p:sp>
        <p:nvSpPr>
          <p:cNvPr id="528" name="Google Shape;528;p53"/>
          <p:cNvSpPr/>
          <p:nvPr/>
        </p:nvSpPr>
        <p:spPr>
          <a:xfrm>
            <a:off x="411480" y="2996946"/>
            <a:ext cx="8320811" cy="377190"/>
          </a:xfrm>
          <a:prstGeom prst="rect">
            <a:avLst/>
          </a:prstGeom>
          <a:noFill/>
          <a:ln>
            <a:noFill/>
          </a:ln>
        </p:spPr>
        <p:txBody>
          <a:bodyPr anchorCtr="0" anchor="ctr" bIns="34275" lIns="68575" spcFirstLastPara="1" rIns="68575" wrap="square" tIns="34275">
            <a:noAutofit/>
          </a:bodyPr>
          <a:lstStyle/>
          <a:p>
            <a:pPr indent="-171450" lvl="0" marL="1778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No stack trace in the client response.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B"/>
        </a:solidFill>
      </p:bgPr>
    </p:bg>
    <p:spTree>
      <p:nvGrpSpPr>
        <p:cNvPr id="533" name="Shape 533"/>
        <p:cNvGrpSpPr/>
        <p:nvPr/>
      </p:nvGrpSpPr>
      <p:grpSpPr>
        <a:xfrm>
          <a:off x="0" y="0"/>
          <a:ext cx="0" cy="0"/>
          <a:chOff x="0" y="0"/>
          <a:chExt cx="0" cy="0"/>
        </a:xfrm>
      </p:grpSpPr>
      <p:sp>
        <p:nvSpPr>
          <p:cNvPr id="534" name="Google Shape;534;p54"/>
          <p:cNvSpPr/>
          <p:nvPr/>
        </p:nvSpPr>
        <p:spPr>
          <a:xfrm>
            <a:off x="0" y="0"/>
            <a:ext cx="9143700" cy="51435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2500"/>
              <a:buFont typeface="Calibri"/>
              <a:buNone/>
            </a:pPr>
            <a:r>
              <a:rPr b="1" lang="en" sz="2500">
                <a:solidFill>
                  <a:srgbClr val="FFFFFF"/>
                </a:solidFill>
                <a:latin typeface="Calibri"/>
                <a:ea typeface="Calibri"/>
                <a:cs typeface="Calibri"/>
                <a:sym typeface="Calibri"/>
              </a:rPr>
              <a:t>That’s a wrap!</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