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7e4b6717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7e4b67170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e4b6717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7e4b67170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7e4b67170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7e4b67170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e4b67170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7e4b67170_2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7e4b67170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7e4b67170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7e4b67170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c7e4b67170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e4b67170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7e4b67170_2_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7e4b67170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7e4b67170_2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7e4b67170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7e4b67170_2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7e4b67170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7e4b67170_2_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7e4b67170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7e4b67170_2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7e4b67170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7e4b67170_2_1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7e4b67170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7e4b67170_2_1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7e4b67170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c7e4b67170_2_1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7e4b67170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c7e4b67170_2_2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7e4b67170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c7e4b67170_2_2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7e4b67170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c7e4b67170_2_2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7e4b67170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c7e4b67170_2_2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7e4b67170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c7e4b67170_2_2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7e4b67170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7e4b67170_2_2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7e4b67170_2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c7e4b67170_2_2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7e4b67170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c7e4b67170_2_2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7e4b67170_2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c7e4b67170_2_2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7e4b67170_2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c7e4b67170_2_3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7e4b67170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c7e4b67170_2_3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7e4b67170_2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c7e4b67170_2_3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7e4b67170_2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7e4b67170_2_3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7e4b67170_2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c7e4b67170_2_3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7e4b67170_2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c7e4b67170_2_3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7e4b67170_2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c7e4b67170_2_3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7e4b67170_2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c7e4b67170_2_3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7e4b67170_2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c7e4b67170_2_3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7e4b67170_2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c7e4b67170_2_4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7e4b67170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c7e4b67170_2_4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7e4b67170_2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c7e4b67170_2_4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7e4b67170_2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c7e4b67170_2_4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7e4b67170_2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c7e4b67170_2_4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7e4b67170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c7e4b67170_2_4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7e4b67170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c7e4b67170_2_4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7e4b67170_2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c7e4b67170_2_4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c7e4b67170_2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c7e4b67170_2_4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c7e4b67170_2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c7e4b67170_2_5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c7e4b67170_2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c7e4b67170_2_5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7e4b67170_2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c7e4b67170_2_5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c7e4b67170_2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c7e4b67170_2_5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c7e4b67170_2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c7e4b67170_2_5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7e4b67170_2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c7e4b67170_2_5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c7e4b67170_2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c7e4b67170_2_5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7e4b67170_2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3c7e4b67170_2_5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7e4b67170_2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c7e4b67170_2_5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c7e4b67170_2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c7e4b67170_2_5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7e4b67170_2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c7e4b67170_2_6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7e4b67170_2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c7e4b67170_2_6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7e4b67170_2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c7e4b67170_2_6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c7e4b67170_2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c7e4b67170_2_6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c7e4b67170_2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c7e4b67170_2_6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c7e4b67170_2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c7e4b67170_2_6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c7e4b671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c7e4b6717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0" y="1920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DSA + LeetCode: Additional Session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0" y="257860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Patterns, Implementation, Complexity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Session Agenda</a:t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411480" y="8229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/>
          </a:p>
        </p:txBody>
      </p:sp>
      <p:sp>
        <p:nvSpPr>
          <p:cNvPr id="138" name="Google Shape;138;p26"/>
          <p:cNvSpPr txBox="1"/>
          <p:nvPr/>
        </p:nvSpPr>
        <p:spPr>
          <a:xfrm>
            <a:off x="411480" y="139903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Deep Dives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411480" y="17190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Rapid Pattern Drills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0" y="233325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/>
          </a:p>
        </p:txBody>
      </p:sp>
      <p:sp>
        <p:nvSpPr>
          <p:cNvPr id="150" name="Google Shape;150;p28"/>
          <p:cNvSpPr txBox="1"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 15 questions.</a:t>
            </a: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411480" y="109728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/>
          </a:p>
        </p:txBody>
      </p:sp>
      <p:sp>
        <p:nvSpPr>
          <p:cNvPr id="157" name="Google Shape;157;p29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the maximum sum of any contiguous subarray of length k.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approach is best?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Two pointers</a:t>
            </a:r>
            <a:endParaRPr/>
          </a:p>
        </p:txBody>
      </p:sp>
      <p:sp>
        <p:nvSpPr>
          <p:cNvPr id="159" name="Google Shape;159;p29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Fixed size sliding window</a:t>
            </a:r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Recursion</a:t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Greedy</a:t>
            </a:r>
            <a:endParaRPr/>
          </a:p>
        </p:txBody>
      </p:sp>
      <p:sp>
        <p:nvSpPr>
          <p:cNvPr id="162" name="Google Shape;162;p29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</a:t>
            </a:r>
            <a:endParaRPr/>
          </a:p>
        </p:txBody>
      </p:sp>
      <p:sp>
        <p:nvSpPr>
          <p:cNvPr id="168" name="Google Shape;168;p30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the maximum sum of any contiguous subarray of length k.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approach is best?</a:t>
            </a:r>
            <a:endParaRPr/>
          </a:p>
        </p:txBody>
      </p:sp>
      <p:sp>
        <p:nvSpPr>
          <p:cNvPr id="169" name="Google Shape;169;p30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Two pointers</a:t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Fixed size sliding window</a:t>
            </a:r>
            <a:endParaRPr/>
          </a:p>
        </p:txBody>
      </p:sp>
      <p:sp>
        <p:nvSpPr>
          <p:cNvPr id="171" name="Google Shape;171;p30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Recursion</a:t>
            </a:r>
            <a:endParaRPr/>
          </a:p>
        </p:txBody>
      </p:sp>
      <p:sp>
        <p:nvSpPr>
          <p:cNvPr id="172" name="Google Shape;172;p30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Greedy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Window size is fixed, so keep one running sum. Slide the window by subtracting the left element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and adding the new right element. This checks all windows without recomputing sums.</a:t>
            </a:r>
            <a:endParaRPr/>
          </a:p>
        </p:txBody>
      </p:sp>
      <p:sp>
        <p:nvSpPr>
          <p:cNvPr id="175" name="Google Shape;175;p30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411480" y="857250"/>
            <a:ext cx="832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the shortest contiguous subarray whose sum is </a:t>
            </a:r>
            <a:r>
              <a:rPr b="0" i="1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least</a:t>
            </a: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given target.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All numbers are positive. Which approach is best?</a:t>
            </a:r>
            <a:endParaRPr/>
          </a:p>
        </p:txBody>
      </p:sp>
      <p:sp>
        <p:nvSpPr>
          <p:cNvPr id="182" name="Google Shape;182;p31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Fixed size sliding window</a:t>
            </a:r>
            <a:endParaRPr/>
          </a:p>
        </p:txBody>
      </p:sp>
      <p:sp>
        <p:nvSpPr>
          <p:cNvPr id="183" name="Google Shape;183;p31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Variable size sliding window</a:t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Sorting plus two pointers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DFS</a:t>
            </a:r>
            <a:endParaRPr/>
          </a:p>
        </p:txBody>
      </p:sp>
      <p:sp>
        <p:nvSpPr>
          <p:cNvPr id="186" name="Google Shape;186;p31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2</a:t>
            </a:r>
            <a:endParaRPr/>
          </a:p>
        </p:txBody>
      </p:sp>
      <p:sp>
        <p:nvSpPr>
          <p:cNvPr id="192" name="Google Shape;192;p32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the shortest contiguous subarray whose sum is at least target.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All numbers are positive. Which approach is best?</a:t>
            </a:r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Fixed size sliding window</a:t>
            </a:r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Variable size sliding window</a:t>
            </a:r>
            <a:endParaRPr/>
          </a:p>
        </p:txBody>
      </p:sp>
      <p:sp>
        <p:nvSpPr>
          <p:cNvPr id="195" name="Google Shape;195;p32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Sorting plus two pointers</a:t>
            </a:r>
            <a:endParaRPr/>
          </a:p>
        </p:txBody>
      </p:sp>
      <p:sp>
        <p:nvSpPr>
          <p:cNvPr id="196" name="Google Shape;196;p32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DFS</a:t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/>
          </a:p>
        </p:txBody>
      </p:sp>
      <p:sp>
        <p:nvSpPr>
          <p:cNvPr id="198" name="Google Shape;198;p32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Because values are positive, expanding right only increases sum. Once sum reaches target,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shrink from the left while it still meets the target to minimize length.</a:t>
            </a:r>
            <a:endParaRPr/>
          </a:p>
        </p:txBody>
      </p:sp>
      <p:sp>
        <p:nvSpPr>
          <p:cNvPr id="199" name="Google Shape;199;p32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3</a:t>
            </a:r>
            <a:endParaRPr/>
          </a:p>
        </p:txBody>
      </p:sp>
      <p:sp>
        <p:nvSpPr>
          <p:cNvPr id="205" name="Google Shape;205;p33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to check whether a sorted array has two numbers that sum to X.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approach is best?</a:t>
            </a:r>
            <a:endParaRPr/>
          </a:p>
        </p:txBody>
      </p:sp>
      <p:sp>
        <p:nvSpPr>
          <p:cNvPr id="206" name="Google Shape;206;p33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Two pointers from both ends</a:t>
            </a:r>
            <a:endParaRPr/>
          </a:p>
        </p:txBody>
      </p:sp>
      <p:sp>
        <p:nvSpPr>
          <p:cNvPr id="207" name="Google Shape;207;p33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Sliding window</a:t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HashSet only</a:t>
            </a:r>
            <a:endParaRPr/>
          </a:p>
        </p:txBody>
      </p:sp>
      <p:sp>
        <p:nvSpPr>
          <p:cNvPr id="209" name="Google Shape;209;p33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Recursion</a:t>
            </a:r>
            <a:endParaRPr/>
          </a:p>
        </p:txBody>
      </p:sp>
      <p:sp>
        <p:nvSpPr>
          <p:cNvPr id="210" name="Google Shape;210;p33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3</a:t>
            </a:r>
            <a:endParaRPr/>
          </a:p>
        </p:txBody>
      </p:sp>
      <p:sp>
        <p:nvSpPr>
          <p:cNvPr id="216" name="Google Shape;216;p34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to check whether a sorted array has two numbers that sum to X.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approach is best?</a:t>
            </a:r>
            <a:endParaRPr/>
          </a:p>
        </p:txBody>
      </p:sp>
      <p:sp>
        <p:nvSpPr>
          <p:cNvPr id="217" name="Google Shape;217;p34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Two pointers from both ends</a:t>
            </a:r>
            <a:endParaRPr/>
          </a:p>
        </p:txBody>
      </p:sp>
      <p:sp>
        <p:nvSpPr>
          <p:cNvPr id="218" name="Google Shape;218;p34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Sliding window</a:t>
            </a:r>
            <a:endParaRPr/>
          </a:p>
        </p:txBody>
      </p:sp>
      <p:sp>
        <p:nvSpPr>
          <p:cNvPr id="219" name="Google Shape;219;p34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HashSet only</a:t>
            </a:r>
            <a:endParaRPr/>
          </a:p>
        </p:txBody>
      </p:sp>
      <p:sp>
        <p:nvSpPr>
          <p:cNvPr id="220" name="Google Shape;220;p34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Recursion</a:t>
            </a:r>
            <a:endParaRPr/>
          </a:p>
        </p:txBody>
      </p:sp>
      <p:sp>
        <p:nvSpPr>
          <p:cNvPr id="221" name="Google Shape;221;p34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222" name="Google Shape;222;p34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Start left at the smallest and right at the largest. If the sum is too small, move left to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increase it. If the sum is too large, move right to decrease it. Sorting makes pointer moves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safe.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a variable size sliding window, when should you move the left pointer?</a:t>
            </a:r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When the window becomes invalid for the condition</a:t>
            </a:r>
            <a:endParaRPr/>
          </a:p>
        </p:txBody>
      </p:sp>
      <p:sp>
        <p:nvSpPr>
          <p:cNvPr id="231" name="Google Shape;231;p35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Every time you move the right pointer</a:t>
            </a:r>
            <a:endParaRPr/>
          </a:p>
        </p:txBody>
      </p:sp>
      <p:sp>
        <p:nvSpPr>
          <p:cNvPr id="232" name="Google Shape;232;p35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Only when you find a new best answer</a:t>
            </a:r>
            <a:endParaRPr/>
          </a:p>
        </p:txBody>
      </p:sp>
      <p:sp>
        <p:nvSpPr>
          <p:cNvPr id="233" name="Google Shape;233;p35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Only when right reaches the end</a:t>
            </a:r>
            <a:endParaRPr/>
          </a:p>
        </p:txBody>
      </p:sp>
      <p:sp>
        <p:nvSpPr>
          <p:cNvPr id="234" name="Google Shape;234;p35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4</a:t>
            </a:r>
            <a:endParaRPr/>
          </a:p>
        </p:txBody>
      </p:sp>
      <p:sp>
        <p:nvSpPr>
          <p:cNvPr id="240" name="Google Shape;240;p36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a variable size sliding window, when should you move the left pointer?</a:t>
            </a:r>
            <a:endParaRPr/>
          </a:p>
        </p:txBody>
      </p:sp>
      <p:sp>
        <p:nvSpPr>
          <p:cNvPr id="241" name="Google Shape;241;p36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When the window becomes invalid for the condition</a:t>
            </a:r>
            <a:endParaRPr/>
          </a:p>
        </p:txBody>
      </p:sp>
      <p:sp>
        <p:nvSpPr>
          <p:cNvPr id="242" name="Google Shape;242;p36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Every time you move the right pointer</a:t>
            </a:r>
            <a:endParaRPr/>
          </a:p>
        </p:txBody>
      </p:sp>
      <p:sp>
        <p:nvSpPr>
          <p:cNvPr id="243" name="Google Shape;243;p36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Only when you find a new best answer</a:t>
            </a:r>
            <a:endParaRPr/>
          </a:p>
        </p:txBody>
      </p:sp>
      <p:sp>
        <p:nvSpPr>
          <p:cNvPr id="244" name="Google Shape;244;p36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Only when right reaches the end</a:t>
            </a:r>
            <a:endParaRPr/>
          </a:p>
        </p:txBody>
      </p:sp>
      <p:sp>
        <p:nvSpPr>
          <p:cNvPr id="245" name="Google Shape;245;p36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246" name="Google Shape;246;p36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Move left to restore validity or to shrink while staying valid. This is why shrinking is often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inside a while loop, not a single if, because the window may need multiple left moves.</a:t>
            </a:r>
            <a:endParaRPr/>
          </a:p>
        </p:txBody>
      </p:sp>
      <p:sp>
        <p:nvSpPr>
          <p:cNvPr id="247" name="Google Shape;247;p36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/>
          </a:p>
        </p:txBody>
      </p:sp>
      <p:sp>
        <p:nvSpPr>
          <p:cNvPr id="253" name="Google Shape;253;p37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the maximum sum of any contiguous subarray.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Some numbers can be negative. Which idea is most useful?</a:t>
            </a:r>
            <a:endParaRPr/>
          </a:p>
        </p:txBody>
      </p:sp>
      <p:sp>
        <p:nvSpPr>
          <p:cNvPr id="254" name="Google Shape;254;p37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Restart the running sum when it becomes harmful</a:t>
            </a:r>
            <a:endParaRPr/>
          </a:p>
        </p:txBody>
      </p:sp>
      <p:sp>
        <p:nvSpPr>
          <p:cNvPr id="255" name="Google Shape;255;p37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Always expand the window until the end</a:t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Always sort the array first</a:t>
            </a:r>
            <a:endParaRPr/>
          </a:p>
        </p:txBody>
      </p:sp>
      <p:sp>
        <p:nvSpPr>
          <p:cNvPr id="257" name="Google Shape;257;p37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Always use recursion</a:t>
            </a:r>
            <a:endParaRPr/>
          </a:p>
        </p:txBody>
      </p:sp>
      <p:sp>
        <p:nvSpPr>
          <p:cNvPr id="258" name="Google Shape;258;p37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5</a:t>
            </a:r>
            <a:endParaRPr/>
          </a:p>
        </p:txBody>
      </p:sp>
      <p:sp>
        <p:nvSpPr>
          <p:cNvPr id="264" name="Google Shape;264;p38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need the maximum sum of any contiguous subarray.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Some numbers can be negative. Which idea is most useful?</a:t>
            </a:r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Restart the running sum when it becomes harmful</a:t>
            </a:r>
            <a:endParaRPr/>
          </a:p>
        </p:txBody>
      </p:sp>
      <p:sp>
        <p:nvSpPr>
          <p:cNvPr id="266" name="Google Shape;266;p38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Always expand the window until the end</a:t>
            </a:r>
            <a:endParaRPr/>
          </a:p>
        </p:txBody>
      </p:sp>
      <p:sp>
        <p:nvSpPr>
          <p:cNvPr id="267" name="Google Shape;267;p38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Always sort the array first</a:t>
            </a:r>
            <a:endParaRPr/>
          </a:p>
        </p:txBody>
      </p:sp>
      <p:sp>
        <p:nvSpPr>
          <p:cNvPr id="268" name="Google Shape;268;p38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Always use recursion</a:t>
            </a:r>
            <a:endParaRPr/>
          </a:p>
        </p:txBody>
      </p:sp>
      <p:sp>
        <p:nvSpPr>
          <p:cNvPr id="269" name="Google Shape;269;p38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270" name="Google Shape;270;p38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If the running sum becomes negative, carrying it forward can only hurt future sums. Starting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fresh at the next element gives the best chance to increase the maximum.</a:t>
            </a:r>
            <a:endParaRPr/>
          </a:p>
        </p:txBody>
      </p:sp>
      <p:sp>
        <p:nvSpPr>
          <p:cNvPr id="271" name="Google Shape;271;p38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6</a:t>
            </a:r>
            <a:endParaRPr/>
          </a:p>
        </p:txBody>
      </p:sp>
      <p:sp>
        <p:nvSpPr>
          <p:cNvPr id="277" name="Google Shape;277;p39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an invariant in an algorithm?</a:t>
            </a:r>
            <a:endParaRPr/>
          </a:p>
        </p:txBody>
      </p:sp>
      <p:sp>
        <p:nvSpPr>
          <p:cNvPr id="278" name="Google Shape;278;p39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A rule that stays true after every step</a:t>
            </a:r>
            <a:endParaRPr/>
          </a:p>
        </p:txBody>
      </p:sp>
      <p:sp>
        <p:nvSpPr>
          <p:cNvPr id="279" name="Google Shape;279;p39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A variable that always increases</a:t>
            </a:r>
            <a:endParaRPr/>
          </a:p>
        </p:txBody>
      </p:sp>
      <p:sp>
        <p:nvSpPr>
          <p:cNvPr id="280" name="Google Shape;280;p39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A data structure choice</a:t>
            </a:r>
            <a:endParaRPr/>
          </a:p>
        </p:txBody>
      </p:sp>
      <p:sp>
        <p:nvSpPr>
          <p:cNvPr id="281" name="Google Shape;281;p39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A proof by contradiction</a:t>
            </a:r>
            <a:endParaRPr/>
          </a:p>
        </p:txBody>
      </p:sp>
      <p:sp>
        <p:nvSpPr>
          <p:cNvPr id="282" name="Google Shape;282;p39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6</a:t>
            </a:r>
            <a:endParaRPr/>
          </a:p>
        </p:txBody>
      </p:sp>
      <p:sp>
        <p:nvSpPr>
          <p:cNvPr id="288" name="Google Shape;288;p40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an invariant in an algorithm?</a:t>
            </a:r>
            <a:endParaRPr/>
          </a:p>
        </p:txBody>
      </p:sp>
      <p:sp>
        <p:nvSpPr>
          <p:cNvPr id="289" name="Google Shape;289;p40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A rule that stays true after every step</a:t>
            </a:r>
            <a:endParaRPr/>
          </a:p>
        </p:txBody>
      </p:sp>
      <p:sp>
        <p:nvSpPr>
          <p:cNvPr id="290" name="Google Shape;290;p40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A variable that always increases</a:t>
            </a:r>
            <a:endParaRPr/>
          </a:p>
        </p:txBody>
      </p:sp>
      <p:sp>
        <p:nvSpPr>
          <p:cNvPr id="291" name="Google Shape;291;p40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A data structure choice</a:t>
            </a:r>
            <a:endParaRPr/>
          </a:p>
        </p:txBody>
      </p:sp>
      <p:sp>
        <p:nvSpPr>
          <p:cNvPr id="292" name="Google Shape;292;p40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A proof by contradiction</a:t>
            </a:r>
            <a:endParaRPr/>
          </a:p>
        </p:txBody>
      </p:sp>
      <p:sp>
        <p:nvSpPr>
          <p:cNvPr id="293" name="Google Shape;293;p40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294" name="Google Shape;294;p40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An invariant is a condition you maintain throughout the algorithm. It lets you reason about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correctness step by step, for example window validity or best progress so far.</a:t>
            </a:r>
            <a:endParaRPr/>
          </a:p>
        </p:txBody>
      </p:sp>
      <p:sp>
        <p:nvSpPr>
          <p:cNvPr id="295" name="Google Shape;295;p40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7</a:t>
            </a:r>
            <a:endParaRPr/>
          </a:p>
        </p:txBody>
      </p:sp>
      <p:sp>
        <p:nvSpPr>
          <p:cNvPr id="301" name="Google Shape;301;p41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scan an array left to right and track the farthest position you can reach so far.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tracking is most closely related to which idea?</a:t>
            </a:r>
            <a:endParaRPr/>
          </a:p>
        </p:txBody>
      </p:sp>
      <p:sp>
        <p:nvSpPr>
          <p:cNvPr id="302" name="Google Shape;302;p41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Greedy invariant</a:t>
            </a:r>
            <a:endParaRPr/>
          </a:p>
        </p:txBody>
      </p:sp>
      <p:sp>
        <p:nvSpPr>
          <p:cNvPr id="303" name="Google Shape;303;p41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Binary search midpoint</a:t>
            </a:r>
            <a:endParaRPr/>
          </a:p>
        </p:txBody>
      </p:sp>
      <p:sp>
        <p:nvSpPr>
          <p:cNvPr id="304" name="Google Shape;304;p41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Stack monotonicity</a:t>
            </a:r>
            <a:endParaRPr/>
          </a:p>
        </p:txBody>
      </p:sp>
      <p:sp>
        <p:nvSpPr>
          <p:cNvPr id="305" name="Google Shape;305;p41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Backtracking branching</a:t>
            </a:r>
            <a:endParaRPr/>
          </a:p>
        </p:txBody>
      </p:sp>
      <p:sp>
        <p:nvSpPr>
          <p:cNvPr id="306" name="Google Shape;306;p41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7</a:t>
            </a:r>
            <a:endParaRPr/>
          </a:p>
        </p:txBody>
      </p:sp>
      <p:sp>
        <p:nvSpPr>
          <p:cNvPr id="312" name="Google Shape;312;p42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scan an array left to right and track the farthest position you can reach so far.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tracking is most closely related to which idea?</a:t>
            </a:r>
            <a:endParaRPr/>
          </a:p>
        </p:txBody>
      </p:sp>
      <p:sp>
        <p:nvSpPr>
          <p:cNvPr id="313" name="Google Shape;313;p42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Greedy invariant</a:t>
            </a:r>
            <a:endParaRPr/>
          </a:p>
        </p:txBody>
      </p:sp>
      <p:sp>
        <p:nvSpPr>
          <p:cNvPr id="314" name="Google Shape;314;p42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Binary search midpoint</a:t>
            </a:r>
            <a:endParaRPr/>
          </a:p>
        </p:txBody>
      </p:sp>
      <p:sp>
        <p:nvSpPr>
          <p:cNvPr id="315" name="Google Shape;315;p42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Stack monotonicity</a:t>
            </a:r>
            <a:endParaRPr/>
          </a:p>
        </p:txBody>
      </p:sp>
      <p:sp>
        <p:nvSpPr>
          <p:cNvPr id="316" name="Google Shape;316;p42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Backtracking branching</a:t>
            </a:r>
            <a:endParaRPr/>
          </a:p>
        </p:txBody>
      </p:sp>
      <p:sp>
        <p:nvSpPr>
          <p:cNvPr id="317" name="Google Shape;317;p42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318" name="Google Shape;318;p42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Greedy solutions often maintain a progress measure that stays correct after each step. Farthest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reachable is one such measure that updates using local information.</a:t>
            </a:r>
            <a:endParaRPr/>
          </a:p>
        </p:txBody>
      </p:sp>
      <p:sp>
        <p:nvSpPr>
          <p:cNvPr id="319" name="Google Shape;319;p42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8</a:t>
            </a:r>
            <a:endParaRPr/>
          </a:p>
        </p:txBody>
      </p:sp>
      <p:sp>
        <p:nvSpPr>
          <p:cNvPr id="325" name="Google Shape;325;p43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dynamic programming, a good definition of dp[i] is usually:</a:t>
            </a:r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The best answer for the prefix ending at i</a:t>
            </a:r>
            <a:endParaRPr/>
          </a:p>
        </p:txBody>
      </p:sp>
      <p:sp>
        <p:nvSpPr>
          <p:cNvPr id="327" name="Google Shape;327;p43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The best answer for the suffix starting at i</a:t>
            </a:r>
            <a:endParaRPr/>
          </a:p>
        </p:txBody>
      </p:sp>
      <p:sp>
        <p:nvSpPr>
          <p:cNvPr id="328" name="Google Shape;328;p43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The best answer after sorting</a:t>
            </a:r>
            <a:endParaRPr/>
          </a:p>
        </p:txBody>
      </p:sp>
      <p:sp>
        <p:nvSpPr>
          <p:cNvPr id="329" name="Google Shape;329;p43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answer using recursion only</a:t>
            </a:r>
            <a:endParaRPr/>
          </a:p>
        </p:txBody>
      </p:sp>
      <p:sp>
        <p:nvSpPr>
          <p:cNvPr id="330" name="Google Shape;330;p43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8</a:t>
            </a:r>
            <a:endParaRPr/>
          </a:p>
        </p:txBody>
      </p:sp>
      <p:sp>
        <p:nvSpPr>
          <p:cNvPr id="336" name="Google Shape;336;p44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dynamic programming, a good definition of dp[i] is usually:</a:t>
            </a:r>
            <a:endParaRPr/>
          </a:p>
        </p:txBody>
      </p:sp>
      <p:sp>
        <p:nvSpPr>
          <p:cNvPr id="337" name="Google Shape;337;p44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The best answer for the prefix ending at i</a:t>
            </a:r>
            <a:endParaRPr/>
          </a:p>
        </p:txBody>
      </p:sp>
      <p:sp>
        <p:nvSpPr>
          <p:cNvPr id="338" name="Google Shape;338;p44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The best answer for the suffix starting at i</a:t>
            </a:r>
            <a:endParaRPr/>
          </a:p>
        </p:txBody>
      </p:sp>
      <p:sp>
        <p:nvSpPr>
          <p:cNvPr id="339" name="Google Shape;339;p44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The best answer after sorting</a:t>
            </a:r>
            <a:endParaRPr/>
          </a:p>
        </p:txBody>
      </p:sp>
      <p:sp>
        <p:nvSpPr>
          <p:cNvPr id="340" name="Google Shape;340;p44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answer using recursion only</a:t>
            </a:r>
            <a:endParaRPr/>
          </a:p>
        </p:txBody>
      </p:sp>
      <p:sp>
        <p:nvSpPr>
          <p:cNvPr id="341" name="Google Shape;341;p44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342" name="Google Shape;342;p44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DP typically builds solutions for prefixes. dp[i] stores the best result up to index i and uses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earlier dp states to compute the next state without recomputing subproblems.</a:t>
            </a:r>
            <a:endParaRPr/>
          </a:p>
        </p:txBody>
      </p:sp>
      <p:sp>
        <p:nvSpPr>
          <p:cNvPr id="343" name="Google Shape;343;p44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5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9</a:t>
            </a:r>
            <a:endParaRPr/>
          </a:p>
        </p:txBody>
      </p:sp>
      <p:sp>
        <p:nvSpPr>
          <p:cNvPr id="349" name="Google Shape;349;p45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DP recurrence depends only on dp[i-1] and dp[i-2].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a common optimization?</a:t>
            </a:r>
            <a:endParaRPr/>
          </a:p>
        </p:txBody>
      </p:sp>
      <p:sp>
        <p:nvSpPr>
          <p:cNvPr id="350" name="Google Shape;350;p45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Use only two variables instead of an array</a:t>
            </a:r>
            <a:endParaRPr/>
          </a:p>
        </p:txBody>
      </p:sp>
      <p:sp>
        <p:nvSpPr>
          <p:cNvPr id="351" name="Google Shape;351;p45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Use recursion instead of iteration</a:t>
            </a:r>
            <a:endParaRPr/>
          </a:p>
        </p:txBody>
      </p:sp>
      <p:sp>
        <p:nvSpPr>
          <p:cNvPr id="352" name="Google Shape;352;p45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Use sorting before DP</a:t>
            </a:r>
            <a:endParaRPr/>
          </a:p>
        </p:txBody>
      </p:sp>
      <p:sp>
        <p:nvSpPr>
          <p:cNvPr id="353" name="Google Shape;353;p45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Use a HashMap for dp</a:t>
            </a:r>
            <a:endParaRPr/>
          </a:p>
        </p:txBody>
      </p:sp>
      <p:sp>
        <p:nvSpPr>
          <p:cNvPr id="354" name="Google Shape;354;p45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9</a:t>
            </a:r>
            <a:endParaRPr/>
          </a:p>
        </p:txBody>
      </p:sp>
      <p:sp>
        <p:nvSpPr>
          <p:cNvPr id="360" name="Google Shape;360;p46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DP recurrence depends only on dp[i-1] and dp[i-2].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a common optimization?</a:t>
            </a:r>
            <a:endParaRPr/>
          </a:p>
        </p:txBody>
      </p:sp>
      <p:sp>
        <p:nvSpPr>
          <p:cNvPr id="361" name="Google Shape;361;p46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Use only two variables instead of an array</a:t>
            </a:r>
            <a:endParaRPr/>
          </a:p>
        </p:txBody>
      </p:sp>
      <p:sp>
        <p:nvSpPr>
          <p:cNvPr id="362" name="Google Shape;362;p46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Use recursion instead of iteration</a:t>
            </a:r>
            <a:endParaRPr/>
          </a:p>
        </p:txBody>
      </p:sp>
      <p:sp>
        <p:nvSpPr>
          <p:cNvPr id="363" name="Google Shape;363;p46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Use sorting before DP</a:t>
            </a:r>
            <a:endParaRPr/>
          </a:p>
        </p:txBody>
      </p:sp>
      <p:sp>
        <p:nvSpPr>
          <p:cNvPr id="364" name="Google Shape;364;p46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Use a HashMap for dp</a:t>
            </a:r>
            <a:endParaRPr/>
          </a:p>
        </p:txBody>
      </p:sp>
      <p:sp>
        <p:nvSpPr>
          <p:cNvPr id="365" name="Google Shape;365;p46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/>
          </a:p>
        </p:txBody>
      </p:sp>
      <p:sp>
        <p:nvSpPr>
          <p:cNvPr id="366" name="Google Shape;366;p46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If only the last two states are needed, store two rolling values instead of the full dp array.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keeps the recurrence but reduces extra space.</a:t>
            </a:r>
            <a:endParaRPr/>
          </a:p>
        </p:txBody>
      </p:sp>
      <p:sp>
        <p:nvSpPr>
          <p:cNvPr id="367" name="Google Shape;367;p46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10</a:t>
            </a:r>
            <a:endParaRPr/>
          </a:p>
        </p:txBody>
      </p:sp>
      <p:sp>
        <p:nvSpPr>
          <p:cNvPr id="373" name="Google Shape;373;p47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is binary search O(log n)?</a:t>
            </a:r>
            <a:endParaRPr/>
          </a:p>
        </p:txBody>
      </p:sp>
      <p:sp>
        <p:nvSpPr>
          <p:cNvPr id="374" name="Google Shape;374;p47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scans all elements once</a:t>
            </a:r>
            <a:endParaRPr/>
          </a:p>
        </p:txBody>
      </p:sp>
      <p:sp>
        <p:nvSpPr>
          <p:cNvPr id="375" name="Google Shape;375;p47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halves the search space each step</a:t>
            </a:r>
            <a:endParaRPr/>
          </a:p>
        </p:txBody>
      </p:sp>
      <p:sp>
        <p:nvSpPr>
          <p:cNvPr id="376" name="Google Shape;376;p47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uses hashing</a:t>
            </a:r>
            <a:endParaRPr/>
          </a:p>
        </p:txBody>
      </p:sp>
      <p:sp>
        <p:nvSpPr>
          <p:cNvPr id="377" name="Google Shape;377;p47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uses recursion</a:t>
            </a:r>
            <a:endParaRPr/>
          </a:p>
        </p:txBody>
      </p:sp>
      <p:sp>
        <p:nvSpPr>
          <p:cNvPr id="378" name="Google Shape;378;p47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10</a:t>
            </a:r>
            <a:endParaRPr/>
          </a:p>
        </p:txBody>
      </p:sp>
      <p:sp>
        <p:nvSpPr>
          <p:cNvPr id="384" name="Google Shape;384;p48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is binary search O(log n)?</a:t>
            </a:r>
            <a:endParaRPr/>
          </a:p>
        </p:txBody>
      </p:sp>
      <p:sp>
        <p:nvSpPr>
          <p:cNvPr id="385" name="Google Shape;385;p48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scans all elements once</a:t>
            </a:r>
            <a:endParaRPr/>
          </a:p>
        </p:txBody>
      </p:sp>
      <p:sp>
        <p:nvSpPr>
          <p:cNvPr id="386" name="Google Shape;386;p48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halves the search space each step</a:t>
            </a:r>
            <a:endParaRPr/>
          </a:p>
        </p:txBody>
      </p:sp>
      <p:sp>
        <p:nvSpPr>
          <p:cNvPr id="387" name="Google Shape;387;p48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uses hashing</a:t>
            </a:r>
            <a:endParaRPr/>
          </a:p>
        </p:txBody>
      </p:sp>
      <p:sp>
        <p:nvSpPr>
          <p:cNvPr id="388" name="Google Shape;388;p48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uses recursion</a:t>
            </a:r>
            <a:endParaRPr/>
          </a:p>
        </p:txBody>
      </p:sp>
      <p:sp>
        <p:nvSpPr>
          <p:cNvPr id="389" name="Google Shape;389;p48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/>
          </a:p>
        </p:txBody>
      </p:sp>
      <p:sp>
        <p:nvSpPr>
          <p:cNvPr id="390" name="Google Shape;390;p48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Each comparison discards about half the remaining candidates. The number of times you can halve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 until it becomes 1 grows like log base 2 of n.</a:t>
            </a:r>
            <a:endParaRPr/>
          </a:p>
        </p:txBody>
      </p:sp>
      <p:sp>
        <p:nvSpPr>
          <p:cNvPr id="391" name="Google Shape;391;p48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11</a:t>
            </a:r>
            <a:endParaRPr/>
          </a:p>
        </p:txBody>
      </p:sp>
      <p:sp>
        <p:nvSpPr>
          <p:cNvPr id="397" name="Google Shape;397;p49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time complexity of inserting an element at index 0 in an ArrayList?</a:t>
            </a:r>
            <a:endParaRPr/>
          </a:p>
        </p:txBody>
      </p:sp>
      <p:sp>
        <p:nvSpPr>
          <p:cNvPr id="398" name="Google Shape;398;p49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O(1)</a:t>
            </a:r>
            <a:endParaRPr/>
          </a:p>
        </p:txBody>
      </p:sp>
      <p:sp>
        <p:nvSpPr>
          <p:cNvPr id="399" name="Google Shape;399;p49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O(log n)</a:t>
            </a:r>
            <a:endParaRPr/>
          </a:p>
        </p:txBody>
      </p:sp>
      <p:sp>
        <p:nvSpPr>
          <p:cNvPr id="400" name="Google Shape;400;p49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O(n)</a:t>
            </a:r>
            <a:endParaRPr/>
          </a:p>
        </p:txBody>
      </p:sp>
      <p:sp>
        <p:nvSpPr>
          <p:cNvPr id="401" name="Google Shape;401;p49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O(n log n)</a:t>
            </a:r>
            <a:endParaRPr/>
          </a:p>
        </p:txBody>
      </p:sp>
      <p:sp>
        <p:nvSpPr>
          <p:cNvPr id="402" name="Google Shape;402;p49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11</a:t>
            </a:r>
            <a:endParaRPr/>
          </a:p>
        </p:txBody>
      </p:sp>
      <p:sp>
        <p:nvSpPr>
          <p:cNvPr id="408" name="Google Shape;408;p50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time complexity of inserting an element at index 0 in an ArrayList?</a:t>
            </a:r>
            <a:endParaRPr/>
          </a:p>
        </p:txBody>
      </p:sp>
      <p:sp>
        <p:nvSpPr>
          <p:cNvPr id="409" name="Google Shape;409;p50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O(1)</a:t>
            </a:r>
            <a:endParaRPr/>
          </a:p>
        </p:txBody>
      </p:sp>
      <p:sp>
        <p:nvSpPr>
          <p:cNvPr id="410" name="Google Shape;410;p50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O(log n)</a:t>
            </a:r>
            <a:endParaRPr/>
          </a:p>
        </p:txBody>
      </p:sp>
      <p:sp>
        <p:nvSpPr>
          <p:cNvPr id="411" name="Google Shape;411;p50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O(n)</a:t>
            </a:r>
            <a:endParaRPr/>
          </a:p>
        </p:txBody>
      </p:sp>
      <p:sp>
        <p:nvSpPr>
          <p:cNvPr id="412" name="Google Shape;412;p50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O(n log n)</a:t>
            </a:r>
            <a:endParaRPr/>
          </a:p>
        </p:txBody>
      </p:sp>
      <p:sp>
        <p:nvSpPr>
          <p:cNvPr id="413" name="Google Shape;413;p50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/>
          </a:p>
        </p:txBody>
      </p:sp>
      <p:sp>
        <p:nvSpPr>
          <p:cNvPr id="414" name="Google Shape;414;p50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ArrayList uses a contiguous array internally. Inserting at the front requires shifting existing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elements right to make space, which touches about n elements.</a:t>
            </a:r>
            <a:endParaRPr/>
          </a:p>
        </p:txBody>
      </p:sp>
      <p:sp>
        <p:nvSpPr>
          <p:cNvPr id="415" name="Google Shape;415;p50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1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12</a:t>
            </a:r>
            <a:endParaRPr/>
          </a:p>
        </p:txBody>
      </p:sp>
      <p:sp>
        <p:nvSpPr>
          <p:cNvPr id="421" name="Google Shape;421;p51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time complexity of contains(x) in a LinkedList?</a:t>
            </a:r>
            <a:endParaRPr/>
          </a:p>
        </p:txBody>
      </p:sp>
      <p:sp>
        <p:nvSpPr>
          <p:cNvPr id="422" name="Google Shape;422;p51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O(1)</a:t>
            </a:r>
            <a:endParaRPr/>
          </a:p>
        </p:txBody>
      </p:sp>
      <p:sp>
        <p:nvSpPr>
          <p:cNvPr id="423" name="Google Shape;423;p51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O(log n)</a:t>
            </a:r>
            <a:endParaRPr/>
          </a:p>
        </p:txBody>
      </p:sp>
      <p:sp>
        <p:nvSpPr>
          <p:cNvPr id="424" name="Google Shape;424;p51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O(n)</a:t>
            </a:r>
            <a:endParaRPr/>
          </a:p>
        </p:txBody>
      </p:sp>
      <p:sp>
        <p:nvSpPr>
          <p:cNvPr id="425" name="Google Shape;425;p51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O(n log n)</a:t>
            </a:r>
            <a:endParaRPr/>
          </a:p>
        </p:txBody>
      </p:sp>
      <p:sp>
        <p:nvSpPr>
          <p:cNvPr id="426" name="Google Shape;426;p51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12</a:t>
            </a:r>
            <a:endParaRPr/>
          </a:p>
        </p:txBody>
      </p:sp>
      <p:sp>
        <p:nvSpPr>
          <p:cNvPr id="432" name="Google Shape;432;p52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time complexity of contains(x) in a LinkedList?</a:t>
            </a:r>
            <a:endParaRPr/>
          </a:p>
        </p:txBody>
      </p:sp>
      <p:sp>
        <p:nvSpPr>
          <p:cNvPr id="433" name="Google Shape;433;p52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O(1)</a:t>
            </a:r>
            <a:endParaRPr/>
          </a:p>
        </p:txBody>
      </p:sp>
      <p:sp>
        <p:nvSpPr>
          <p:cNvPr id="434" name="Google Shape;434;p52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O(log n)</a:t>
            </a:r>
            <a:endParaRPr/>
          </a:p>
        </p:txBody>
      </p:sp>
      <p:sp>
        <p:nvSpPr>
          <p:cNvPr id="435" name="Google Shape;435;p52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O(n)</a:t>
            </a:r>
            <a:endParaRPr/>
          </a:p>
        </p:txBody>
      </p:sp>
      <p:sp>
        <p:nvSpPr>
          <p:cNvPr id="436" name="Google Shape;436;p52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O(n log n)</a:t>
            </a:r>
            <a:endParaRPr/>
          </a:p>
        </p:txBody>
      </p:sp>
      <p:sp>
        <p:nvSpPr>
          <p:cNvPr id="437" name="Google Shape;437;p52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/>
          </a:p>
        </p:txBody>
      </p:sp>
      <p:sp>
        <p:nvSpPr>
          <p:cNvPr id="438" name="Google Shape;438;p52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LinkedList does not support random access. contains must walk node by node from the head until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finds x or reaches the end.</a:t>
            </a:r>
            <a:endParaRPr/>
          </a:p>
        </p:txBody>
      </p:sp>
      <p:sp>
        <p:nvSpPr>
          <p:cNvPr id="439" name="Google Shape;439;p52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13</a:t>
            </a:r>
            <a:endParaRPr/>
          </a:p>
        </p:txBody>
      </p:sp>
      <p:sp>
        <p:nvSpPr>
          <p:cNvPr id="445" name="Google Shape;445;p53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HashMap get(key) is O(1) on average.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main reason?</a:t>
            </a:r>
            <a:endParaRPr/>
          </a:p>
        </p:txBody>
      </p:sp>
      <p:sp>
        <p:nvSpPr>
          <p:cNvPr id="446" name="Google Shape;446;p53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stores keys in sorted order</a:t>
            </a:r>
            <a:endParaRPr/>
          </a:p>
        </p:txBody>
      </p:sp>
      <p:sp>
        <p:nvSpPr>
          <p:cNvPr id="447" name="Google Shape;447;p53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Hashing maps the key to a bucket index</a:t>
            </a:r>
            <a:endParaRPr/>
          </a:p>
        </p:txBody>
      </p:sp>
      <p:sp>
        <p:nvSpPr>
          <p:cNvPr id="448" name="Google Shape;448;p53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always uses binary search</a:t>
            </a:r>
            <a:endParaRPr/>
          </a:p>
        </p:txBody>
      </p:sp>
      <p:sp>
        <p:nvSpPr>
          <p:cNvPr id="449" name="Google Shape;449;p53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always scans all keys</a:t>
            </a:r>
            <a:endParaRPr/>
          </a:p>
        </p:txBody>
      </p:sp>
      <p:sp>
        <p:nvSpPr>
          <p:cNvPr id="450" name="Google Shape;450;p53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4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13</a:t>
            </a:r>
            <a:endParaRPr/>
          </a:p>
        </p:txBody>
      </p:sp>
      <p:sp>
        <p:nvSpPr>
          <p:cNvPr id="456" name="Google Shape;456;p54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HashMap get(key) is O(1) on average.</a:t>
            </a:r>
            <a:b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main reason?</a:t>
            </a:r>
            <a:endParaRPr/>
          </a:p>
        </p:txBody>
      </p:sp>
      <p:sp>
        <p:nvSpPr>
          <p:cNvPr id="457" name="Google Shape;457;p54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stores keys in sorted order</a:t>
            </a:r>
            <a:endParaRPr/>
          </a:p>
        </p:txBody>
      </p:sp>
      <p:sp>
        <p:nvSpPr>
          <p:cNvPr id="458" name="Google Shape;458;p54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Hashing maps the key to a bucket index</a:t>
            </a:r>
            <a:endParaRPr/>
          </a:p>
        </p:txBody>
      </p:sp>
      <p:sp>
        <p:nvSpPr>
          <p:cNvPr id="459" name="Google Shape;459;p54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always uses binary search</a:t>
            </a:r>
            <a:endParaRPr/>
          </a:p>
        </p:txBody>
      </p:sp>
      <p:sp>
        <p:nvSpPr>
          <p:cNvPr id="460" name="Google Shape;460;p54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always scans all keys</a:t>
            </a:r>
            <a:endParaRPr/>
          </a:p>
        </p:txBody>
      </p:sp>
      <p:sp>
        <p:nvSpPr>
          <p:cNvPr id="461" name="Google Shape;461;p54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/>
          </a:p>
        </p:txBody>
      </p:sp>
      <p:sp>
        <p:nvSpPr>
          <p:cNvPr id="462" name="Google Shape;462;p54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 hash function maps the key to a bucket index, so lookup goes directly to a small bucket. With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good distribution and resizing, bucket size stays small on average.</a:t>
            </a:r>
            <a:endParaRPr/>
          </a:p>
        </p:txBody>
      </p:sp>
      <p:sp>
        <p:nvSpPr>
          <p:cNvPr id="463" name="Google Shape;463;p54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14</a:t>
            </a:r>
            <a:endParaRPr/>
          </a:p>
        </p:txBody>
      </p:sp>
      <p:sp>
        <p:nvSpPr>
          <p:cNvPr id="469" name="Google Shape;469;p55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can HashMap lookup degrade toward O(n)?</a:t>
            </a:r>
            <a:endParaRPr/>
          </a:p>
        </p:txBody>
      </p:sp>
      <p:sp>
        <p:nvSpPr>
          <p:cNvPr id="470" name="Google Shape;470;p55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When the array is sorted</a:t>
            </a:r>
            <a:endParaRPr/>
          </a:p>
        </p:txBody>
      </p:sp>
      <p:sp>
        <p:nvSpPr>
          <p:cNvPr id="471" name="Google Shape;471;p55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When many keys collide into the same bucket</a:t>
            </a:r>
            <a:endParaRPr/>
          </a:p>
        </p:txBody>
      </p:sp>
      <p:sp>
        <p:nvSpPr>
          <p:cNvPr id="472" name="Google Shape;472;p55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When values are large</a:t>
            </a:r>
            <a:endParaRPr/>
          </a:p>
        </p:txBody>
      </p:sp>
      <p:sp>
        <p:nvSpPr>
          <p:cNvPr id="473" name="Google Shape;473;p55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When keys are integers</a:t>
            </a:r>
            <a:endParaRPr/>
          </a:p>
        </p:txBody>
      </p:sp>
      <p:sp>
        <p:nvSpPr>
          <p:cNvPr id="474" name="Google Shape;474;p55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6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14</a:t>
            </a:r>
            <a:endParaRPr/>
          </a:p>
        </p:txBody>
      </p:sp>
      <p:sp>
        <p:nvSpPr>
          <p:cNvPr id="480" name="Google Shape;480;p56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can HashMap lookup degrade toward O(n)?</a:t>
            </a:r>
            <a:endParaRPr/>
          </a:p>
        </p:txBody>
      </p:sp>
      <p:sp>
        <p:nvSpPr>
          <p:cNvPr id="481" name="Google Shape;481;p56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When the array is sorted</a:t>
            </a:r>
            <a:endParaRPr/>
          </a:p>
        </p:txBody>
      </p:sp>
      <p:sp>
        <p:nvSpPr>
          <p:cNvPr id="482" name="Google Shape;482;p56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When many keys collide into the same bucket</a:t>
            </a:r>
            <a:endParaRPr/>
          </a:p>
        </p:txBody>
      </p:sp>
      <p:sp>
        <p:nvSpPr>
          <p:cNvPr id="483" name="Google Shape;483;p56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When values are large</a:t>
            </a:r>
            <a:endParaRPr/>
          </a:p>
        </p:txBody>
      </p:sp>
      <p:sp>
        <p:nvSpPr>
          <p:cNvPr id="484" name="Google Shape;484;p56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When keys are integers</a:t>
            </a:r>
            <a:endParaRPr/>
          </a:p>
        </p:txBody>
      </p:sp>
      <p:sp>
        <p:nvSpPr>
          <p:cNvPr id="485" name="Google Shape;485;p56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/>
          </a:p>
        </p:txBody>
      </p:sp>
      <p:sp>
        <p:nvSpPr>
          <p:cNvPr id="486" name="Google Shape;486;p56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If many keys land in the same bucket, lookup must compare against many entries in that bucket.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With heavy collisions, bucket scanning can approach linear time.</a:t>
            </a:r>
            <a:endParaRPr/>
          </a:p>
        </p:txBody>
      </p:sp>
      <p:sp>
        <p:nvSpPr>
          <p:cNvPr id="487" name="Google Shape;487;p56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15</a:t>
            </a:r>
            <a:endParaRPr/>
          </a:p>
        </p:txBody>
      </p:sp>
      <p:sp>
        <p:nvSpPr>
          <p:cNvPr id="493" name="Google Shape;493;p57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is contiguous?</a:t>
            </a:r>
            <a:endParaRPr/>
          </a:p>
        </p:txBody>
      </p:sp>
      <p:sp>
        <p:nvSpPr>
          <p:cNvPr id="494" name="Google Shape;494;p57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Subsequence</a:t>
            </a:r>
            <a:endParaRPr/>
          </a:p>
        </p:txBody>
      </p:sp>
      <p:sp>
        <p:nvSpPr>
          <p:cNvPr id="495" name="Google Shape;495;p57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Subarray</a:t>
            </a:r>
            <a:endParaRPr/>
          </a:p>
        </p:txBody>
      </p:sp>
      <p:sp>
        <p:nvSpPr>
          <p:cNvPr id="496" name="Google Shape;496;p57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Both</a:t>
            </a:r>
            <a:endParaRPr/>
          </a:p>
        </p:txBody>
      </p:sp>
      <p:sp>
        <p:nvSpPr>
          <p:cNvPr id="497" name="Google Shape;497;p57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Neither</a:t>
            </a:r>
            <a:endParaRPr/>
          </a:p>
        </p:txBody>
      </p:sp>
      <p:sp>
        <p:nvSpPr>
          <p:cNvPr id="498" name="Google Shape;498;p57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8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15</a:t>
            </a:r>
            <a:endParaRPr/>
          </a:p>
        </p:txBody>
      </p:sp>
      <p:sp>
        <p:nvSpPr>
          <p:cNvPr id="504" name="Google Shape;504;p58"/>
          <p:cNvSpPr txBox="1"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is contiguous?</a:t>
            </a:r>
            <a:endParaRPr/>
          </a:p>
        </p:txBody>
      </p:sp>
      <p:sp>
        <p:nvSpPr>
          <p:cNvPr id="505" name="Google Shape;505;p58"/>
          <p:cNvSpPr txBox="1"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Subsequence</a:t>
            </a:r>
            <a:endParaRPr/>
          </a:p>
        </p:txBody>
      </p:sp>
      <p:sp>
        <p:nvSpPr>
          <p:cNvPr id="506" name="Google Shape;506;p58"/>
          <p:cNvSpPr txBox="1"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Subarray</a:t>
            </a:r>
            <a:endParaRPr/>
          </a:p>
        </p:txBody>
      </p:sp>
      <p:sp>
        <p:nvSpPr>
          <p:cNvPr id="507" name="Google Shape;507;p58"/>
          <p:cNvSpPr txBox="1"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Both</a:t>
            </a:r>
            <a:endParaRPr/>
          </a:p>
        </p:txBody>
      </p:sp>
      <p:sp>
        <p:nvSpPr>
          <p:cNvPr id="508" name="Google Shape;508;p58"/>
          <p:cNvSpPr txBox="1"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Neither</a:t>
            </a:r>
            <a:endParaRPr/>
          </a:p>
        </p:txBody>
      </p:sp>
      <p:sp>
        <p:nvSpPr>
          <p:cNvPr id="509" name="Google Shape;509;p58"/>
          <p:cNvSpPr txBox="1"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/>
          </a:p>
        </p:txBody>
      </p:sp>
      <p:sp>
        <p:nvSpPr>
          <p:cNvPr id="510" name="Google Shape;510;p58"/>
          <p:cNvSpPr txBox="1"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Subarray uses consecutive elements with no gaps. Subsequence can skip elements while keeping</a:t>
            </a:r>
            <a:b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order. This difference affects whether sliding window applies.</a:t>
            </a:r>
            <a:endParaRPr/>
          </a:p>
        </p:txBody>
      </p:sp>
      <p:sp>
        <p:nvSpPr>
          <p:cNvPr id="511" name="Google Shape;511;p58"/>
          <p:cNvSpPr txBox="1"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9"/>
          <p:cNvSpPr txBox="1"/>
          <p:nvPr/>
        </p:nvSpPr>
        <p:spPr>
          <a:xfrm>
            <a:off x="0" y="233325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Dives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0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522" name="Google Shape;522;p60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Container With Most Water</a:t>
            </a:r>
            <a:endParaRPr/>
          </a:p>
        </p:txBody>
      </p:sp>
      <p:sp>
        <p:nvSpPr>
          <p:cNvPr id="523" name="Google Shape;523;p60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https://leetcode.com/problems/container-with-most-water/</a:t>
            </a:r>
            <a:endParaRPr/>
          </a:p>
        </p:txBody>
      </p:sp>
      <p:sp>
        <p:nvSpPr>
          <p:cNvPr id="524" name="Google Shape;524;p60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525" name="Google Shape;525;p60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are given an array of heights. Pick two indices.</a:t>
            </a:r>
            <a:endParaRPr/>
          </a:p>
        </p:txBody>
      </p:sp>
      <p:sp>
        <p:nvSpPr>
          <p:cNvPr id="526" name="Google Shape;526;p60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Water held is limited by the shorter height and the distance.</a:t>
            </a:r>
            <a:endParaRPr/>
          </a:p>
        </p:txBody>
      </p:sp>
      <p:sp>
        <p:nvSpPr>
          <p:cNvPr id="527" name="Google Shape;527;p60"/>
          <p:cNvSpPr txBox="1"/>
          <p:nvPr/>
        </p:nvSpPr>
        <p:spPr>
          <a:xfrm>
            <a:off x="411480" y="222199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the maximum water possible.</a:t>
            </a:r>
            <a:endParaRPr/>
          </a:p>
        </p:txBody>
      </p:sp>
      <p:sp>
        <p:nvSpPr>
          <p:cNvPr id="528" name="Google Shape;528;p60"/>
          <p:cNvSpPr txBox="1"/>
          <p:nvPr/>
        </p:nvSpPr>
        <p:spPr>
          <a:xfrm>
            <a:off x="411480" y="258775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529" name="Google Shape;529;p60"/>
          <p:cNvSpPr txBox="1"/>
          <p:nvPr/>
        </p:nvSpPr>
        <p:spPr>
          <a:xfrm>
            <a:off x="411480" y="284378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Two pointers</a:t>
            </a:r>
            <a:endParaRPr/>
          </a:p>
        </p:txBody>
      </p:sp>
      <p:sp>
        <p:nvSpPr>
          <p:cNvPr id="530" name="Google Shape;530;p60"/>
          <p:cNvSpPr txBox="1"/>
          <p:nvPr/>
        </p:nvSpPr>
        <p:spPr>
          <a:xfrm>
            <a:off x="411480" y="320954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idea to remember</a:t>
            </a:r>
            <a:endParaRPr/>
          </a:p>
        </p:txBody>
      </p:sp>
      <p:sp>
        <p:nvSpPr>
          <p:cNvPr id="531" name="Google Shape;531;p60"/>
          <p:cNvSpPr txBox="1"/>
          <p:nvPr/>
        </p:nvSpPr>
        <p:spPr>
          <a:xfrm>
            <a:off x="411480" y="346557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Area = min(height[left], height[right]) * (right - left)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1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Brute Force Approach</a:t>
            </a:r>
            <a:endParaRPr/>
          </a:p>
        </p:txBody>
      </p:sp>
      <p:sp>
        <p:nvSpPr>
          <p:cNvPr id="537" name="Google Shape;537;p61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Container With Most Water</a:t>
            </a:r>
            <a:endParaRPr/>
          </a:p>
        </p:txBody>
      </p:sp>
      <p:sp>
        <p:nvSpPr>
          <p:cNvPr id="538" name="Google Shape;538;p61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every pair of lines and compute the area. Track the maximum.</a:t>
            </a:r>
            <a:endParaRPr/>
          </a:p>
        </p:txBody>
      </p:sp>
      <p:sp>
        <p:nvSpPr>
          <p:cNvPr id="539" name="Google Shape;539;p61"/>
          <p:cNvSpPr txBox="1"/>
          <p:nvPr/>
        </p:nvSpPr>
        <p:spPr>
          <a:xfrm>
            <a:off x="640080" y="1481328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maxArea(int[] height)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n = height.length;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0;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n; i++)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for (int j = i + 1; j &lt; n; j++)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int h = Math.min(height[i], height[j]);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int w = j - i;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best = Math.max(best, h * w);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540" name="Google Shape;540;p61"/>
          <p:cNvSpPr txBox="1"/>
          <p:nvPr/>
        </p:nvSpPr>
        <p:spPr>
          <a:xfrm>
            <a:off x="411480" y="4343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541" name="Google Shape;541;p61"/>
          <p:cNvSpPr txBox="1"/>
          <p:nvPr/>
        </p:nvSpPr>
        <p:spPr>
          <a:xfrm>
            <a:off x="411480" y="45994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O(n^2) because we check all pairs</a:t>
            </a:r>
            <a:endParaRPr/>
          </a:p>
        </p:txBody>
      </p:sp>
      <p:sp>
        <p:nvSpPr>
          <p:cNvPr id="542" name="Google Shape;542;p61"/>
          <p:cNvSpPr txBox="1"/>
          <p:nvPr/>
        </p:nvSpPr>
        <p:spPr>
          <a:xfrm>
            <a:off x="411480" y="4855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Optimized Approach</a:t>
            </a:r>
            <a:endParaRPr/>
          </a:p>
        </p:txBody>
      </p:sp>
      <p:sp>
        <p:nvSpPr>
          <p:cNvPr id="548" name="Google Shape;548;p62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Container With Most Water</a:t>
            </a:r>
            <a:endParaRPr/>
          </a:p>
        </p:txBody>
      </p:sp>
      <p:sp>
        <p:nvSpPr>
          <p:cNvPr id="549" name="Google Shape;549;p62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with two pointers at the ends. Compute area.</a:t>
            </a:r>
            <a:endParaRPr/>
          </a:p>
        </p:txBody>
      </p:sp>
      <p:sp>
        <p:nvSpPr>
          <p:cNvPr id="550" name="Google Shape;550;p62"/>
          <p:cNvSpPr txBox="1"/>
          <p:nvPr/>
        </p:nvSpPr>
        <p:spPr>
          <a:xfrm>
            <a:off x="411480" y="138988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Move the pointer at the shorter height inward.</a:t>
            </a:r>
            <a:endParaRPr/>
          </a:p>
        </p:txBody>
      </p:sp>
      <p:sp>
        <p:nvSpPr>
          <p:cNvPr id="551" name="Google Shape;551;p62"/>
          <p:cNvSpPr txBox="1"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Width decreases each step, so only increasing the limiting height can help.</a:t>
            </a:r>
            <a:endParaRPr/>
          </a:p>
        </p:txBody>
      </p:sp>
      <p:sp>
        <p:nvSpPr>
          <p:cNvPr id="552" name="Google Shape;552;p62"/>
          <p:cNvSpPr txBox="1"/>
          <p:nvPr/>
        </p:nvSpPr>
        <p:spPr>
          <a:xfrm>
            <a:off x="640077" y="1987746"/>
            <a:ext cx="4680900" cy="3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maxArea(int[] height) {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left = 0;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right = height.length - 1;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0;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while (left &lt; right) {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h = Math.min(height[left], height[right]);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w = right - left;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best = Math.max(best, h * w);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if (height[left] &lt; height[right]) {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left++;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right--;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best;</a:t>
            </a:r>
            <a:b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5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/>
          </a:p>
        </p:txBody>
      </p:sp>
      <p:sp>
        <p:nvSpPr>
          <p:cNvPr id="553" name="Google Shape;553;p62"/>
          <p:cNvSpPr txBox="1"/>
          <p:nvPr/>
        </p:nvSpPr>
        <p:spPr>
          <a:xfrm>
            <a:off x="5320847" y="4216713"/>
            <a:ext cx="341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554" name="Google Shape;554;p62"/>
          <p:cNvSpPr txBox="1"/>
          <p:nvPr/>
        </p:nvSpPr>
        <p:spPr>
          <a:xfrm>
            <a:off x="5320847" y="4458467"/>
            <a:ext cx="3411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because each pointer moves forward at most n times</a:t>
            </a:r>
            <a:endParaRPr/>
          </a:p>
        </p:txBody>
      </p:sp>
      <p:sp>
        <p:nvSpPr>
          <p:cNvPr id="555" name="Google Shape;555;p62"/>
          <p:cNvSpPr txBox="1"/>
          <p:nvPr/>
        </p:nvSpPr>
        <p:spPr>
          <a:xfrm>
            <a:off x="5320847" y="4855467"/>
            <a:ext cx="341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3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561" name="Google Shape;561;p63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Longest Substring Without Repeating Characters</a:t>
            </a:r>
            <a:endParaRPr/>
          </a:p>
        </p:txBody>
      </p:sp>
      <p:sp>
        <p:nvSpPr>
          <p:cNvPr id="562" name="Google Shape;562;p63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https://leetcode.com/problems/longest-substring-without-repeating-characters/</a:t>
            </a:r>
            <a:endParaRPr/>
          </a:p>
        </p:txBody>
      </p:sp>
      <p:sp>
        <p:nvSpPr>
          <p:cNvPr id="563" name="Google Shape;563;p63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564" name="Google Shape;564;p63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Given a string, return the length of the longest substring</a:t>
            </a:r>
            <a:endParaRPr/>
          </a:p>
        </p:txBody>
      </p:sp>
      <p:sp>
        <p:nvSpPr>
          <p:cNvPr id="565" name="Google Shape;565;p63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that contains no repeating characters.</a:t>
            </a:r>
            <a:endParaRPr/>
          </a:p>
        </p:txBody>
      </p:sp>
      <p:sp>
        <p:nvSpPr>
          <p:cNvPr id="566" name="Google Shape;566;p63"/>
          <p:cNvSpPr txBox="1"/>
          <p:nvPr/>
        </p:nvSpPr>
        <p:spPr>
          <a:xfrm>
            <a:off x="411480" y="222199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Substring means contiguous.</a:t>
            </a:r>
            <a:endParaRPr/>
          </a:p>
        </p:txBody>
      </p:sp>
      <p:sp>
        <p:nvSpPr>
          <p:cNvPr id="567" name="Google Shape;567;p63"/>
          <p:cNvSpPr txBox="1"/>
          <p:nvPr/>
        </p:nvSpPr>
        <p:spPr>
          <a:xfrm>
            <a:off x="411480" y="258775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568" name="Google Shape;568;p63"/>
          <p:cNvSpPr txBox="1"/>
          <p:nvPr/>
        </p:nvSpPr>
        <p:spPr>
          <a:xfrm>
            <a:off x="411480" y="284378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Variable size sliding window</a:t>
            </a:r>
            <a:endParaRPr/>
          </a:p>
        </p:txBody>
      </p:sp>
      <p:sp>
        <p:nvSpPr>
          <p:cNvPr id="569" name="Google Shape;569;p63"/>
          <p:cNvSpPr txBox="1"/>
          <p:nvPr/>
        </p:nvSpPr>
        <p:spPr>
          <a:xfrm>
            <a:off x="411480" y="320954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idea to remember</a:t>
            </a:r>
            <a:endParaRPr/>
          </a:p>
        </p:txBody>
      </p:sp>
      <p:sp>
        <p:nvSpPr>
          <p:cNvPr id="570" name="Google Shape;570;p63"/>
          <p:cNvSpPr txBox="1"/>
          <p:nvPr/>
        </p:nvSpPr>
        <p:spPr>
          <a:xfrm>
            <a:off x="411480" y="346557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Maintain a window that always has unique characters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4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Brute Force Approach</a:t>
            </a:r>
            <a:endParaRPr/>
          </a:p>
        </p:txBody>
      </p:sp>
      <p:sp>
        <p:nvSpPr>
          <p:cNvPr id="576" name="Google Shape;576;p64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Longest Substring Without Repeating Characters</a:t>
            </a:r>
            <a:endParaRPr/>
          </a:p>
        </p:txBody>
      </p:sp>
      <p:sp>
        <p:nvSpPr>
          <p:cNvPr id="577" name="Google Shape;577;p64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For each start index, expand forward while characters stay unique.</a:t>
            </a:r>
            <a:endParaRPr/>
          </a:p>
        </p:txBody>
      </p:sp>
      <p:sp>
        <p:nvSpPr>
          <p:cNvPr id="578" name="Google Shape;578;p64"/>
          <p:cNvSpPr txBox="1"/>
          <p:nvPr/>
        </p:nvSpPr>
        <p:spPr>
          <a:xfrm>
            <a:off x="640080" y="1481328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lengthOfLongestSubstring(String s)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n = s.length();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0;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n; i++)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boolean[] seen = new boolean[128];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for (int j = i; j &lt; n; j++)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char c = s.charAt(j);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if (seen[c]) break;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seen[c] = true;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best = Math.max(best, j - i + 1);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579" name="Google Shape;579;p64"/>
          <p:cNvSpPr txBox="1"/>
          <p:nvPr/>
        </p:nvSpPr>
        <p:spPr>
          <a:xfrm>
            <a:off x="411480" y="4343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580" name="Google Shape;580;p64"/>
          <p:cNvSpPr txBox="1"/>
          <p:nvPr/>
        </p:nvSpPr>
        <p:spPr>
          <a:xfrm>
            <a:off x="411480" y="45994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O(n^2) in the worst case</a:t>
            </a:r>
            <a:endParaRPr/>
          </a:p>
        </p:txBody>
      </p:sp>
      <p:sp>
        <p:nvSpPr>
          <p:cNvPr id="581" name="Google Shape;581;p64"/>
          <p:cNvSpPr txBox="1"/>
          <p:nvPr/>
        </p:nvSpPr>
        <p:spPr>
          <a:xfrm>
            <a:off x="411480" y="4855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 fixed character set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5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Optimized Approach</a:t>
            </a:r>
            <a:endParaRPr/>
          </a:p>
        </p:txBody>
      </p:sp>
      <p:sp>
        <p:nvSpPr>
          <p:cNvPr id="587" name="Google Shape;587;p65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Longest Substring Without Repeating Characters</a:t>
            </a:r>
            <a:endParaRPr/>
          </a:p>
        </p:txBody>
      </p:sp>
      <p:sp>
        <p:nvSpPr>
          <p:cNvPr id="588" name="Google Shape;588;p65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Expand right. If a duplicate appears, shrink left until unique again.</a:t>
            </a:r>
            <a:endParaRPr/>
          </a:p>
        </p:txBody>
      </p:sp>
      <p:sp>
        <p:nvSpPr>
          <p:cNvPr id="589" name="Google Shape;589;p65"/>
          <p:cNvSpPr txBox="1"/>
          <p:nvPr/>
        </p:nvSpPr>
        <p:spPr>
          <a:xfrm>
            <a:off x="411480" y="138988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Track the maximum window length after each expansion.</a:t>
            </a:r>
            <a:endParaRPr/>
          </a:p>
        </p:txBody>
      </p:sp>
      <p:sp>
        <p:nvSpPr>
          <p:cNvPr id="590" name="Google Shape;590;p65"/>
          <p:cNvSpPr txBox="1"/>
          <p:nvPr/>
        </p:nvSpPr>
        <p:spPr>
          <a:xfrm>
            <a:off x="640027" y="1645921"/>
            <a:ext cx="44697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import java.util.HashSet;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import java.util.Set;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lengthOfLongestSubstring(String s)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Set&lt;Character&gt; set = new HashSet&lt;&gt;();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left = 0;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0;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right = 0; right &lt; s.length(); right++)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char c = s.charAt(right);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while (set.contains(c))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set.remove(s.charAt(left));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left++;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set.add(c);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best = Math.max(best, right - left + 1);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  <p:sp>
        <p:nvSpPr>
          <p:cNvPr id="591" name="Google Shape;591;p65"/>
          <p:cNvSpPr txBox="1"/>
          <p:nvPr/>
        </p:nvSpPr>
        <p:spPr>
          <a:xfrm>
            <a:off x="5109722" y="4343400"/>
            <a:ext cx="362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592" name="Google Shape;592;p65"/>
          <p:cNvSpPr txBox="1"/>
          <p:nvPr/>
        </p:nvSpPr>
        <p:spPr>
          <a:xfrm>
            <a:off x="5109725" y="4599425"/>
            <a:ext cx="393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each character enters and leaves the set at most once</a:t>
            </a:r>
            <a:endParaRPr/>
          </a:p>
        </p:txBody>
      </p:sp>
      <p:sp>
        <p:nvSpPr>
          <p:cNvPr id="593" name="Google Shape;593;p65"/>
          <p:cNvSpPr txBox="1"/>
          <p:nvPr/>
        </p:nvSpPr>
        <p:spPr>
          <a:xfrm>
            <a:off x="5109722" y="4855467"/>
            <a:ext cx="362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O(min(n, charset))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6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599" name="Google Shape;599;p66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Jump Game</a:t>
            </a:r>
            <a:endParaRPr/>
          </a:p>
        </p:txBody>
      </p:sp>
      <p:sp>
        <p:nvSpPr>
          <p:cNvPr id="600" name="Google Shape;600;p66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https://leetcode.com/problems/jump-game/</a:t>
            </a:r>
            <a:endParaRPr/>
          </a:p>
        </p:txBody>
      </p:sp>
      <p:sp>
        <p:nvSpPr>
          <p:cNvPr id="601" name="Google Shape;601;p66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602" name="Google Shape;602;p66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value is your maximum jump length from that index.</a:t>
            </a:r>
            <a:endParaRPr/>
          </a:p>
        </p:txBody>
      </p:sp>
      <p:sp>
        <p:nvSpPr>
          <p:cNvPr id="603" name="Google Shape;603;p66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at index 0. Return true if you can reach the last index.</a:t>
            </a:r>
            <a:endParaRPr/>
          </a:p>
        </p:txBody>
      </p:sp>
      <p:sp>
        <p:nvSpPr>
          <p:cNvPr id="604" name="Google Shape;604;p66"/>
          <p:cNvSpPr txBox="1"/>
          <p:nvPr/>
        </p:nvSpPr>
        <p:spPr>
          <a:xfrm>
            <a:off x="411480" y="231343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605" name="Google Shape;605;p66"/>
          <p:cNvSpPr txBox="1"/>
          <p:nvPr/>
        </p:nvSpPr>
        <p:spPr>
          <a:xfrm>
            <a:off x="411480" y="2569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endParaRPr/>
          </a:p>
        </p:txBody>
      </p:sp>
      <p:sp>
        <p:nvSpPr>
          <p:cNvPr id="606" name="Google Shape;606;p66"/>
          <p:cNvSpPr txBox="1"/>
          <p:nvPr/>
        </p:nvSpPr>
        <p:spPr>
          <a:xfrm>
            <a:off x="411480" y="293522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idea to remember</a:t>
            </a:r>
            <a:endParaRPr/>
          </a:p>
        </p:txBody>
      </p:sp>
      <p:sp>
        <p:nvSpPr>
          <p:cNvPr id="607" name="Google Shape;607;p66"/>
          <p:cNvSpPr txBox="1"/>
          <p:nvPr/>
        </p:nvSpPr>
        <p:spPr>
          <a:xfrm>
            <a:off x="411480" y="319125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Track the farthest index you can reach so far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7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Brute Force Approach</a:t>
            </a:r>
            <a:endParaRPr/>
          </a:p>
        </p:txBody>
      </p:sp>
      <p:sp>
        <p:nvSpPr>
          <p:cNvPr id="613" name="Google Shape;613;p67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Jump Game</a:t>
            </a:r>
            <a:endParaRPr/>
          </a:p>
        </p:txBody>
      </p:sp>
      <p:sp>
        <p:nvSpPr>
          <p:cNvPr id="614" name="Google Shape;614;p67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all reachable next indices from each position. This branches heavily.</a:t>
            </a:r>
            <a:endParaRPr/>
          </a:p>
        </p:txBody>
      </p:sp>
      <p:sp>
        <p:nvSpPr>
          <p:cNvPr id="615" name="Google Shape;615;p67"/>
          <p:cNvSpPr txBox="1"/>
          <p:nvPr/>
        </p:nvSpPr>
        <p:spPr>
          <a:xfrm>
            <a:off x="640080" y="1481328"/>
            <a:ext cx="8229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boolean canJump(int[] nums)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dfs(nums, 0, new boolean[nums.length]);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private boolean dfs(int[] nums, int i, boolean[] visiting)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if (i &gt;= nums.length - 1) return true;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if (visiting[i]) return false;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visiting[i] = true;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furthest = Math.min(nums.length - 1, i + nums[i]);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next = i + 1; next &lt;= furthest; next++)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if (dfs(nums, next, visiting)) return true;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visiting[i] = false;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/>
          </a:p>
        </p:txBody>
      </p:sp>
      <p:sp>
        <p:nvSpPr>
          <p:cNvPr id="616" name="Google Shape;616;p67"/>
          <p:cNvSpPr txBox="1"/>
          <p:nvPr/>
        </p:nvSpPr>
        <p:spPr>
          <a:xfrm>
            <a:off x="411480" y="4343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617" name="Google Shape;617;p67"/>
          <p:cNvSpPr txBox="1"/>
          <p:nvPr/>
        </p:nvSpPr>
        <p:spPr>
          <a:xfrm>
            <a:off x="411480" y="45994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Can be very large due to branching</a:t>
            </a:r>
            <a:endParaRPr/>
          </a:p>
        </p:txBody>
      </p:sp>
      <p:sp>
        <p:nvSpPr>
          <p:cNvPr id="618" name="Google Shape;618;p67"/>
          <p:cNvSpPr txBox="1"/>
          <p:nvPr/>
        </p:nvSpPr>
        <p:spPr>
          <a:xfrm>
            <a:off x="411480" y="4855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O(n) recursion depth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8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Optimized Approach</a:t>
            </a:r>
            <a:endParaRPr/>
          </a:p>
        </p:txBody>
      </p:sp>
      <p:sp>
        <p:nvSpPr>
          <p:cNvPr id="624" name="Google Shape;624;p68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Jump Game</a:t>
            </a:r>
            <a:endParaRPr/>
          </a:p>
        </p:txBody>
      </p:sp>
      <p:sp>
        <p:nvSpPr>
          <p:cNvPr id="625" name="Google Shape;625;p68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Maintain reach, the farthest index reachable so far.</a:t>
            </a:r>
            <a:endParaRPr/>
          </a:p>
        </p:txBody>
      </p:sp>
      <p:sp>
        <p:nvSpPr>
          <p:cNvPr id="626" name="Google Shape;626;p68"/>
          <p:cNvSpPr txBox="1"/>
          <p:nvPr/>
        </p:nvSpPr>
        <p:spPr>
          <a:xfrm>
            <a:off x="411480" y="138988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i ever exceeds reach, you are stuck.</a:t>
            </a:r>
            <a:endParaRPr/>
          </a:p>
        </p:txBody>
      </p:sp>
      <p:sp>
        <p:nvSpPr>
          <p:cNvPr id="627" name="Google Shape;627;p68"/>
          <p:cNvSpPr txBox="1"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Update reach with max(reach, i + nums[i]).</a:t>
            </a:r>
            <a:endParaRPr/>
          </a:p>
        </p:txBody>
      </p:sp>
      <p:sp>
        <p:nvSpPr>
          <p:cNvPr id="628" name="Google Shape;628;p68"/>
          <p:cNvSpPr txBox="1"/>
          <p:nvPr/>
        </p:nvSpPr>
        <p:spPr>
          <a:xfrm>
            <a:off x="640080" y="2029968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boolean canJump(int[] nums)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reach = 0;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nums.length; i++)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if (i &gt; reach) return false;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reach = Math.max(reach, i + nums[i]);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true;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629" name="Google Shape;629;p68"/>
          <p:cNvSpPr txBox="1"/>
          <p:nvPr/>
        </p:nvSpPr>
        <p:spPr>
          <a:xfrm>
            <a:off x="411480" y="4343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630" name="Google Shape;630;p68"/>
          <p:cNvSpPr txBox="1"/>
          <p:nvPr/>
        </p:nvSpPr>
        <p:spPr>
          <a:xfrm>
            <a:off x="411480" y="45994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single pass</a:t>
            </a:r>
            <a:endParaRPr/>
          </a:p>
        </p:txBody>
      </p:sp>
      <p:sp>
        <p:nvSpPr>
          <p:cNvPr id="631" name="Google Shape;631;p68"/>
          <p:cNvSpPr txBox="1"/>
          <p:nvPr/>
        </p:nvSpPr>
        <p:spPr>
          <a:xfrm>
            <a:off x="411480" y="4855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9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637" name="Google Shape;637;p69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House Robber</a:t>
            </a:r>
            <a:endParaRPr/>
          </a:p>
        </p:txBody>
      </p:sp>
      <p:sp>
        <p:nvSpPr>
          <p:cNvPr id="638" name="Google Shape;638;p69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https://leetcode.com/problems/house-robber/</a:t>
            </a:r>
            <a:endParaRPr/>
          </a:p>
        </p:txBody>
      </p:sp>
      <p:sp>
        <p:nvSpPr>
          <p:cNvPr id="639" name="Google Shape;639;p69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640" name="Google Shape;640;p69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cannot rob two adjacent houses.</a:t>
            </a:r>
            <a:endParaRPr/>
          </a:p>
        </p:txBody>
      </p:sp>
      <p:sp>
        <p:nvSpPr>
          <p:cNvPr id="641" name="Google Shape;641;p69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the maximum money you can rob.</a:t>
            </a:r>
            <a:endParaRPr/>
          </a:p>
        </p:txBody>
      </p:sp>
      <p:sp>
        <p:nvSpPr>
          <p:cNvPr id="642" name="Google Shape;642;p69"/>
          <p:cNvSpPr txBox="1"/>
          <p:nvPr/>
        </p:nvSpPr>
        <p:spPr>
          <a:xfrm>
            <a:off x="411480" y="231343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643" name="Google Shape;643;p69"/>
          <p:cNvSpPr txBox="1"/>
          <p:nvPr/>
        </p:nvSpPr>
        <p:spPr>
          <a:xfrm>
            <a:off x="411480" y="2569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Dynamic programming</a:t>
            </a:r>
            <a:endParaRPr/>
          </a:p>
        </p:txBody>
      </p:sp>
      <p:sp>
        <p:nvSpPr>
          <p:cNvPr id="644" name="Google Shape;644;p69"/>
          <p:cNvSpPr txBox="1"/>
          <p:nvPr/>
        </p:nvSpPr>
        <p:spPr>
          <a:xfrm>
            <a:off x="411480" y="293522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idea to remember</a:t>
            </a:r>
            <a:endParaRPr/>
          </a:p>
        </p:txBody>
      </p:sp>
      <p:sp>
        <p:nvSpPr>
          <p:cNvPr id="645" name="Google Shape;645;p69"/>
          <p:cNvSpPr txBox="1"/>
          <p:nvPr/>
        </p:nvSpPr>
        <p:spPr>
          <a:xfrm>
            <a:off x="411480" y="319125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each house, decide take it or skip it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0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Brute Force Approach</a:t>
            </a:r>
            <a:endParaRPr/>
          </a:p>
        </p:txBody>
      </p:sp>
      <p:sp>
        <p:nvSpPr>
          <p:cNvPr id="651" name="Google Shape;651;p70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House Robber</a:t>
            </a:r>
            <a:endParaRPr/>
          </a:p>
        </p:txBody>
      </p:sp>
      <p:sp>
        <p:nvSpPr>
          <p:cNvPr id="652" name="Google Shape;652;p70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each index, choose take or skip. This repeats subproblems.</a:t>
            </a:r>
            <a:endParaRPr/>
          </a:p>
        </p:txBody>
      </p:sp>
      <p:sp>
        <p:nvSpPr>
          <p:cNvPr id="653" name="Google Shape;653;p70"/>
          <p:cNvSpPr txBox="1"/>
          <p:nvPr/>
        </p:nvSpPr>
        <p:spPr>
          <a:xfrm>
            <a:off x="640080" y="1481328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rob(int[] nums)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helper(nums, 0);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private int helper(int[] nums, int i)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if (i &gt;= nums.length) return 0;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take = nums[i] + helper(nums, i + 2);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skip = helper(nums, i + 1);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Math.max(take, skip);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654" name="Google Shape;654;p70"/>
          <p:cNvSpPr txBox="1"/>
          <p:nvPr/>
        </p:nvSpPr>
        <p:spPr>
          <a:xfrm>
            <a:off x="411480" y="4343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655" name="Google Shape;655;p70"/>
          <p:cNvSpPr txBox="1"/>
          <p:nvPr/>
        </p:nvSpPr>
        <p:spPr>
          <a:xfrm>
            <a:off x="411480" y="45994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Exponential due to repeated branching</a:t>
            </a:r>
            <a:endParaRPr/>
          </a:p>
        </p:txBody>
      </p:sp>
      <p:sp>
        <p:nvSpPr>
          <p:cNvPr id="656" name="Google Shape;656;p70"/>
          <p:cNvSpPr txBox="1"/>
          <p:nvPr/>
        </p:nvSpPr>
        <p:spPr>
          <a:xfrm>
            <a:off x="411480" y="4855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O(n) recursion depth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1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Optimized Approach</a:t>
            </a:r>
            <a:endParaRPr/>
          </a:p>
        </p:txBody>
      </p:sp>
      <p:sp>
        <p:nvSpPr>
          <p:cNvPr id="662" name="Google Shape;662;p71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House Robber</a:t>
            </a:r>
            <a:endParaRPr/>
          </a:p>
        </p:txBody>
      </p:sp>
      <p:sp>
        <p:nvSpPr>
          <p:cNvPr id="663" name="Google Shape;663;p71"/>
          <p:cNvSpPr txBox="1"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dp[i] means best money up to index i.</a:t>
            </a:r>
            <a:endParaRPr/>
          </a:p>
        </p:txBody>
      </p:sp>
      <p:sp>
        <p:nvSpPr>
          <p:cNvPr id="664" name="Google Shape;664;p71"/>
          <p:cNvSpPr txBox="1"/>
          <p:nvPr/>
        </p:nvSpPr>
        <p:spPr>
          <a:xfrm>
            <a:off x="411480" y="138988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dp[i] = max(dp[i-1], dp[i-2] + nums[i]).</a:t>
            </a:r>
            <a:endParaRPr/>
          </a:p>
        </p:txBody>
      </p:sp>
      <p:sp>
        <p:nvSpPr>
          <p:cNvPr id="665" name="Google Shape;665;p71"/>
          <p:cNvSpPr txBox="1"/>
          <p:nvPr/>
        </p:nvSpPr>
        <p:spPr>
          <a:xfrm>
            <a:off x="411480" y="166420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Keep two rolling values for O(1) space.</a:t>
            </a:r>
            <a:endParaRPr/>
          </a:p>
        </p:txBody>
      </p:sp>
      <p:sp>
        <p:nvSpPr>
          <p:cNvPr id="666" name="Google Shape;666;p71"/>
          <p:cNvSpPr txBox="1"/>
          <p:nvPr/>
        </p:nvSpPr>
        <p:spPr>
          <a:xfrm>
            <a:off x="640078" y="1962409"/>
            <a:ext cx="3566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rob(int[] nums)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prev2 = 0;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prev1 = 0;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x : nums) {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take = prev2 + x;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skip = prev1;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cur = Math.max(take, skip);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prev2 = prev1;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prev1 = cur;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prev1;</a:t>
            </a:r>
            <a:b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  <p:sp>
        <p:nvSpPr>
          <p:cNvPr id="667" name="Google Shape;667;p71"/>
          <p:cNvSpPr txBox="1"/>
          <p:nvPr/>
        </p:nvSpPr>
        <p:spPr>
          <a:xfrm>
            <a:off x="411480" y="4343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668" name="Google Shape;668;p71"/>
          <p:cNvSpPr txBox="1"/>
          <p:nvPr/>
        </p:nvSpPr>
        <p:spPr>
          <a:xfrm>
            <a:off x="411480" y="459943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single pass</a:t>
            </a:r>
            <a:endParaRPr/>
          </a:p>
        </p:txBody>
      </p:sp>
      <p:sp>
        <p:nvSpPr>
          <p:cNvPr id="669" name="Google Shape;669;p71"/>
          <p:cNvSpPr txBox="1"/>
          <p:nvPr/>
        </p:nvSpPr>
        <p:spPr>
          <a:xfrm>
            <a:off x="411480" y="4855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2"/>
          <p:cNvSpPr txBox="1"/>
          <p:nvPr/>
        </p:nvSpPr>
        <p:spPr>
          <a:xfrm>
            <a:off x="0" y="233325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Pattern Drills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3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680" name="Google Shape;680;p73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Minimum Size Subarray Sum</a:t>
            </a:r>
            <a:endParaRPr/>
          </a:p>
        </p:txBody>
      </p:sp>
      <p:sp>
        <p:nvSpPr>
          <p:cNvPr id="681" name="Google Shape;681;p73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https://leetcode.com/problems/minimum-size-subarray-sum/</a:t>
            </a:r>
            <a:endParaRPr/>
          </a:p>
        </p:txBody>
      </p:sp>
      <p:sp>
        <p:nvSpPr>
          <p:cNvPr id="682" name="Google Shape;682;p73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683" name="Google Shape;683;p73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Given positive integers and a target, find the minimum length</a:t>
            </a:r>
            <a:endParaRPr/>
          </a:p>
        </p:txBody>
      </p:sp>
      <p:sp>
        <p:nvSpPr>
          <p:cNvPr id="684" name="Google Shape;684;p73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of a contiguous subarray whose sum is at least target.</a:t>
            </a:r>
            <a:endParaRPr/>
          </a:p>
        </p:txBody>
      </p:sp>
      <p:sp>
        <p:nvSpPr>
          <p:cNvPr id="685" name="Google Shape;685;p73"/>
          <p:cNvSpPr txBox="1"/>
          <p:nvPr/>
        </p:nvSpPr>
        <p:spPr>
          <a:xfrm>
            <a:off x="411480" y="222199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none exists, return 0.</a:t>
            </a:r>
            <a:endParaRPr/>
          </a:p>
        </p:txBody>
      </p:sp>
      <p:sp>
        <p:nvSpPr>
          <p:cNvPr id="686" name="Google Shape;686;p73"/>
          <p:cNvSpPr txBox="1"/>
          <p:nvPr/>
        </p:nvSpPr>
        <p:spPr>
          <a:xfrm>
            <a:off x="411480" y="258775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687" name="Google Shape;687;p73"/>
          <p:cNvSpPr txBox="1"/>
          <p:nvPr/>
        </p:nvSpPr>
        <p:spPr>
          <a:xfrm>
            <a:off x="411480" y="284378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Variable size sliding window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4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Fill-in Code</a:t>
            </a:r>
            <a:endParaRPr/>
          </a:p>
        </p:txBody>
      </p:sp>
      <p:sp>
        <p:nvSpPr>
          <p:cNvPr id="693" name="Google Shape;693;p74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Minimum Size Subarray Sum</a:t>
            </a:r>
            <a:endParaRPr/>
          </a:p>
        </p:txBody>
      </p:sp>
      <p:sp>
        <p:nvSpPr>
          <p:cNvPr id="694" name="Google Shape;694;p74"/>
          <p:cNvSpPr txBox="1"/>
          <p:nvPr/>
        </p:nvSpPr>
        <p:spPr>
          <a:xfrm>
            <a:off x="640080" y="1115568"/>
            <a:ext cx="8229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minSubArrayLen(int target, int[] nums)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left = 0;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sum = 0;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Integer.MAX_VALUE;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right = 0; right &lt; nums.length; right++) {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sum += nums[right];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TODO: shrink while sum &gt;= target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Update best using current window length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Move left forward and reduce sum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 == Integer.MAX_VALUE ? 0 : best;</a:t>
            </a:r>
            <a:b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695" name="Google Shape;695;p74"/>
          <p:cNvSpPr txBox="1"/>
          <p:nvPr/>
        </p:nvSpPr>
        <p:spPr>
          <a:xfrm>
            <a:off x="411480" y="416052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Hint: Use while (sum &gt;= target) to shrink and update best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5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701" name="Google Shape;701;p75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Minimum Size Subarray Sum</a:t>
            </a:r>
            <a:endParaRPr/>
          </a:p>
        </p:txBody>
      </p:sp>
      <p:sp>
        <p:nvSpPr>
          <p:cNvPr id="702" name="Google Shape;702;p75"/>
          <p:cNvSpPr txBox="1"/>
          <p:nvPr/>
        </p:nvSpPr>
        <p:spPr>
          <a:xfrm>
            <a:off x="640080" y="1115568"/>
            <a:ext cx="8229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minSubArrayLen(int target, int[] nums)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left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sum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Integer.MAX_VALUE;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right = 0; right &lt; nums.length; right++)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sum += nums[right];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while (sum &gt;= target)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best = Math.min(best, right - left + 1);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sum -= nums[left];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left++;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 == Integer.MAX_VALUE ? 0 : best;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703" name="Google Shape;703;p75"/>
          <p:cNvSpPr txBox="1"/>
          <p:nvPr/>
        </p:nvSpPr>
        <p:spPr>
          <a:xfrm>
            <a:off x="411480" y="41605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704" name="Google Shape;704;p75"/>
          <p:cNvSpPr txBox="1"/>
          <p:nvPr/>
        </p:nvSpPr>
        <p:spPr>
          <a:xfrm>
            <a:off x="411480" y="44165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each index moves forward at most once</a:t>
            </a:r>
            <a:endParaRPr/>
          </a:p>
        </p:txBody>
      </p:sp>
      <p:sp>
        <p:nvSpPr>
          <p:cNvPr id="705" name="Google Shape;705;p75"/>
          <p:cNvSpPr txBox="1"/>
          <p:nvPr/>
        </p:nvSpPr>
        <p:spPr>
          <a:xfrm>
            <a:off x="411480" y="467258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6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711" name="Google Shape;711;p76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Longest Repeating Character Replacement</a:t>
            </a:r>
            <a:endParaRPr/>
          </a:p>
        </p:txBody>
      </p:sp>
      <p:sp>
        <p:nvSpPr>
          <p:cNvPr id="712" name="Google Shape;712;p76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https://leetcode.com/problems/longest-repeating-character-replacement/</a:t>
            </a:r>
            <a:endParaRPr/>
          </a:p>
        </p:txBody>
      </p:sp>
      <p:sp>
        <p:nvSpPr>
          <p:cNvPr id="713" name="Google Shape;713;p76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714" name="Google Shape;714;p76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Given a string and k, you can replace at most k characters.</a:t>
            </a:r>
            <a:endParaRPr/>
          </a:p>
        </p:txBody>
      </p:sp>
      <p:sp>
        <p:nvSpPr>
          <p:cNvPr id="715" name="Google Shape;715;p76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the longest substring that can become all one character.</a:t>
            </a:r>
            <a:endParaRPr/>
          </a:p>
        </p:txBody>
      </p:sp>
      <p:sp>
        <p:nvSpPr>
          <p:cNvPr id="716" name="Google Shape;716;p76"/>
          <p:cNvSpPr txBox="1"/>
          <p:nvPr/>
        </p:nvSpPr>
        <p:spPr>
          <a:xfrm>
            <a:off x="411480" y="231343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717" name="Google Shape;717;p76"/>
          <p:cNvSpPr txBox="1"/>
          <p:nvPr/>
        </p:nvSpPr>
        <p:spPr>
          <a:xfrm>
            <a:off x="411480" y="2569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Variable size sliding window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7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Fill-in Code</a:t>
            </a:r>
            <a:endParaRPr/>
          </a:p>
        </p:txBody>
      </p:sp>
      <p:sp>
        <p:nvSpPr>
          <p:cNvPr id="723" name="Google Shape;723;p77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Longest Repeating Character Replacement</a:t>
            </a:r>
            <a:endParaRPr/>
          </a:p>
        </p:txBody>
      </p:sp>
      <p:sp>
        <p:nvSpPr>
          <p:cNvPr id="724" name="Google Shape;724;p77"/>
          <p:cNvSpPr txBox="1"/>
          <p:nvPr/>
        </p:nvSpPr>
        <p:spPr>
          <a:xfrm>
            <a:off x="640080" y="1115568"/>
            <a:ext cx="8229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characterReplacement(String s, int k)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int[] freq = new int[26];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left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maxFreq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right = 0; right &lt; s.length(); right++)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idx = s.charAt(right) - 'A';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freq[idx]++;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TODO: update maxFreq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TODO: shrink while (right - left + 1) - maxFreq &gt; k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Shrink by decrementing freq at left and moving left forward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TODO: update best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725" name="Google Shape;725;p77"/>
          <p:cNvSpPr txBox="1"/>
          <p:nvPr/>
        </p:nvSpPr>
        <p:spPr>
          <a:xfrm>
            <a:off x="411480" y="4633495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Hint: Window invalid when windowSize - maxFreq &gt; k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8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731" name="Google Shape;731;p78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Longest Repeating Character Replacement</a:t>
            </a:r>
            <a:endParaRPr/>
          </a:p>
        </p:txBody>
      </p:sp>
      <p:sp>
        <p:nvSpPr>
          <p:cNvPr id="732" name="Google Shape;732;p78"/>
          <p:cNvSpPr txBox="1"/>
          <p:nvPr/>
        </p:nvSpPr>
        <p:spPr>
          <a:xfrm>
            <a:off x="640075" y="1064900"/>
            <a:ext cx="82296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characterReplacement(String s, int k) {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int[] freq = new int[26];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left = 0;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maxFreq = 0;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best = 0;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right = 0; right &lt; s.length(); right++) {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idx = s.charAt(right) - 'A';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freq[idx]++;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maxFreq = Math.max(maxFreq, freq[idx]);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while ((right - left + 1) - maxFreq &gt; k) {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freq[s.charAt(left) - 'A']--;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left++;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best = Math.max(best, right - left + 1);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best;</a:t>
            </a:r>
            <a:b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0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/>
          </a:p>
        </p:txBody>
      </p:sp>
      <p:sp>
        <p:nvSpPr>
          <p:cNvPr id="733" name="Google Shape;733;p78"/>
          <p:cNvSpPr txBox="1"/>
          <p:nvPr/>
        </p:nvSpPr>
        <p:spPr>
          <a:xfrm>
            <a:off x="411480" y="4312545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734" name="Google Shape;734;p78"/>
          <p:cNvSpPr txBox="1"/>
          <p:nvPr/>
        </p:nvSpPr>
        <p:spPr>
          <a:xfrm>
            <a:off x="411480" y="4568577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each pointer moves forward at most once</a:t>
            </a:r>
            <a:endParaRPr/>
          </a:p>
        </p:txBody>
      </p:sp>
      <p:sp>
        <p:nvSpPr>
          <p:cNvPr id="735" name="Google Shape;735;p78"/>
          <p:cNvSpPr txBox="1"/>
          <p:nvPr/>
        </p:nvSpPr>
        <p:spPr>
          <a:xfrm>
            <a:off x="411480" y="4824609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9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Problem Intro</a:t>
            </a:r>
            <a:endParaRPr/>
          </a:p>
        </p:txBody>
      </p:sp>
      <p:sp>
        <p:nvSpPr>
          <p:cNvPr id="741" name="Google Shape;741;p79"/>
          <p:cNvSpPr txBox="1"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Gas Station</a:t>
            </a:r>
            <a:endParaRPr/>
          </a:p>
        </p:txBody>
      </p:sp>
      <p:sp>
        <p:nvSpPr>
          <p:cNvPr id="742" name="Google Shape;742;p79"/>
          <p:cNvSpPr txBox="1"/>
          <p:nvPr/>
        </p:nvSpPr>
        <p:spPr>
          <a:xfrm>
            <a:off x="640080" y="11155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https://leetcode.com/problems/gas-station/</a:t>
            </a:r>
            <a:endParaRPr/>
          </a:p>
        </p:txBody>
      </p:sp>
      <p:sp>
        <p:nvSpPr>
          <p:cNvPr id="743" name="Google Shape;743;p79"/>
          <p:cNvSpPr txBox="1"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are solving</a:t>
            </a:r>
            <a:endParaRPr/>
          </a:p>
        </p:txBody>
      </p:sp>
      <p:sp>
        <p:nvSpPr>
          <p:cNvPr id="744" name="Google Shape;744;p79"/>
          <p:cNvSpPr txBox="1"/>
          <p:nvPr/>
        </p:nvSpPr>
        <p:spPr>
          <a:xfrm>
            <a:off x="411480" y="16733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station provides gas[i]. Moving to next costs cost[i].</a:t>
            </a:r>
            <a:endParaRPr/>
          </a:p>
        </p:txBody>
      </p:sp>
      <p:sp>
        <p:nvSpPr>
          <p:cNvPr id="745" name="Google Shape;745;p79"/>
          <p:cNvSpPr txBox="1"/>
          <p:nvPr/>
        </p:nvSpPr>
        <p:spPr>
          <a:xfrm>
            <a:off x="411480" y="19476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Find a start index to complete the circle, or return -1.</a:t>
            </a:r>
            <a:endParaRPr/>
          </a:p>
        </p:txBody>
      </p:sp>
      <p:sp>
        <p:nvSpPr>
          <p:cNvPr id="746" name="Google Shape;746;p79"/>
          <p:cNvSpPr txBox="1"/>
          <p:nvPr/>
        </p:nvSpPr>
        <p:spPr>
          <a:xfrm>
            <a:off x="411480" y="231343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 focus</a:t>
            </a:r>
            <a:endParaRPr/>
          </a:p>
        </p:txBody>
      </p:sp>
      <p:sp>
        <p:nvSpPr>
          <p:cNvPr id="747" name="Google Shape;747;p79"/>
          <p:cNvSpPr txBox="1"/>
          <p:nvPr/>
        </p:nvSpPr>
        <p:spPr>
          <a:xfrm>
            <a:off x="411480" y="256946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0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Fill-in Code</a:t>
            </a:r>
            <a:endParaRPr/>
          </a:p>
        </p:txBody>
      </p:sp>
      <p:sp>
        <p:nvSpPr>
          <p:cNvPr id="753" name="Google Shape;753;p80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Gas Station</a:t>
            </a:r>
            <a:endParaRPr/>
          </a:p>
        </p:txBody>
      </p:sp>
      <p:sp>
        <p:nvSpPr>
          <p:cNvPr id="754" name="Google Shape;754;p80"/>
          <p:cNvSpPr txBox="1"/>
          <p:nvPr/>
        </p:nvSpPr>
        <p:spPr>
          <a:xfrm>
            <a:off x="640080" y="1115568"/>
            <a:ext cx="8229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canCompleteCircuit(int[] gas, int[] cost)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total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tank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start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gas.length; i++)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gain = gas[i] - cost[i];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TODO: update total and tank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// TODO: if tank &lt; 0, reset start to i + 1 and tank to 0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// TODO: return -1 if total &lt; 0 else return start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-1;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755" name="Google Shape;755;p80"/>
          <p:cNvSpPr txBox="1"/>
          <p:nvPr/>
        </p:nvSpPr>
        <p:spPr>
          <a:xfrm>
            <a:off x="411480" y="416052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Hint: If a segment fails, none of its indices can be the start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1"/>
          <p:cNvSpPr txBox="1"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761" name="Google Shape;761;p81"/>
          <p:cNvSpPr txBox="1"/>
          <p:nvPr/>
        </p:nvSpPr>
        <p:spPr>
          <a:xfrm>
            <a:off x="411480" y="8229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Gas Station</a:t>
            </a:r>
            <a:endParaRPr/>
          </a:p>
        </p:txBody>
      </p:sp>
      <p:sp>
        <p:nvSpPr>
          <p:cNvPr id="762" name="Google Shape;762;p81"/>
          <p:cNvSpPr txBox="1"/>
          <p:nvPr/>
        </p:nvSpPr>
        <p:spPr>
          <a:xfrm>
            <a:off x="640080" y="1115568"/>
            <a:ext cx="8229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public int canCompleteCircuit(int[] gas, int[] cost)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total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tank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int start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gas.length; i++)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int gain = gas[i] - cost[i];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total += gain;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tank += gain;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if (tank &lt; 0) {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start = i + 1;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    tank = 0;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    return total &lt; 0 ? -1 : start;</a:t>
            </a:r>
            <a:b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763" name="Google Shape;763;p81"/>
          <p:cNvSpPr txBox="1"/>
          <p:nvPr/>
        </p:nvSpPr>
        <p:spPr>
          <a:xfrm>
            <a:off x="411480" y="41605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Time and space</a:t>
            </a:r>
            <a:endParaRPr/>
          </a:p>
        </p:txBody>
      </p:sp>
      <p:sp>
        <p:nvSpPr>
          <p:cNvPr id="764" name="Google Shape;764;p81"/>
          <p:cNvSpPr txBox="1"/>
          <p:nvPr/>
        </p:nvSpPr>
        <p:spPr>
          <a:xfrm>
            <a:off x="411480" y="44165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O(n) single pass</a:t>
            </a:r>
            <a:endParaRPr/>
          </a:p>
        </p:txBody>
      </p:sp>
      <p:sp>
        <p:nvSpPr>
          <p:cNvPr id="765" name="Google Shape;765;p81"/>
          <p:cNvSpPr txBox="1"/>
          <p:nvPr/>
        </p:nvSpPr>
        <p:spPr>
          <a:xfrm>
            <a:off x="411480" y="467258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Space: O(1)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2"/>
          <p:cNvSpPr txBox="1"/>
          <p:nvPr/>
        </p:nvSpPr>
        <p:spPr>
          <a:xfrm>
            <a:off x="0" y="233325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That’s a wrap!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