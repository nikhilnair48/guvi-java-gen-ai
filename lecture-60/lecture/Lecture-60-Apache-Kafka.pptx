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44f74ad9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f44f74ad9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f44f74ad9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f44f74ad9_2_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f44f74ad9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f44f74ad9_2_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f44f74ad9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f44f74ad9_2_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f44f74ad9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f44f74ad9_2_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44f74ad9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f44f74ad9_2_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f44f74ad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f44f74ad9_2_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44f74ad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f44f74ad9_2_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f44f74ad9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f44f74ad9_2_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f44f74ad9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f44f74ad9_2_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f44f74ad9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f44f74ad9_2_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f44f74ad9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f44f74ad9_2_1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f44f74ad9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f44f74ad9_2_1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f44f74ad9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f44f74ad9_2_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f44f74ad9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bf44f74ad9_2_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f44f74ad9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f44f74ad9_2_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f44f74ad9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bf44f74ad9_2_1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f44f74ad9_2_1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bf44f74ad9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this slide under 60 seconds and move to Demo 1.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f44f74ad9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bf44f74ad9_2_2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f44f74ad9_2_2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bf44f74ad9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partitions explanation minimal here and show it in Demo 1.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f44f74ad9_2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f44f74ad9_2_2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f44f74ad9_2_2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bf44f74ad9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Draw this as a simple box flow while speaking.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f44f74ad9_2_2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bf44f74ad9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 `auto-offset-reset=earliest` as a practical dev default.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f44f74ad9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f44f74ad9_2_2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f44f74ad9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f44f74ad9_2_2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f44f74ad9_2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f44f74ad9_2_2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f44f74ad9_2_2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bf44f74ad9_2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demo is a fast confidence win. Keep it tight.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f44f74ad9_2_2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bf44f74ad9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If asked “why partitions,” answer in one sentence and move on.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44f74ad9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bf44f74ad9_2_2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44f74ad9_2_2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bf44f74ad9_2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Reuse existing enrollment APIs so learners feel continuity.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44f74ad9_2_3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bf44f74ad9_2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If time runs long, idempotency becomes the stretch goal.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44f74ad9_2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bf44f74ad9_2_3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44f74ad9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bf44f74ad9_2_3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44f74ad9_2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bf44f74ad9_2_3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44f74ad9_2_3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bf44f74ad9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commands on demo slides, not in these bullets.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44f74ad9_2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bf44f74ad9_2_3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f44f74ad9_2_3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bf44f74ad9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will not set this up live today unless time permits.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f44f74ad9_2_3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f44f74ad9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it practical. Avoid deep internals.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f44f74ad9_2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bf44f74ad9_2_3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f44f74ad9_2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bf44f74ad9_2_3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f44f74ad9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bf44f74ad9_2_3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44f74ad9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bf44f74ad9_2_3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44f74ad9_2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bf44f74ad9_2_3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f44f74ad9_2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bf44f74ad9_2_4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f44f74ad9_2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bf44f74ad9_2_4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f44f74ad9_2_4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bf44f74ad9_2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If time permits, assign a small extension: add one more stat field to `course_stats`.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bing.com/ck/a?!&amp;&amp;p=f2cb5b1687340d95559e36383fe3581d50784cbee03ec79698aeacf544bfca1cJmltdHM9MTc3MTYzMjAwMA&amp;ptn=3&amp;ver=2&amp;hsh=4&amp;fclid=2d9685db-16bb-6b95-0c50-93d9171d6a0e&amp;psq=KafkaTemplate&amp;u=a1aHR0cHM6Ly9kb2NzLnNwcmluZy5pby9zcHJpbmcta2Fma2EvYXBpL29yZy9zcHJpbmdmcmFtZXdvcmsva2Fma2EvY29yZS9LYWZrYVRlbXBsYXRlLmh0bWw" TargetMode="External"/><Relationship Id="rId4" Type="http://schemas.openxmlformats.org/officeDocument/2006/relationships/hyperlink" Target="https://www.bing.com/ck/a?!&amp;&amp;p=7e962a57f56b27fdc4ef0c83a0e6fb2b3ab83eda9fca50ea23904ebd890c993eJmltdHM9MTc3MTYzMjAwMA&amp;ptn=3&amp;ver=2&amp;hsh=4&amp;fclid=2d9685db-16bb-6b95-0c50-93d9171d6a0e&amp;psq=KafkaListener&amp;u=a1aHR0cHM6Ly9kb2NzLnNwcmluZy5pby9zcHJpbmcta2Fma2EvcmVmZXJlbmNlL2thZmthL3JlY2VpdmluZy1tZXNzYWdlcy9saXN0ZW5lci1hbm5vdGF0aW9uLmh0bWw" TargetMode="External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baeldung.com/java-management-extensions" TargetMode="External"/><Relationship Id="rId4" Type="http://schemas.openxmlformats.org/officeDocument/2006/relationships/hyperlink" Target="https://prometheus.io/" TargetMode="External"/><Relationship Id="rId5" Type="http://schemas.openxmlformats.org/officeDocument/2006/relationships/hyperlink" Target="https://grafana.com/" TargetMode="External"/><Relationship Id="rId6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512064" y="64008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SDE with AI</a:t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512064" y="114300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 and Spring Boot</a:t>
            </a:r>
            <a:endParaRPr/>
          </a:p>
        </p:txBody>
      </p:sp>
      <p:sp>
        <p:nvSpPr>
          <p:cNvPr id="101" name="Google Shape;101;p25"/>
          <p:cNvSpPr txBox="1"/>
          <p:nvPr/>
        </p:nvSpPr>
        <p:spPr>
          <a:xfrm>
            <a:off x="512064" y="173736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Asynchronous Communication</a:t>
            </a:r>
            <a:endParaRPr/>
          </a:p>
        </p:txBody>
      </p:sp>
      <p:sp>
        <p:nvSpPr>
          <p:cNvPr id="102" name="Google Shape;102;p25"/>
          <p:cNvSpPr txBox="1"/>
          <p:nvPr/>
        </p:nvSpPr>
        <p:spPr>
          <a:xfrm>
            <a:off x="512064" y="224028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 Day 48</a:t>
            </a:r>
            <a:endParaRPr/>
          </a:p>
        </p:txBody>
      </p:sp>
      <p:sp>
        <p:nvSpPr>
          <p:cNvPr id="103" name="Google Shape;103;p25"/>
          <p:cNvSpPr txBox="1"/>
          <p:nvPr/>
        </p:nvSpPr>
        <p:spPr>
          <a:xfrm>
            <a:off x="512064" y="4434840"/>
            <a:ext cx="8138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 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Nikhil Nair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Today plan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concepts for today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1: Standalone Java producer and consumer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2: Spring Boot integration and course stats projection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Monitoring and real-world use cases</a:t>
            </a:r>
            <a:endParaRPr/>
          </a:p>
        </p:txBody>
      </p:sp>
      <p:sp>
        <p:nvSpPr>
          <p:cNvPr id="110" name="Google Shape;110;p26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11" name="Google Shape;111;p26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Warm-up instructions</a:t>
            </a:r>
            <a:endParaRPr/>
          </a:p>
        </p:txBody>
      </p:sp>
      <p:sp>
        <p:nvSpPr>
          <p:cNvPr id="122" name="Google Shape;122;p28"/>
          <p:cNvSpPr txBox="1"/>
          <p:nvPr/>
        </p:nvSpPr>
        <p:spPr>
          <a:xfrm>
            <a:off x="649224" y="1335024"/>
            <a:ext cx="7836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 each question with 1, 2, 3, or 4.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Pick the best option.</a:t>
            </a:r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24" name="Google Shape;124;p28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Warmup 1</a:t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an event in event-driven architecture?</a:t>
            </a:r>
            <a:endParaRPr sz="1700"/>
          </a:p>
        </p:txBody>
      </p:sp>
      <p:sp>
        <p:nvSpPr>
          <p:cNvPr id="131" name="Google Shape;131;p29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A fact that something already happened.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A direct function call from one service to another.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A database table that stores records.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A UI screen that shows data.</a:t>
            </a:r>
            <a:endParaRPr/>
          </a:p>
        </p:txBody>
      </p:sp>
      <p:sp>
        <p:nvSpPr>
          <p:cNvPr id="132" name="Google Shape;132;p29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33" name="Google Shape;133;p29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</a:t>
            </a: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Answer</a:t>
            </a:r>
            <a:endParaRPr/>
          </a:p>
        </p:txBody>
      </p:sp>
      <p:sp>
        <p:nvSpPr>
          <p:cNvPr id="139" name="Google Shape;139;p30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an event in event-driven architecture?</a:t>
            </a:r>
            <a:endParaRPr sz="1700"/>
          </a:p>
        </p:txBody>
      </p:sp>
      <p:sp>
        <p:nvSpPr>
          <p:cNvPr id="140" name="Google Shape;140;p30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A fact that something already happened.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A direct function call from one service to another.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A database table that stores records.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A UI screen that shows data.</a:t>
            </a:r>
            <a:endParaRPr/>
          </a:p>
        </p:txBody>
      </p:sp>
      <p:sp>
        <p:nvSpPr>
          <p:cNvPr id="141" name="Google Shape;141;p30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Events represent facts like “Enrollment created”.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not direct calls or storage tables.</a:t>
            </a:r>
            <a:endParaRPr/>
          </a:p>
        </p:txBody>
      </p:sp>
      <p:sp>
        <p:nvSpPr>
          <p:cNvPr id="142" name="Google Shape;142;p30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2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in synchronous communication?</a:t>
            </a:r>
            <a:endParaRPr sz="1700"/>
          </a:p>
        </p:txBody>
      </p:sp>
      <p:sp>
        <p:nvSpPr>
          <p:cNvPr id="150" name="Google Shape;150;p31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The caller sends a message and always continues immediately.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The caller waits for the response before continuing.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The caller stores data and never contacts other services.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The caller and callee always run in the same process.</a:t>
            </a:r>
            <a:endParaRPr/>
          </a:p>
        </p:txBody>
      </p:sp>
      <p:sp>
        <p:nvSpPr>
          <p:cNvPr id="151" name="Google Shape;151;p31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52" name="Google Shape;152;p31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2 Answer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2"/>
          <p:cNvSpPr txBox="1"/>
          <p:nvPr/>
        </p:nvSpPr>
        <p:spPr>
          <a:xfrm>
            <a:off x="649224" y="1143000"/>
            <a:ext cx="783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in synchronous communication?</a:t>
            </a:r>
            <a:endParaRPr sz="1600"/>
          </a:p>
        </p:txBody>
      </p:sp>
      <p:sp>
        <p:nvSpPr>
          <p:cNvPr id="159" name="Google Shape;159;p32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The caller sends a message and always continues immediately.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The caller waits for the response before continuing.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The caller stores data and never contacts other services.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The caller and callee always run in the same process.</a:t>
            </a:r>
            <a:endParaRPr/>
          </a:p>
        </p:txBody>
      </p:sp>
      <p:sp>
        <p:nvSpPr>
          <p:cNvPr id="160" name="Google Shape;160;p32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sync calls, the caller blocks until it gets a response.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 messaging does not require waiting for the consumer.</a:t>
            </a:r>
            <a:endParaRPr/>
          </a:p>
        </p:txBody>
      </p:sp>
      <p:sp>
        <p:nvSpPr>
          <p:cNvPr id="161" name="Google Shape;161;p32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62" name="Google Shape;162;p32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3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role of a producer in Kafka?</a:t>
            </a:r>
            <a:endParaRPr sz="1700"/>
          </a:p>
        </p:txBody>
      </p:sp>
      <p:sp>
        <p:nvSpPr>
          <p:cNvPr id="169" name="Google Shape;169;p33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It reads messages from a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It tracks offsets for consumers.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It writes messages to a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It manages user authentication.</a:t>
            </a:r>
            <a:endParaRPr/>
          </a:p>
        </p:txBody>
      </p:sp>
      <p:sp>
        <p:nvSpPr>
          <p:cNvPr id="170" name="Google Shape;170;p33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71" name="Google Shape;171;p33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3 Answer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role of a producer in Kafka?</a:t>
            </a:r>
            <a:endParaRPr sz="1700"/>
          </a:p>
        </p:txBody>
      </p:sp>
      <p:sp>
        <p:nvSpPr>
          <p:cNvPr id="178" name="Google Shape;178;p34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It reads messages from a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It tracks offsets for consumers.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It writes messages to a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It manages user authentication.</a:t>
            </a:r>
            <a:endParaRPr/>
          </a:p>
        </p:txBody>
      </p:sp>
      <p:sp>
        <p:nvSpPr>
          <p:cNvPr id="179" name="Google Shape;179;p34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 publish events to Kafka topics.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Consumers read and process those events.</a:t>
            </a:r>
            <a:endParaRPr/>
          </a:p>
        </p:txBody>
      </p:sp>
      <p:sp>
        <p:nvSpPr>
          <p:cNvPr id="180" name="Google Shape;180;p34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81" name="Google Shape;181;p34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4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5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do teams use Kafka between microservices?</a:t>
            </a:r>
            <a:endParaRPr sz="1700"/>
          </a:p>
        </p:txBody>
      </p:sp>
      <p:sp>
        <p:nvSpPr>
          <p:cNvPr id="188" name="Google Shape;188;p35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To force services to deploy together.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To guarantee exactly-once delivery always.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To remove the need for databases.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To publish events without waiting for other services to be online.</a:t>
            </a:r>
            <a:endParaRPr/>
          </a:p>
        </p:txBody>
      </p:sp>
      <p:sp>
        <p:nvSpPr>
          <p:cNvPr id="189" name="Google Shape;189;p35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190" name="Google Shape;190;p35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4 Answer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6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do teams use Kafka between microservices?</a:t>
            </a:r>
            <a:endParaRPr sz="1700"/>
          </a:p>
        </p:txBody>
      </p:sp>
      <p:sp>
        <p:nvSpPr>
          <p:cNvPr id="197" name="Google Shape;197;p36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To force services to deploy together.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To guarantee exactly-once delivery always.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To remove the need for databases.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To publish events without waiting for other services to be online.</a:t>
            </a:r>
            <a:endParaRPr/>
          </a:p>
        </p:txBody>
      </p:sp>
      <p:sp>
        <p:nvSpPr>
          <p:cNvPr id="198" name="Google Shape;198;p36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 can publish even if consumers are temporarily down.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reduces runtime coupling between services.</a:t>
            </a:r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00" name="Google Shape;200;p36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5 Answer</a:t>
            </a:r>
            <a:endParaRPr/>
          </a:p>
        </p:txBody>
      </p:sp>
      <p:sp>
        <p:nvSpPr>
          <p:cNvPr id="206" name="Google Shape;206;p37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ZooKeeper-mode Kafka, ZooKeeper is mainly used for what?</a:t>
            </a:r>
            <a:endParaRPr sz="1700"/>
          </a:p>
        </p:txBody>
      </p:sp>
      <p:sp>
        <p:nvSpPr>
          <p:cNvPr id="207" name="Google Shape;207;p37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Coordinating brokers and storing cluster metadata.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Storing business data like enrollments.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Encrypting Kafka messages by default.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Generating REST API endpoints.</a:t>
            </a:r>
            <a:endParaRPr/>
          </a:p>
        </p:txBody>
      </p:sp>
      <p:sp>
        <p:nvSpPr>
          <p:cNvPr id="208" name="Google Shape;208;p37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09" name="Google Shape;209;p37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5 Answer</a:t>
            </a:r>
            <a:endParaRPr/>
          </a:p>
        </p:txBody>
      </p:sp>
      <p:sp>
        <p:nvSpPr>
          <p:cNvPr id="215" name="Google Shape;215;p38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ZooKeeper-mode Kafka, ZooKeeper is mainly used for what?</a:t>
            </a:r>
            <a:endParaRPr sz="1700"/>
          </a:p>
        </p:txBody>
      </p:sp>
      <p:sp>
        <p:nvSpPr>
          <p:cNvPr id="216" name="Google Shape;216;p38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Coordinating brokers and storing cluster metadata.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Storing business data like enrollments.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Encrypting Kafka messages by default.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Generating REST API endpoints.</a:t>
            </a:r>
            <a:endParaRPr/>
          </a:p>
        </p:txBody>
      </p:sp>
      <p:sp>
        <p:nvSpPr>
          <p:cNvPr id="217" name="Google Shape;217;p38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ZooKeeper supports coordination and metadata in this Kafka mode.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not where application data is stored.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19" name="Google Shape;219;p38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6 Answer</a:t>
            </a:r>
            <a:endParaRPr/>
          </a:p>
        </p:txBody>
      </p:sp>
      <p:sp>
        <p:nvSpPr>
          <p:cNvPr id="225" name="Google Shape;225;p39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consumer is down, but producers keep sending messages, what happens?</a:t>
            </a:r>
            <a:endParaRPr sz="1700"/>
          </a:p>
        </p:txBody>
      </p:sp>
      <p:sp>
        <p:nvSpPr>
          <p:cNvPr id="226" name="Google Shape;226;p39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Messages are lost immediately.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Kafka deletes the topic automatically.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Messages stay in the topic and the consumer can read later.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Producers stop sending automatically.</a:t>
            </a:r>
            <a:endParaRPr/>
          </a:p>
        </p:txBody>
      </p:sp>
      <p:sp>
        <p:nvSpPr>
          <p:cNvPr id="227" name="Google Shape;227;p39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28" name="Google Shape;228;p39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Warmup 6 Answer</a:t>
            </a:r>
            <a:endParaRPr/>
          </a:p>
        </p:txBody>
      </p:sp>
      <p:sp>
        <p:nvSpPr>
          <p:cNvPr id="234" name="Google Shape;234;p40"/>
          <p:cNvSpPr txBox="1"/>
          <p:nvPr/>
        </p:nvSpPr>
        <p:spPr>
          <a:xfrm>
            <a:off x="649224" y="1143000"/>
            <a:ext cx="7836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consumer is down, but producers keep sending messages, what happens?</a:t>
            </a:r>
            <a:endParaRPr sz="1700"/>
          </a:p>
        </p:txBody>
      </p:sp>
      <p:sp>
        <p:nvSpPr>
          <p:cNvPr id="235" name="Google Shape;235;p40"/>
          <p:cNvSpPr txBox="1"/>
          <p:nvPr/>
        </p:nvSpPr>
        <p:spPr>
          <a:xfrm>
            <a:off x="649224" y="1600200"/>
            <a:ext cx="783640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Messages are lost immediately.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Kafka deletes the topic automatically.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Messages stay in the topic and the consumer can read later.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Producers stop sending automatically.</a:t>
            </a:r>
            <a:endParaRPr/>
          </a:p>
        </p:txBody>
      </p:sp>
      <p:sp>
        <p:nvSpPr>
          <p:cNvPr id="236" name="Google Shape;236;p40"/>
          <p:cNvSpPr txBox="1"/>
          <p:nvPr/>
        </p:nvSpPr>
        <p:spPr>
          <a:xfrm>
            <a:off x="649224" y="3886200"/>
            <a:ext cx="78364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 answer: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retains messages for a configured time.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Consumers can catch up later if retention still includes those messages.</a:t>
            </a:r>
            <a:endParaRPr/>
          </a:p>
        </p:txBody>
      </p:sp>
      <p:sp>
        <p:nvSpPr>
          <p:cNvPr id="237" name="Google Shape;237;p40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38" name="Google Shape;238;p40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/>
        </p:nvSpPr>
        <p:spPr>
          <a:xfrm>
            <a:off x="457200" y="2103120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Let’s build!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are we building today?</a:t>
            </a:r>
            <a:endParaRPr/>
          </a:p>
        </p:txBody>
      </p:sp>
      <p:sp>
        <p:nvSpPr>
          <p:cNvPr id="249" name="Google Shape;249;p42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app already stores enrollments in MongoDB as the source of truth.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Today we publish an event to Kafka when an enrollment changes.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consumer builds a separate read model in MongoDB called `course_stats`.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makes dashboard reads fast without scanning the enrollments collection.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use one Kafka topic in both demos: `guvi.events`.</a:t>
            </a:r>
            <a:endParaRPr/>
          </a:p>
        </p:txBody>
      </p:sp>
      <p:sp>
        <p:nvSpPr>
          <p:cNvPr id="250" name="Google Shape;250;p42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51" name="Google Shape;251;p42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an event?</a:t>
            </a:r>
            <a:endParaRPr/>
          </a:p>
        </p:txBody>
      </p:sp>
      <p:sp>
        <p:nvSpPr>
          <p:cNvPr id="257" name="Google Shape;257;p43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event is a fact about something that already happened.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“Enrollment was created” is a fact other parts of the system can react to.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 publish events without knowing who will consume them.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Consumers subscribe and do their own work independently.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Intuition: Events reduce direct dependencies between services.</a:t>
            </a:r>
            <a:endParaRPr/>
          </a:p>
        </p:txBody>
      </p:sp>
      <p:sp>
        <p:nvSpPr>
          <p:cNvPr id="258" name="Google Shape;258;p43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59" name="Google Shape;259;p43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Topic and message key</a:t>
            </a:r>
            <a:endParaRPr/>
          </a:p>
        </p:txBody>
      </p:sp>
      <p:sp>
        <p:nvSpPr>
          <p:cNvPr id="265" name="Google Shape;265;p44"/>
          <p:cNvSpPr txBox="1"/>
          <p:nvPr/>
        </p:nvSpPr>
        <p:spPr>
          <a:xfrm>
            <a:off x="649224" y="1335024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topic is a named stream of events stored durably by Kafka.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message key helps decide where an event is placed within the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key = `courseId` keeps events for one course in order.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For our live coding, we’ll name our </a:t>
            </a: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topic `guvi.events` and our key is `courseId`.</a:t>
            </a:r>
            <a:endParaRPr/>
          </a:p>
        </p:txBody>
      </p:sp>
      <p:sp>
        <p:nvSpPr>
          <p:cNvPr id="266" name="Google Shape;266;p44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67" name="Google Shape;267;p44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 and consumer roles</a:t>
            </a:r>
            <a:endParaRPr/>
          </a:p>
        </p:txBody>
      </p:sp>
      <p:sp>
        <p:nvSpPr>
          <p:cNvPr id="273" name="Google Shape;273;p45"/>
          <p:cNvSpPr txBox="1"/>
          <p:nvPr/>
        </p:nvSpPr>
        <p:spPr>
          <a:xfrm>
            <a:off x="649225" y="1335025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producer writes events to a Kafka topic.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consumer reads events from a Kafka topic and runs business logic.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 and consumers can be separate apps or separate modules.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Enrollment publishes. Stats builder consumes.</a:t>
            </a:r>
            <a:endParaRPr/>
          </a:p>
        </p:txBody>
      </p:sp>
      <p:sp>
        <p:nvSpPr>
          <p:cNvPr id="274" name="Google Shape;274;p45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75" name="Google Shape;275;p45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Kafka in one picture</a:t>
            </a:r>
            <a:endParaRPr/>
          </a:p>
        </p:txBody>
      </p:sp>
      <p:sp>
        <p:nvSpPr>
          <p:cNvPr id="281" name="Google Shape;281;p46"/>
          <p:cNvSpPr txBox="1"/>
          <p:nvPr/>
        </p:nvSpPr>
        <p:spPr>
          <a:xfrm>
            <a:off x="649225" y="1335025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Boot produces messages using </a:t>
            </a:r>
            <a:r>
              <a:rPr b="0" i="0" lang="en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KafkaTemplate</a:t>
            </a: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Boot consumes messages using @</a:t>
            </a:r>
            <a:r>
              <a:rPr b="0" i="0" lang="en" sz="1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KafkaListener</a:t>
            </a: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runs separately and stores events for later consumption.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MongoDB stores both source-of-truth data and the derived read model.</a:t>
            </a:r>
            <a:endParaRPr/>
          </a:p>
        </p:txBody>
      </p:sp>
      <p:sp>
        <p:nvSpPr>
          <p:cNvPr id="282" name="Google Shape;282;p46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83" name="Google Shape;283;p46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  <p:pic>
        <p:nvPicPr>
          <p:cNvPr id="284" name="Google Shape;28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0500" y="2571750"/>
            <a:ext cx="3402989" cy="2268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Kafka config </a:t>
            </a: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must set</a:t>
            </a:r>
            <a:endParaRPr/>
          </a:p>
        </p:txBody>
      </p:sp>
      <p:sp>
        <p:nvSpPr>
          <p:cNvPr id="290" name="Google Shape;290;p47"/>
          <p:cNvSpPr txBox="1"/>
          <p:nvPr/>
        </p:nvSpPr>
        <p:spPr>
          <a:xfrm>
            <a:off x="649225" y="1335024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`spring.kafka.bootstrap-servers` to your Kafka broker address.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 must set a key serializer and a value serializer.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must set a key deserializer and a value deserializer.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must set a `group-id` to identify the consumer group.</a:t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292" name="Google Shape;292;p47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event contract</a:t>
            </a:r>
            <a:endParaRPr/>
          </a:p>
        </p:txBody>
      </p:sp>
      <p:sp>
        <p:nvSpPr>
          <p:cNvPr id="298" name="Google Shape;298;p48"/>
          <p:cNvSpPr txBox="1"/>
          <p:nvPr/>
        </p:nvSpPr>
        <p:spPr>
          <a:xfrm>
            <a:off x="649224" y="1335024"/>
            <a:ext cx="78363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publish one JSON event per enrollment action.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Fields: eventId, type, enrollmentId, studentId, courseId, status, occurredAt.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Example types: ENROLLMENT_CREATED, ENROLLMENT_STATUS_UPDATED, ENROLLMENT_DELETED.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message key is courseId to keep course events ordered.</a:t>
            </a:r>
            <a:endParaRPr/>
          </a:p>
        </p:txBody>
      </p:sp>
      <p:sp>
        <p:nvSpPr>
          <p:cNvPr id="299" name="Google Shape;299;p48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00" name="Google Shape;300;p48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Dealing with </a:t>
            </a: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/>
          </a:p>
        </p:txBody>
      </p:sp>
      <p:sp>
        <p:nvSpPr>
          <p:cNvPr id="306" name="Google Shape;306;p49"/>
          <p:cNvSpPr txBox="1"/>
          <p:nvPr/>
        </p:nvSpPr>
        <p:spPr>
          <a:xfrm>
            <a:off x="733699" y="1335024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Consumers can see the same event more than once when retries happen.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normal in real distributed systems.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handle it using an `eventId` idempotency check before updating stats.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Intuition: Make consumers safe to repeat.</a:t>
            </a:r>
            <a:endParaRPr/>
          </a:p>
        </p:txBody>
      </p:sp>
      <p:sp>
        <p:nvSpPr>
          <p:cNvPr id="307" name="Google Shape;307;p49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08" name="Google Shape;308;p49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/>
        </p:nvSpPr>
        <p:spPr>
          <a:xfrm>
            <a:off x="457200" y="2103120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 1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1 steps</a:t>
            </a:r>
            <a:endParaRPr/>
          </a:p>
        </p:txBody>
      </p:sp>
      <p:sp>
        <p:nvSpPr>
          <p:cNvPr id="319" name="Google Shape;319;p51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20" name="Google Shape;320;p51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 Kafka and ZooKeeper are running.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or verify topic `guvi.events`.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the Java consumer and keep it running.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the Java producer and send events with multiple `courseId` values.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Observe key, partition, and per-course counts.</a:t>
            </a:r>
            <a:endParaRPr/>
          </a:p>
        </p:txBody>
      </p:sp>
      <p:sp>
        <p:nvSpPr>
          <p:cNvPr id="321" name="Google Shape;321;p51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cd $KAFKA_HOME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bin/kafka-topics.sh --bootstrap-server localhost:9092 --describe --topic guvi.events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Run consumer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mvn -q exec:java -Dexec.mainClass="com.guvi.playground.ConsumerApp"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Run producer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mvn -q exec:java -Dexec.mainClass="com.guvi.playground.ProducerApp"</a:t>
            </a:r>
            <a:endParaRPr/>
          </a:p>
        </p:txBody>
      </p:sp>
      <p:sp>
        <p:nvSpPr>
          <p:cNvPr id="322" name="Google Shape;322;p51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23" name="Google Shape;323;p51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1 expected output</a:t>
            </a:r>
            <a:endParaRPr/>
          </a:p>
        </p:txBody>
      </p:sp>
      <p:sp>
        <p:nvSpPr>
          <p:cNvPr id="329" name="Google Shape;329;p52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30" name="Google Shape;330;p52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prints key and partition for each message.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Messages with the same `courseId` appear in a consistent order.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running count per `courseId` increases as events arrive.</a:t>
            </a:r>
            <a:endParaRPr/>
          </a:p>
        </p:txBody>
      </p:sp>
      <p:sp>
        <p:nvSpPr>
          <p:cNvPr id="331" name="Google Shape;331;p52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key=SPRING | partition=1 | count[SPRING]=4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key=JAVA   | partition=0 | count[JAVA]=3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key=SPRING | partition=1 | count[SPRING]=5</a:t>
            </a:r>
            <a:endParaRPr/>
          </a:p>
        </p:txBody>
      </p:sp>
      <p:sp>
        <p:nvSpPr>
          <p:cNvPr id="332" name="Google Shape;332;p52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33" name="Google Shape;333;p52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/>
        </p:nvSpPr>
        <p:spPr>
          <a:xfrm>
            <a:off x="457200" y="2103120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 2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2 steps 1</a:t>
            </a:r>
            <a:endParaRPr/>
          </a:p>
        </p:txBody>
      </p:sp>
      <p:sp>
        <p:nvSpPr>
          <p:cNvPr id="344" name="Google Shape;344;p54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45" name="Google Shape;345;p54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Spring Kafka dependency to the project.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Kafka config in `application.properties`.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an `EnrollmentEvent` DTO and a producer service.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Publish an event after create and after status update in `EnrollmentService`.</a:t>
            </a:r>
            <a:endParaRPr/>
          </a:p>
        </p:txBody>
      </p:sp>
      <p:sp>
        <p:nvSpPr>
          <p:cNvPr id="346" name="Google Shape;346;p54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app.kafka.topic=guvi.events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spring.kafka.bootstrap-servers=localhost:9092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spring.kafka.producer.key-serializer=org.apache.kafka.common.serialization.StringSerializer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spring.kafka.producer.value-serializer=org.apache.kafka.common.serialization.StringSerializer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spring.kafka.consumer.group-id=course-stats-builder-v1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spring.kafka.consumer.auto-offset-reset=earliest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spring.kafka.consumer.key-deserializer=org.apache.kafka.common.serialization.StringDeserializer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spring.kafka.consumer.value-deserializer=org.apache.kafka.common.serialization.StringDeserializer</a:t>
            </a:r>
            <a:endParaRPr/>
          </a:p>
        </p:txBody>
      </p:sp>
      <p:sp>
        <p:nvSpPr>
          <p:cNvPr id="347" name="Google Shape;347;p54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48" name="Google Shape;348;p54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2 steps 2</a:t>
            </a:r>
            <a:endParaRPr/>
          </a:p>
        </p:txBody>
      </p:sp>
      <p:sp>
        <p:nvSpPr>
          <p:cNvPr id="354" name="Google Shape;354;p55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55" name="Google Shape;355;p55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consumer using `@KafkaListener` for topic `guvi.events`.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the `course_stats` projection in MongoDB for each event.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idempotency using `eventId` so duplicates do not double-count.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a simple read endpoint for `course_stats`.</a:t>
            </a:r>
            <a:endParaRPr/>
          </a:p>
        </p:txBody>
      </p:sp>
      <p:sp>
        <p:nvSpPr>
          <p:cNvPr id="356" name="Google Shape;356;p55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@KafkaListener(topics = "${app.kafka.topic}", groupId = "${spring.kafka.consumer.group-id}")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void onMessage(ConsumerRecord&lt;String, String&gt; record) {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// parse JSON event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// update course_stats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57" name="Google Shape;357;p55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58" name="Google Shape;358;p55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stats data model</a:t>
            </a:r>
            <a:endParaRPr/>
          </a:p>
        </p:txBody>
      </p:sp>
      <p:sp>
        <p:nvSpPr>
          <p:cNvPr id="364" name="Google Shape;364;p56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`course_stats` is a derived read model, not the source of truth.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Fields: `courseId`, `totalEnrollments`, `activeEnrollments`, `cancelledEnrollments`, `lastEventAt`.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updated only by consuming Kafka events.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Reads are fast because we do not aggregate enrollments on every request.</a:t>
            </a:r>
            <a:endParaRPr/>
          </a:p>
        </p:txBody>
      </p:sp>
      <p:sp>
        <p:nvSpPr>
          <p:cNvPr id="365" name="Google Shape;365;p56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66" name="Google Shape;366;p56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7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2 verification</a:t>
            </a:r>
            <a:endParaRPr/>
          </a:p>
        </p:txBody>
      </p:sp>
      <p:sp>
        <p:nvSpPr>
          <p:cNvPr id="372" name="Google Shape;372;p57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73" name="Google Shape;373;p57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or update enrollments using Postman.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 the producer publishes events by checking consumer logs.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 MongoDB contains `course_stats` documents that update.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 the stats endpoint and confirm values match the actions.</a:t>
            </a:r>
            <a:endParaRPr/>
          </a:p>
        </p:txBody>
      </p:sp>
      <p:sp>
        <p:nvSpPr>
          <p:cNvPr id="374" name="Google Shape;374;p57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POST /api/enrollments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"studentId": "&lt;id&gt;",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"courseId": "&lt;id&gt;",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"status": "ACTIVE"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 /api/course-stats/&lt;courseId&gt;</a:t>
            </a:r>
            <a:endParaRPr/>
          </a:p>
        </p:txBody>
      </p:sp>
      <p:sp>
        <p:nvSpPr>
          <p:cNvPr id="375" name="Google Shape;375;p57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76" name="Google Shape;376;p57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8"/>
          <p:cNvSpPr txBox="1"/>
          <p:nvPr/>
        </p:nvSpPr>
        <p:spPr>
          <a:xfrm>
            <a:off x="457200" y="2103120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Monitoring Kafka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Monitoring with Kafka CLI</a:t>
            </a:r>
            <a:endParaRPr/>
          </a:p>
        </p:txBody>
      </p:sp>
      <p:sp>
        <p:nvSpPr>
          <p:cNvPr id="387" name="Google Shape;387;p59"/>
          <p:cNvSpPr txBox="1"/>
          <p:nvPr/>
        </p:nvSpPr>
        <p:spPr>
          <a:xfrm>
            <a:off x="649224" y="9601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388" name="Google Shape;388;p59"/>
          <p:cNvSpPr txBox="1"/>
          <p:nvPr/>
        </p:nvSpPr>
        <p:spPr>
          <a:xfrm>
            <a:off x="649224" y="1234440"/>
            <a:ext cx="7836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`kafka-topics` to list and describe topics.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`kafka-console-consumer` to peek at messages quickly.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`kafka-consumer-groups` to inspect consumer group state when needed.</a:t>
            </a:r>
            <a:endParaRPr/>
          </a:p>
        </p:txBody>
      </p:sp>
      <p:sp>
        <p:nvSpPr>
          <p:cNvPr id="389" name="Google Shape;389;p59"/>
          <p:cNvSpPr/>
          <p:nvPr/>
        </p:nvSpPr>
        <p:spPr>
          <a:xfrm>
            <a:off x="649224" y="2606040"/>
            <a:ext cx="7836408" cy="21031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bin/kafka-topics.sh --bootstrap-server localhost:9092 --list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bin/kafka-topics.sh --bootstrap-server localhost:9092 --describe --topic guvi.events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bin/kafka-console-consumer.sh --bootstrap-server localhost:9092 --topic guvi.events --from-beginning</a:t>
            </a: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bin/kafka-consumer-groups.sh --bootstrap-server localhost:9092 --describe --group course-stats-builder-v1</a:t>
            </a:r>
            <a:endParaRPr/>
          </a:p>
        </p:txBody>
      </p:sp>
      <p:sp>
        <p:nvSpPr>
          <p:cNvPr id="390" name="Google Shape;390;p59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91" name="Google Shape;391;p59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0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consumer lag?</a:t>
            </a:r>
            <a:endParaRPr/>
          </a:p>
        </p:txBody>
      </p:sp>
      <p:sp>
        <p:nvSpPr>
          <p:cNvPr id="397" name="Google Shape;397;p60"/>
          <p:cNvSpPr txBox="1"/>
          <p:nvPr/>
        </p:nvSpPr>
        <p:spPr>
          <a:xfrm>
            <a:off x="649225" y="1335025"/>
            <a:ext cx="7836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lag is how far a consumer is behind the latest events.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lag means consumers are slower than producers.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Lag is a common signal that the system is falling behind under load.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Enrollment spikes can temporarily increase lag.</a:t>
            </a:r>
            <a:endParaRPr/>
          </a:p>
        </p:txBody>
      </p:sp>
      <p:sp>
        <p:nvSpPr>
          <p:cNvPr id="398" name="Google Shape;398;p60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399" name="Google Shape;399;p60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  <p:pic>
        <p:nvPicPr>
          <p:cNvPr id="400" name="Google Shape;40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813" y="2480125"/>
            <a:ext cx="4472667" cy="2268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Metrics pipeline for Kafka</a:t>
            </a:r>
            <a:endParaRPr/>
          </a:p>
        </p:txBody>
      </p:sp>
      <p:sp>
        <p:nvSpPr>
          <p:cNvPr id="406" name="Google Shape;406;p61"/>
          <p:cNvSpPr txBox="1"/>
          <p:nvPr/>
        </p:nvSpPr>
        <p:spPr>
          <a:xfrm>
            <a:off x="649225" y="1335025"/>
            <a:ext cx="783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Kafka exposes health + performance stats via </a:t>
            </a: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JMX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(e.g., requests/sec, bytes in/out, error rate).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A JMX Exporter acts like a translator: it reads JMX metrics and exposes them in a standard HTTP /metrics format that monitoring tools can collect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Prometheus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is one such tool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it regularly “scrapes” that /metrics endpoint and stores the numbers over time.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Grafana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turns those metrics into dashboards + alerts (e.g., “consumer lag is growing”).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1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08" name="Google Shape;408;p61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  <p:pic>
        <p:nvPicPr>
          <p:cNvPr id="409" name="Google Shape;409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8075" y="2942125"/>
            <a:ext cx="3167840" cy="180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Dashboards that matter</a:t>
            </a:r>
            <a:endParaRPr/>
          </a:p>
        </p:txBody>
      </p:sp>
      <p:sp>
        <p:nvSpPr>
          <p:cNvPr id="415" name="Google Shape;415;p62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 throughput shows how many events are being published.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throughput shows how many events are being processed.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 lag shows backlog growth or recovery.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rate shows failing consumers or bad messages.</a:t>
            </a:r>
            <a:endParaRPr/>
          </a:p>
        </p:txBody>
      </p:sp>
      <p:sp>
        <p:nvSpPr>
          <p:cNvPr id="416" name="Google Shape;416;p62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17" name="Google Shape;417;p62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457200" y="2103120"/>
            <a:ext cx="8229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World Use Cases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4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Decoupling microservices with events</a:t>
            </a:r>
            <a:endParaRPr/>
          </a:p>
        </p:txBody>
      </p:sp>
      <p:sp>
        <p:nvSpPr>
          <p:cNvPr id="428" name="Google Shape;428;p64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 do not call consumers directly at runtime.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Consumers can be added later without changing producers.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Enrollment publishes once; notifications and analytics consume later.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Intuition: Async events reduce tight coupling and improve resilience.</a:t>
            </a:r>
            <a:endParaRPr/>
          </a:p>
        </p:txBody>
      </p:sp>
      <p:sp>
        <p:nvSpPr>
          <p:cNvPr id="429" name="Google Shape;429;p64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30" name="Google Shape;430;p64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5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Fan out without tight coupling</a:t>
            </a:r>
            <a:endParaRPr/>
          </a:p>
        </p:txBody>
      </p:sp>
      <p:sp>
        <p:nvSpPr>
          <p:cNvPr id="436" name="Google Shape;436;p65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event can be consumed by multiple independent services.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consumer can scale and deploy independently.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Enrollment events can update stats, send emails, and trigger audits.</a:t>
            </a:r>
            <a:endParaRPr/>
          </a:p>
        </p:txBody>
      </p:sp>
      <p:sp>
        <p:nvSpPr>
          <p:cNvPr id="437" name="Google Shape;437;p65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38" name="Google Shape;438;p65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6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Projections and fast reads</a:t>
            </a:r>
            <a:endParaRPr/>
          </a:p>
        </p:txBody>
      </p:sp>
      <p:sp>
        <p:nvSpPr>
          <p:cNvPr id="444" name="Google Shape;444;p66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projection is a derived view built from events.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built `course_stats` as a projection for fast dashboard reads.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useful when reads need aggregation but writes must stay simple.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Intuition: Write events once, build many read views.</a:t>
            </a:r>
            <a:endParaRPr/>
          </a:p>
        </p:txBody>
      </p:sp>
      <p:sp>
        <p:nvSpPr>
          <p:cNvPr id="445" name="Google Shape;445;p66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46" name="Google Shape;446;p66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7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study: LinkedIn</a:t>
            </a:r>
            <a:endParaRPr/>
          </a:p>
        </p:txBody>
      </p:sp>
      <p:sp>
        <p:nvSpPr>
          <p:cNvPr id="452" name="Google Shape;452;p67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Problem: Many systems needed the same stream of user and system activity.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Approach: Publish activity events once and let multiple consumers process them.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 Teams can add new consumers without changing the producers.</a:t>
            </a:r>
            <a:endParaRPr/>
          </a:p>
        </p:txBody>
      </p:sp>
      <p:sp>
        <p:nvSpPr>
          <p:cNvPr id="453" name="Google Shape;453;p67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54" name="Google Shape;454;p67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8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study: Netflix</a:t>
            </a:r>
            <a:endParaRPr/>
          </a:p>
        </p:txBody>
      </p:sp>
      <p:sp>
        <p:nvSpPr>
          <p:cNvPr id="460" name="Google Shape;460;p68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Problem: High-volume operational and user events needed reliable pipelines.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Approach: Use event streaming as a durable buffer between producers and processors.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 Monitoring and analytics pipelines can scale independently.</a:t>
            </a:r>
            <a:endParaRPr/>
          </a:p>
        </p:txBody>
      </p:sp>
      <p:sp>
        <p:nvSpPr>
          <p:cNvPr id="461" name="Google Shape;461;p68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62" name="Google Shape;462;p68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9"/>
          <p:cNvSpPr txBox="1"/>
          <p:nvPr/>
        </p:nvSpPr>
        <p:spPr>
          <a:xfrm>
            <a:off x="512064" y="374904"/>
            <a:ext cx="8138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study: Uber</a:t>
            </a:r>
            <a:endParaRPr/>
          </a:p>
        </p:txBody>
      </p:sp>
      <p:sp>
        <p:nvSpPr>
          <p:cNvPr id="468" name="Google Shape;468;p69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Problem: Many real-time services must react to rapidly changing events.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Approach: Use event streams to avoid long synchronous call chains.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Result: Systems stay responsive under spikes by decoupling work.</a:t>
            </a:r>
            <a:endParaRPr/>
          </a:p>
        </p:txBody>
      </p:sp>
      <p:sp>
        <p:nvSpPr>
          <p:cNvPr id="469" name="Google Shape;469;p69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70" name="Google Shape;470;p69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0"/>
          <p:cNvSpPr txBox="1"/>
          <p:nvPr/>
        </p:nvSpPr>
        <p:spPr>
          <a:xfrm>
            <a:off x="512064" y="374904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Wrap up</a:t>
            </a:r>
            <a:endParaRPr/>
          </a:p>
        </p:txBody>
      </p:sp>
      <p:sp>
        <p:nvSpPr>
          <p:cNvPr id="476" name="Google Shape;476;p70"/>
          <p:cNvSpPr txBox="1"/>
          <p:nvPr/>
        </p:nvSpPr>
        <p:spPr>
          <a:xfrm>
            <a:off x="649224" y="1335024"/>
            <a:ext cx="7836408" cy="33924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published enrollment events to Kafka on `guvi.events`.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consumed events to build `course_stats` as a MongoDB projection.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a core microservices pattern for async workflows and fast reads.</a:t>
            </a:r>
            <a:endParaRPr/>
          </a:p>
        </p:txBody>
      </p:sp>
      <p:sp>
        <p:nvSpPr>
          <p:cNvPr id="477" name="Google Shape;477;p70"/>
          <p:cNvSpPr txBox="1"/>
          <p:nvPr/>
        </p:nvSpPr>
        <p:spPr>
          <a:xfrm>
            <a:off x="512064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GUVI | SDE with AI</a:t>
            </a:r>
            <a:endParaRPr/>
          </a:p>
        </p:txBody>
      </p:sp>
      <p:sp>
        <p:nvSpPr>
          <p:cNvPr id="478" name="Google Shape;478;p70"/>
          <p:cNvSpPr txBox="1"/>
          <p:nvPr/>
        </p:nvSpPr>
        <p:spPr>
          <a:xfrm>
            <a:off x="7132320" y="490118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 48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