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bbc9a398ef_2_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g3bbc9a398ef_2_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bc9a398ef_2_8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g3bbc9a398ef_2_8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bbc9a398ef_2_1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g3bbc9a398ef_2_1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bbc9a398ef_2_17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g3bbc9a398ef_2_17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bbc9a398ef_2_24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g3bbc9a398ef_2_24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bbc9a398ef_2_31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g3bbc9a398ef_2_31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bbc9a398ef_2_38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3bbc9a398ef_2_38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bbc9a398ef_2_45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g3bbc9a398ef_2_45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bbc9a398ef_2_5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g3bbc9a398ef_2_5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bbc9a398ef_2_59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g3bbc9a398ef_2_59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bbc9a398ef_2_66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bbc9a398ef_2_66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bbc9a398ef_2_73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g3bbc9a398ef_2_73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bc9a398ef_2_80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3bbc9a398ef_2_80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bbc9a398ef_2_87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bbc9a398ef_2_87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bbc9a398ef_2_94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g3bbc9a398ef_2_94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bbc9a398ef_2_101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3bbc9a398ef_2_101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bbc9a398ef_2_108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3bbc9a398ef_2_108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bbc9a398ef_2_115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g3bbc9a398ef_2_115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bbc9a398ef_2_12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g3bbc9a398ef_2_12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bbc9a398ef_2_129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g3bbc9a398ef_2_129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bbc9a398ef_2_133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g3bbc9a398ef_2_133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bbc9a398ef_2_138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g3bbc9a398ef_2_138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bbc9a398ef_2_143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g3bbc9a398ef_2_143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bbc9a398ef_2_153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g3bbc9a398ef_2_153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bbc9a398ef_2_160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g3bbc9a398ef_2_160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bbc9a398ef_2_165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g3bbc9a398ef_2_165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bbc9a398ef_2_175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g3bbc9a398ef_2_175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bbc9a398ef_2_18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g3bbc9a398ef_2_18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bbc9a398ef_2_187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g3bbc9a398ef_2_187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bbc9a398ef_2_19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g3bbc9a398ef_2_19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bbc9a398ef_2_197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g3bbc9a398ef_2_197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bbc9a398ef_2_204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g3bbc9a398ef_2_204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bbc9a398ef_2_211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g3bbc9a398ef_2_211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bbc9a398ef_2_215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g3bbc9a398ef_2_215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bbc9a398ef_2_220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g3bbc9a398ef_2_220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bbc9a398ef_2_225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g3bbc9a398ef_2_225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bbc9a398ef_2_23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g3bbc9a398ef_2_23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bbc9a398ef_2_237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g3bbc9a398ef_2_237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bbc9a398ef_2_244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g3bbc9a398ef_2_244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bbc9a398ef_2_251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g3bbc9a398ef_2_251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bbc9a398ef_2_255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g3bbc9a398ef_2_255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bbc9a398ef_2_260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g3bbc9a398ef_2_260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bbc9a398ef_2_265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g3bbc9a398ef_2_265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bbc9a398ef_0_1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g3bbc9a398ef_0_1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bbc9a398ef_2_27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g3bbc9a398ef_2_27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bbc9a398ef_2_291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g3bbc9a398ef_2_291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bbc9a398ef_2_295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g3bbc9a398ef_2_295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B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 txBox="1"/>
          <p:nvPr/>
        </p:nvSpPr>
        <p:spPr>
          <a:xfrm>
            <a:off x="514350" y="147447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Module 4 - Spring Boot Fundamentals</a:t>
            </a:r>
            <a:endParaRPr sz="1100"/>
          </a:p>
        </p:txBody>
      </p:sp>
      <p:sp>
        <p:nvSpPr>
          <p:cNvPr id="57" name="Google Shape;57;p15"/>
          <p:cNvSpPr txBox="1"/>
          <p:nvPr/>
        </p:nvSpPr>
        <p:spPr>
          <a:xfrm>
            <a:off x="514350" y="189189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Search, Filters, Pagination, Sorting</a:t>
            </a:r>
            <a:endParaRPr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B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/>
        </p:nvSpPr>
        <p:spPr>
          <a:xfrm>
            <a:off x="0" y="1988820"/>
            <a:ext cx="9141714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Warm-up quiz</a:t>
            </a: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/>
        </p:nvSpPr>
        <p:spPr>
          <a:xfrm>
            <a:off x="514350" y="240030"/>
            <a:ext cx="82296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Warm-up</a:t>
            </a:r>
            <a:endParaRPr sz="1100"/>
          </a:p>
        </p:txBody>
      </p:sp>
      <p:sp>
        <p:nvSpPr>
          <p:cNvPr id="68" name="Google Shape;68;p17"/>
          <p:cNvSpPr txBox="1"/>
          <p:nvPr/>
        </p:nvSpPr>
        <p:spPr>
          <a:xfrm>
            <a:off x="617220" y="857250"/>
            <a:ext cx="8023800" cy="40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17145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8 questions, multiple choice.</a:t>
            </a:r>
            <a:endParaRPr sz="1100"/>
          </a:p>
          <a:p>
            <a:pPr indent="-17145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Reply format: 1 / 2 / 3 / 4.</a:t>
            </a:r>
            <a:endParaRPr sz="1100"/>
          </a:p>
          <a:p>
            <a:pPr indent="-17145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Time: 8 minutes.</a:t>
            </a:r>
            <a:endParaRPr sz="1100"/>
          </a:p>
          <a:p>
            <a:pPr indent="-17145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Topics: Spring MVC annotations, request input binding, query parameters, validation trigger, global exception handling.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/>
          <p:nvPr/>
        </p:nvSpPr>
        <p:spPr>
          <a:xfrm>
            <a:off x="514350" y="240030"/>
            <a:ext cx="82296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Question 1</a:t>
            </a:r>
            <a:endParaRPr sz="1100"/>
          </a:p>
        </p:txBody>
      </p:sp>
      <p:sp>
        <p:nvSpPr>
          <p:cNvPr id="74" name="Google Shape;74;p18"/>
          <p:cNvSpPr txBox="1"/>
          <p:nvPr/>
        </p:nvSpPr>
        <p:spPr>
          <a:xfrm>
            <a:off x="617220" y="822960"/>
            <a:ext cx="8023860" cy="5829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Which annotation is the best fit to map a controller method to GET /students?</a:t>
            </a:r>
            <a:endParaRPr sz="1100"/>
          </a:p>
        </p:txBody>
      </p:sp>
      <p:sp>
        <p:nvSpPr>
          <p:cNvPr id="75" name="Google Shape;75;p18"/>
          <p:cNvSpPr txBox="1"/>
          <p:nvPr/>
        </p:nvSpPr>
        <p:spPr>
          <a:xfrm>
            <a:off x="617220" y="1577340"/>
            <a:ext cx="8023800" cy="21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1) @PutMapping("/students")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2) @RequestMapping(method = RequestMethod.POST, value = "/students")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3) @GetMapping("/students")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4) @PostMapping("/students")</a:t>
            </a:r>
            <a:endParaRPr sz="1100"/>
          </a:p>
        </p:txBody>
      </p:sp>
      <p:sp>
        <p:nvSpPr>
          <p:cNvPr id="76" name="Google Shape;76;p18"/>
          <p:cNvSpPr txBox="1"/>
          <p:nvPr/>
        </p:nvSpPr>
        <p:spPr>
          <a:xfrm>
            <a:off x="617220" y="4629150"/>
            <a:ext cx="80238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Reply format: 1 / 2 / 3 / 4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9"/>
          <p:cNvSpPr txBox="1"/>
          <p:nvPr/>
        </p:nvSpPr>
        <p:spPr>
          <a:xfrm>
            <a:off x="514350" y="240030"/>
            <a:ext cx="82296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Answer 1</a:t>
            </a:r>
            <a:endParaRPr sz="1100"/>
          </a:p>
        </p:txBody>
      </p:sp>
      <p:sp>
        <p:nvSpPr>
          <p:cNvPr id="82" name="Google Shape;82;p19"/>
          <p:cNvSpPr txBox="1"/>
          <p:nvPr/>
        </p:nvSpPr>
        <p:spPr>
          <a:xfrm>
            <a:off x="617220" y="822960"/>
            <a:ext cx="8023860" cy="5829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Which annotation is the best fit to map a controller method to GET /students?</a:t>
            </a:r>
            <a:endParaRPr sz="1100"/>
          </a:p>
        </p:txBody>
      </p:sp>
      <p:sp>
        <p:nvSpPr>
          <p:cNvPr id="83" name="Google Shape;83;p19"/>
          <p:cNvSpPr txBox="1"/>
          <p:nvPr/>
        </p:nvSpPr>
        <p:spPr>
          <a:xfrm>
            <a:off x="617220" y="1577340"/>
            <a:ext cx="8023860" cy="18859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1) @PutMapping("/students")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2) @RequestMapping(method = RequestMethod.POST, value = "/students")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3) @GetMapping("/students")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4) @PostMapping("/students")</a:t>
            </a:r>
            <a:endParaRPr sz="1100"/>
          </a:p>
        </p:txBody>
      </p:sp>
      <p:sp>
        <p:nvSpPr>
          <p:cNvPr id="84" name="Google Shape;84;p19"/>
          <p:cNvSpPr txBox="1"/>
          <p:nvPr/>
        </p:nvSpPr>
        <p:spPr>
          <a:xfrm>
            <a:off x="617220" y="3531870"/>
            <a:ext cx="8023860" cy="106299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Correct answer: 3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Why: @GetMapping maps HTTP GET requests to a path, which is the standard method for reading data.</a:t>
            </a:r>
            <a:endParaRPr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0"/>
          <p:cNvSpPr txBox="1"/>
          <p:nvPr/>
        </p:nvSpPr>
        <p:spPr>
          <a:xfrm>
            <a:off x="514350" y="240030"/>
            <a:ext cx="82296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Question 2</a:t>
            </a:r>
            <a:endParaRPr sz="1100"/>
          </a:p>
        </p:txBody>
      </p:sp>
      <p:sp>
        <p:nvSpPr>
          <p:cNvPr id="90" name="Google Shape;90;p20"/>
          <p:cNvSpPr txBox="1"/>
          <p:nvPr/>
        </p:nvSpPr>
        <p:spPr>
          <a:xfrm>
            <a:off x="617220" y="822960"/>
            <a:ext cx="8023860" cy="5829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 request comes in as GET /students/18. Which annotation reads 18 into a method parameter?</a:t>
            </a:r>
            <a:endParaRPr sz="1100"/>
          </a:p>
        </p:txBody>
      </p:sp>
      <p:sp>
        <p:nvSpPr>
          <p:cNvPr id="91" name="Google Shape;91;p20"/>
          <p:cNvSpPr txBox="1"/>
          <p:nvPr/>
        </p:nvSpPr>
        <p:spPr>
          <a:xfrm>
            <a:off x="617220" y="1577340"/>
            <a:ext cx="802386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1) @RequestBody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2) @ResponseBody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3) @RequestParam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4) @PathVariable</a:t>
            </a:r>
            <a:endParaRPr sz="1100"/>
          </a:p>
        </p:txBody>
      </p:sp>
      <p:sp>
        <p:nvSpPr>
          <p:cNvPr id="92" name="Google Shape;92;p20"/>
          <p:cNvSpPr txBox="1"/>
          <p:nvPr/>
        </p:nvSpPr>
        <p:spPr>
          <a:xfrm>
            <a:off x="617220" y="4629150"/>
            <a:ext cx="80238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Reply format: 1 / 2 / 3 / 4</a:t>
            </a:r>
            <a:endParaRPr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1"/>
          <p:cNvSpPr txBox="1"/>
          <p:nvPr/>
        </p:nvSpPr>
        <p:spPr>
          <a:xfrm>
            <a:off x="514350" y="240030"/>
            <a:ext cx="82296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Answer 2</a:t>
            </a:r>
            <a:endParaRPr sz="1100"/>
          </a:p>
        </p:txBody>
      </p:sp>
      <p:sp>
        <p:nvSpPr>
          <p:cNvPr id="98" name="Google Shape;98;p21"/>
          <p:cNvSpPr txBox="1"/>
          <p:nvPr/>
        </p:nvSpPr>
        <p:spPr>
          <a:xfrm>
            <a:off x="617220" y="822960"/>
            <a:ext cx="8023860" cy="5829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 request comes in as GET /students/18. Which annotation reads 18 into a method parameter?</a:t>
            </a:r>
            <a:endParaRPr sz="1100"/>
          </a:p>
        </p:txBody>
      </p:sp>
      <p:sp>
        <p:nvSpPr>
          <p:cNvPr id="99" name="Google Shape;99;p21"/>
          <p:cNvSpPr txBox="1"/>
          <p:nvPr/>
        </p:nvSpPr>
        <p:spPr>
          <a:xfrm>
            <a:off x="617220" y="1577340"/>
            <a:ext cx="8023860" cy="18859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1) @RequestBody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2) @ResponseBody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3) @RequestParam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4) @PathVariable</a:t>
            </a:r>
            <a:endParaRPr sz="1100"/>
          </a:p>
        </p:txBody>
      </p:sp>
      <p:sp>
        <p:nvSpPr>
          <p:cNvPr id="100" name="Google Shape;100;p21"/>
          <p:cNvSpPr txBox="1"/>
          <p:nvPr/>
        </p:nvSpPr>
        <p:spPr>
          <a:xfrm>
            <a:off x="617220" y="3531870"/>
            <a:ext cx="8023860" cy="106299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Correct answer: 4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Why: @PathVariable extracts values from the URL path. In /students/18, the id is in the path.</a:t>
            </a:r>
            <a:endParaRPr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2"/>
          <p:cNvSpPr txBox="1"/>
          <p:nvPr/>
        </p:nvSpPr>
        <p:spPr>
          <a:xfrm>
            <a:off x="514350" y="240030"/>
            <a:ext cx="82296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Question 3</a:t>
            </a:r>
            <a:endParaRPr sz="1100"/>
          </a:p>
        </p:txBody>
      </p:sp>
      <p:sp>
        <p:nvSpPr>
          <p:cNvPr id="106" name="Google Shape;106;p22"/>
          <p:cNvSpPr txBox="1"/>
          <p:nvPr/>
        </p:nvSpPr>
        <p:spPr>
          <a:xfrm>
            <a:off x="617220" y="822960"/>
            <a:ext cx="8023860" cy="5829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Which request uses query parameters?</a:t>
            </a:r>
            <a:endParaRPr sz="1100"/>
          </a:p>
        </p:txBody>
      </p:sp>
      <p:sp>
        <p:nvSpPr>
          <p:cNvPr id="107" name="Google Shape;107;p22"/>
          <p:cNvSpPr txBox="1"/>
          <p:nvPr/>
        </p:nvSpPr>
        <p:spPr>
          <a:xfrm>
            <a:off x="617220" y="1577340"/>
            <a:ext cx="802386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1) POST /students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2) GET /students?page=1&amp;size=5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3) DELETE /students/18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4) GET /students/18</a:t>
            </a:r>
            <a:endParaRPr sz="1100"/>
          </a:p>
        </p:txBody>
      </p:sp>
      <p:sp>
        <p:nvSpPr>
          <p:cNvPr id="108" name="Google Shape;108;p22"/>
          <p:cNvSpPr txBox="1"/>
          <p:nvPr/>
        </p:nvSpPr>
        <p:spPr>
          <a:xfrm>
            <a:off x="617220" y="4629150"/>
            <a:ext cx="80238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Reply format: 1 / 2 / 3 / 4</a:t>
            </a:r>
            <a:endParaRPr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3"/>
          <p:cNvSpPr txBox="1"/>
          <p:nvPr/>
        </p:nvSpPr>
        <p:spPr>
          <a:xfrm>
            <a:off x="514350" y="240030"/>
            <a:ext cx="82296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Answer 3</a:t>
            </a:r>
            <a:endParaRPr sz="1100"/>
          </a:p>
        </p:txBody>
      </p:sp>
      <p:sp>
        <p:nvSpPr>
          <p:cNvPr id="114" name="Google Shape;114;p23"/>
          <p:cNvSpPr txBox="1"/>
          <p:nvPr/>
        </p:nvSpPr>
        <p:spPr>
          <a:xfrm>
            <a:off x="617220" y="822960"/>
            <a:ext cx="8023860" cy="5829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Which request uses query parameters?</a:t>
            </a:r>
            <a:endParaRPr sz="1100"/>
          </a:p>
        </p:txBody>
      </p:sp>
      <p:sp>
        <p:nvSpPr>
          <p:cNvPr id="115" name="Google Shape;115;p23"/>
          <p:cNvSpPr txBox="1"/>
          <p:nvPr/>
        </p:nvSpPr>
        <p:spPr>
          <a:xfrm>
            <a:off x="617220" y="1577340"/>
            <a:ext cx="8023860" cy="18859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1) POST /students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2) GET /students?page=1&amp;size=5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3) DELETE /students/18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4) GET /students/18</a:t>
            </a:r>
            <a:endParaRPr sz="1100"/>
          </a:p>
        </p:txBody>
      </p:sp>
      <p:sp>
        <p:nvSpPr>
          <p:cNvPr id="116" name="Google Shape;116;p23"/>
          <p:cNvSpPr txBox="1"/>
          <p:nvPr/>
        </p:nvSpPr>
        <p:spPr>
          <a:xfrm>
            <a:off x="617220" y="3531870"/>
            <a:ext cx="8023860" cy="106299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Correct answer: 2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Why: Query parameters appear after ? as key-value pairs like page=1 and size=5.</a:t>
            </a:r>
            <a:endParaRPr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/>
          <p:nvPr/>
        </p:nvSpPr>
        <p:spPr>
          <a:xfrm>
            <a:off x="514350" y="240030"/>
            <a:ext cx="82296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Question 4</a:t>
            </a:r>
            <a:endParaRPr sz="1100"/>
          </a:p>
        </p:txBody>
      </p:sp>
      <p:sp>
        <p:nvSpPr>
          <p:cNvPr id="122" name="Google Shape;122;p24"/>
          <p:cNvSpPr txBox="1"/>
          <p:nvPr/>
        </p:nvSpPr>
        <p:spPr>
          <a:xfrm>
            <a:off x="617220" y="822960"/>
            <a:ext cx="8023860" cy="5829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Which annotation reads JSON from the request body and converts it into a Java object?</a:t>
            </a:r>
            <a:endParaRPr sz="1100"/>
          </a:p>
        </p:txBody>
      </p:sp>
      <p:sp>
        <p:nvSpPr>
          <p:cNvPr id="123" name="Google Shape;123;p24"/>
          <p:cNvSpPr txBox="1"/>
          <p:nvPr/>
        </p:nvSpPr>
        <p:spPr>
          <a:xfrm>
            <a:off x="617220" y="1577340"/>
            <a:ext cx="802386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1) @Component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2) @RequestBody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3) @RequestParam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4) @PathVariable</a:t>
            </a:r>
            <a:endParaRPr sz="1100"/>
          </a:p>
        </p:txBody>
      </p:sp>
      <p:sp>
        <p:nvSpPr>
          <p:cNvPr id="124" name="Google Shape;124;p24"/>
          <p:cNvSpPr txBox="1"/>
          <p:nvPr/>
        </p:nvSpPr>
        <p:spPr>
          <a:xfrm>
            <a:off x="617220" y="4629150"/>
            <a:ext cx="80238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Reply format: 1 / 2 / 3 / 4</a:t>
            </a:r>
            <a:endParaRPr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/>
        </p:nvSpPr>
        <p:spPr>
          <a:xfrm>
            <a:off x="514350" y="240030"/>
            <a:ext cx="82296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Answer 4</a:t>
            </a:r>
            <a:endParaRPr sz="1100"/>
          </a:p>
        </p:txBody>
      </p:sp>
      <p:sp>
        <p:nvSpPr>
          <p:cNvPr id="130" name="Google Shape;130;p25"/>
          <p:cNvSpPr txBox="1"/>
          <p:nvPr/>
        </p:nvSpPr>
        <p:spPr>
          <a:xfrm>
            <a:off x="617220" y="822960"/>
            <a:ext cx="8023860" cy="5829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Which annotation reads JSON from the request body and converts it into a Java object?</a:t>
            </a:r>
            <a:endParaRPr sz="1100"/>
          </a:p>
        </p:txBody>
      </p:sp>
      <p:sp>
        <p:nvSpPr>
          <p:cNvPr id="131" name="Google Shape;131;p25"/>
          <p:cNvSpPr txBox="1"/>
          <p:nvPr/>
        </p:nvSpPr>
        <p:spPr>
          <a:xfrm>
            <a:off x="617220" y="1577340"/>
            <a:ext cx="8023860" cy="18859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1) @Component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2) @RequestBody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3) @RequestParam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4) @PathVariable</a:t>
            </a:r>
            <a:endParaRPr sz="1100"/>
          </a:p>
        </p:txBody>
      </p:sp>
      <p:sp>
        <p:nvSpPr>
          <p:cNvPr id="132" name="Google Shape;132;p25"/>
          <p:cNvSpPr txBox="1"/>
          <p:nvPr/>
        </p:nvSpPr>
        <p:spPr>
          <a:xfrm>
            <a:off x="617220" y="3531870"/>
            <a:ext cx="8023860" cy="106299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Correct answer: 2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Why: @RequestBody tells Spring to read the request body and deserialize JSON into the declared Java type.</a:t>
            </a:r>
            <a:endParaRPr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6"/>
          <p:cNvSpPr txBox="1"/>
          <p:nvPr/>
        </p:nvSpPr>
        <p:spPr>
          <a:xfrm>
            <a:off x="514350" y="240030"/>
            <a:ext cx="82296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Question 5</a:t>
            </a:r>
            <a:endParaRPr sz="1100"/>
          </a:p>
        </p:txBody>
      </p:sp>
      <p:sp>
        <p:nvSpPr>
          <p:cNvPr id="138" name="Google Shape;138;p26"/>
          <p:cNvSpPr txBox="1"/>
          <p:nvPr/>
        </p:nvSpPr>
        <p:spPr>
          <a:xfrm>
            <a:off x="617220" y="822960"/>
            <a:ext cx="8023860" cy="5829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In a controller method, what does @Valid do when used with a request DTO?</a:t>
            </a:r>
            <a:endParaRPr sz="1100"/>
          </a:p>
        </p:txBody>
      </p:sp>
      <p:sp>
        <p:nvSpPr>
          <p:cNvPr id="139" name="Google Shape;139;p26"/>
          <p:cNvSpPr txBox="1"/>
          <p:nvPr/>
        </p:nvSpPr>
        <p:spPr>
          <a:xfrm>
            <a:off x="617220" y="1577340"/>
            <a:ext cx="802386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1) It converts path variables into integers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2) It validates the DTO before the controller method continues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3) It automatically saves the DTO into the database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4) It logs the request body to the console</a:t>
            </a:r>
            <a:endParaRPr sz="1100"/>
          </a:p>
        </p:txBody>
      </p:sp>
      <p:sp>
        <p:nvSpPr>
          <p:cNvPr id="140" name="Google Shape;140;p26"/>
          <p:cNvSpPr txBox="1"/>
          <p:nvPr/>
        </p:nvSpPr>
        <p:spPr>
          <a:xfrm>
            <a:off x="617220" y="4629150"/>
            <a:ext cx="80238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Reply format: 1 / 2 / 3 / 4</a:t>
            </a:r>
            <a:endParaRPr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7"/>
          <p:cNvSpPr txBox="1"/>
          <p:nvPr/>
        </p:nvSpPr>
        <p:spPr>
          <a:xfrm>
            <a:off x="514350" y="240030"/>
            <a:ext cx="82296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Answer 5</a:t>
            </a:r>
            <a:endParaRPr sz="1100"/>
          </a:p>
        </p:txBody>
      </p:sp>
      <p:sp>
        <p:nvSpPr>
          <p:cNvPr id="146" name="Google Shape;146;p27"/>
          <p:cNvSpPr txBox="1"/>
          <p:nvPr/>
        </p:nvSpPr>
        <p:spPr>
          <a:xfrm>
            <a:off x="617220" y="822960"/>
            <a:ext cx="8023860" cy="5829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In a controller method, what does @Valid do when used with a request DTO?</a:t>
            </a:r>
            <a:endParaRPr sz="1100"/>
          </a:p>
        </p:txBody>
      </p:sp>
      <p:sp>
        <p:nvSpPr>
          <p:cNvPr id="147" name="Google Shape;147;p27"/>
          <p:cNvSpPr txBox="1"/>
          <p:nvPr/>
        </p:nvSpPr>
        <p:spPr>
          <a:xfrm>
            <a:off x="617220" y="1577340"/>
            <a:ext cx="8023860" cy="18859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1) It converts path variables into integers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2) It validates the DTO before the controller method continues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3) It automatically saves the DTO into the database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4) It logs the request body to the console</a:t>
            </a:r>
            <a:endParaRPr sz="1100"/>
          </a:p>
        </p:txBody>
      </p:sp>
      <p:sp>
        <p:nvSpPr>
          <p:cNvPr id="148" name="Google Shape;148;p27"/>
          <p:cNvSpPr txBox="1"/>
          <p:nvPr/>
        </p:nvSpPr>
        <p:spPr>
          <a:xfrm>
            <a:off x="617220" y="3531870"/>
            <a:ext cx="8023860" cy="106299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Correct answer: 2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Why: @Valid triggers validation rules. If rules fail, Spring stops the request before calling service logic.</a:t>
            </a:r>
            <a:endParaRPr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8"/>
          <p:cNvSpPr txBox="1"/>
          <p:nvPr/>
        </p:nvSpPr>
        <p:spPr>
          <a:xfrm>
            <a:off x="514350" y="240030"/>
            <a:ext cx="82296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Question 6</a:t>
            </a:r>
            <a:endParaRPr sz="1100"/>
          </a:p>
        </p:txBody>
      </p:sp>
      <p:sp>
        <p:nvSpPr>
          <p:cNvPr id="154" name="Google Shape;154;p28"/>
          <p:cNvSpPr txBox="1"/>
          <p:nvPr/>
        </p:nvSpPr>
        <p:spPr>
          <a:xfrm>
            <a:off x="617220" y="822960"/>
            <a:ext cx="8023860" cy="5829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What is the main purpose of @RestController?</a:t>
            </a:r>
            <a:endParaRPr sz="1100"/>
          </a:p>
        </p:txBody>
      </p:sp>
      <p:sp>
        <p:nvSpPr>
          <p:cNvPr id="155" name="Google Shape;155;p28"/>
          <p:cNvSpPr txBox="1"/>
          <p:nvPr/>
        </p:nvSpPr>
        <p:spPr>
          <a:xfrm>
            <a:off x="617220" y="1577340"/>
            <a:ext cx="802386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1) It creates a global exception handler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2) It makes controller methods return response bodies, usually JSON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3) It enables validation annotations like @NotBlank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4) It marks a class as a database repository</a:t>
            </a:r>
            <a:endParaRPr sz="1100"/>
          </a:p>
        </p:txBody>
      </p:sp>
      <p:sp>
        <p:nvSpPr>
          <p:cNvPr id="156" name="Google Shape;156;p28"/>
          <p:cNvSpPr txBox="1"/>
          <p:nvPr/>
        </p:nvSpPr>
        <p:spPr>
          <a:xfrm>
            <a:off x="617220" y="4629150"/>
            <a:ext cx="80238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Reply format: 1 / 2 / 3 / 4</a:t>
            </a:r>
            <a:endParaRPr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9"/>
          <p:cNvSpPr txBox="1"/>
          <p:nvPr/>
        </p:nvSpPr>
        <p:spPr>
          <a:xfrm>
            <a:off x="514350" y="240030"/>
            <a:ext cx="82296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Answer 6</a:t>
            </a:r>
            <a:endParaRPr sz="1100"/>
          </a:p>
        </p:txBody>
      </p:sp>
      <p:sp>
        <p:nvSpPr>
          <p:cNvPr id="162" name="Google Shape;162;p29"/>
          <p:cNvSpPr txBox="1"/>
          <p:nvPr/>
        </p:nvSpPr>
        <p:spPr>
          <a:xfrm>
            <a:off x="617220" y="822960"/>
            <a:ext cx="8023860" cy="5829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What is the main purpose of @RestController?</a:t>
            </a:r>
            <a:endParaRPr sz="1100"/>
          </a:p>
        </p:txBody>
      </p:sp>
      <p:sp>
        <p:nvSpPr>
          <p:cNvPr id="163" name="Google Shape;163;p29"/>
          <p:cNvSpPr txBox="1"/>
          <p:nvPr/>
        </p:nvSpPr>
        <p:spPr>
          <a:xfrm>
            <a:off x="617220" y="1577340"/>
            <a:ext cx="8023860" cy="18859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1) It creates a global exception handler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2) It makes controller methods return response bodies, usually JSON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3) It enables validation annotations like @NotBlank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4) It marks a class as a database repository</a:t>
            </a:r>
            <a:endParaRPr sz="1100"/>
          </a:p>
        </p:txBody>
      </p:sp>
      <p:sp>
        <p:nvSpPr>
          <p:cNvPr id="164" name="Google Shape;164;p29"/>
          <p:cNvSpPr txBox="1"/>
          <p:nvPr/>
        </p:nvSpPr>
        <p:spPr>
          <a:xfrm>
            <a:off x="617220" y="3531870"/>
            <a:ext cx="8023860" cy="106299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Correct answer: 2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Why: @RestController is used for APIs. It writes return values into the HTTP response body.</a:t>
            </a:r>
            <a:endParaRPr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0"/>
          <p:cNvSpPr txBox="1"/>
          <p:nvPr/>
        </p:nvSpPr>
        <p:spPr>
          <a:xfrm>
            <a:off x="514350" y="240030"/>
            <a:ext cx="82296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Question 7</a:t>
            </a:r>
            <a:endParaRPr sz="1100"/>
          </a:p>
        </p:txBody>
      </p:sp>
      <p:sp>
        <p:nvSpPr>
          <p:cNvPr id="170" name="Google Shape;170;p30"/>
          <p:cNvSpPr txBox="1"/>
          <p:nvPr/>
        </p:nvSpPr>
        <p:spPr>
          <a:xfrm>
            <a:off x="617220" y="822960"/>
            <a:ext cx="8023860" cy="5829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What is @RestControllerAdvice used for?</a:t>
            </a:r>
            <a:endParaRPr sz="1100"/>
          </a:p>
        </p:txBody>
      </p:sp>
      <p:sp>
        <p:nvSpPr>
          <p:cNvPr id="171" name="Google Shape;171;p30"/>
          <p:cNvSpPr txBox="1"/>
          <p:nvPr/>
        </p:nvSpPr>
        <p:spPr>
          <a:xfrm>
            <a:off x="617220" y="1577340"/>
            <a:ext cx="802386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1) It converts JSON into Java objects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2) It seeds test data when the application starts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3) It handles exceptions across all controllers in one place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4) It maps GET requests to a controller method</a:t>
            </a:r>
            <a:endParaRPr sz="1100"/>
          </a:p>
        </p:txBody>
      </p:sp>
      <p:sp>
        <p:nvSpPr>
          <p:cNvPr id="172" name="Google Shape;172;p30"/>
          <p:cNvSpPr txBox="1"/>
          <p:nvPr/>
        </p:nvSpPr>
        <p:spPr>
          <a:xfrm>
            <a:off x="617220" y="4629150"/>
            <a:ext cx="80238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Reply format: 1 / 2 / 3 / 4</a:t>
            </a:r>
            <a:endParaRPr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1"/>
          <p:cNvSpPr txBox="1"/>
          <p:nvPr/>
        </p:nvSpPr>
        <p:spPr>
          <a:xfrm>
            <a:off x="514350" y="240030"/>
            <a:ext cx="82296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Answer 7</a:t>
            </a:r>
            <a:endParaRPr sz="1100"/>
          </a:p>
        </p:txBody>
      </p:sp>
      <p:sp>
        <p:nvSpPr>
          <p:cNvPr id="178" name="Google Shape;178;p31"/>
          <p:cNvSpPr txBox="1"/>
          <p:nvPr/>
        </p:nvSpPr>
        <p:spPr>
          <a:xfrm>
            <a:off x="617220" y="822960"/>
            <a:ext cx="8023860" cy="5829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What is @RestControllerAdvice used for?</a:t>
            </a:r>
            <a:endParaRPr sz="1100"/>
          </a:p>
        </p:txBody>
      </p:sp>
      <p:sp>
        <p:nvSpPr>
          <p:cNvPr id="179" name="Google Shape;179;p31"/>
          <p:cNvSpPr txBox="1"/>
          <p:nvPr/>
        </p:nvSpPr>
        <p:spPr>
          <a:xfrm>
            <a:off x="617220" y="1577340"/>
            <a:ext cx="8023860" cy="18859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1) It converts JSON into Java objects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2) It seeds test data when the application starts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3) It handles exceptions across all controllers in one place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4) It maps GET requests to a controller method</a:t>
            </a:r>
            <a:endParaRPr sz="1100"/>
          </a:p>
        </p:txBody>
      </p:sp>
      <p:sp>
        <p:nvSpPr>
          <p:cNvPr id="180" name="Google Shape;180;p31"/>
          <p:cNvSpPr txBox="1"/>
          <p:nvPr/>
        </p:nvSpPr>
        <p:spPr>
          <a:xfrm>
            <a:off x="617220" y="3531870"/>
            <a:ext cx="8023860" cy="106299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Correct answer: 3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Why: @RestControllerAdvice applies globally and lets you convert exceptions into consistent HTTP responses.</a:t>
            </a:r>
            <a:endParaRPr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2"/>
          <p:cNvSpPr txBox="1"/>
          <p:nvPr/>
        </p:nvSpPr>
        <p:spPr>
          <a:xfrm>
            <a:off x="514350" y="240030"/>
            <a:ext cx="82296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Question 8</a:t>
            </a:r>
            <a:endParaRPr sz="1100"/>
          </a:p>
        </p:txBody>
      </p:sp>
      <p:sp>
        <p:nvSpPr>
          <p:cNvPr id="186" name="Google Shape;186;p32"/>
          <p:cNvSpPr txBox="1"/>
          <p:nvPr/>
        </p:nvSpPr>
        <p:spPr>
          <a:xfrm>
            <a:off x="617220" y="822960"/>
            <a:ext cx="8023860" cy="5829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 client calls GET /students?name=riya&amp;page=0&amp;size=5. Which inputs come from query parameters?</a:t>
            </a:r>
            <a:endParaRPr sz="1100"/>
          </a:p>
        </p:txBody>
      </p:sp>
      <p:sp>
        <p:nvSpPr>
          <p:cNvPr id="187" name="Google Shape;187;p32"/>
          <p:cNvSpPr txBox="1"/>
          <p:nvPr/>
        </p:nvSpPr>
        <p:spPr>
          <a:xfrm>
            <a:off x="617220" y="1577340"/>
            <a:ext cx="802386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1) None of them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2) Only page and size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3) name, page, and size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4) Only name</a:t>
            </a:r>
            <a:endParaRPr sz="1100"/>
          </a:p>
        </p:txBody>
      </p:sp>
      <p:sp>
        <p:nvSpPr>
          <p:cNvPr id="188" name="Google Shape;188;p32"/>
          <p:cNvSpPr txBox="1"/>
          <p:nvPr/>
        </p:nvSpPr>
        <p:spPr>
          <a:xfrm>
            <a:off x="617220" y="4629150"/>
            <a:ext cx="80238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Reply format: 1 / 2 / 3 / 4</a:t>
            </a:r>
            <a:endParaRPr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3"/>
          <p:cNvSpPr txBox="1"/>
          <p:nvPr/>
        </p:nvSpPr>
        <p:spPr>
          <a:xfrm>
            <a:off x="514350" y="240030"/>
            <a:ext cx="82296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Answer 8</a:t>
            </a:r>
            <a:endParaRPr sz="1100"/>
          </a:p>
        </p:txBody>
      </p:sp>
      <p:sp>
        <p:nvSpPr>
          <p:cNvPr id="194" name="Google Shape;194;p33"/>
          <p:cNvSpPr txBox="1"/>
          <p:nvPr/>
        </p:nvSpPr>
        <p:spPr>
          <a:xfrm>
            <a:off x="617220" y="822960"/>
            <a:ext cx="8023860" cy="5829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 client calls GET /students?name=riya&amp;page=0&amp;size=5. Which inputs come from query parameters?</a:t>
            </a:r>
            <a:endParaRPr sz="1100"/>
          </a:p>
        </p:txBody>
      </p:sp>
      <p:sp>
        <p:nvSpPr>
          <p:cNvPr id="195" name="Google Shape;195;p33"/>
          <p:cNvSpPr txBox="1"/>
          <p:nvPr/>
        </p:nvSpPr>
        <p:spPr>
          <a:xfrm>
            <a:off x="617220" y="1577340"/>
            <a:ext cx="8023860" cy="18859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1) None of them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2) Only page and size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3) name, page, and size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4) Only name</a:t>
            </a:r>
            <a:endParaRPr sz="1100"/>
          </a:p>
        </p:txBody>
      </p:sp>
      <p:sp>
        <p:nvSpPr>
          <p:cNvPr id="196" name="Google Shape;196;p33"/>
          <p:cNvSpPr txBox="1"/>
          <p:nvPr/>
        </p:nvSpPr>
        <p:spPr>
          <a:xfrm>
            <a:off x="617220" y="3531870"/>
            <a:ext cx="8023860" cy="106299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Correct answer: 3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Why: Everything after ? is the query string. Each key-value pair is a query parameter.</a:t>
            </a:r>
            <a:endParaRPr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B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4"/>
          <p:cNvSpPr txBox="1"/>
          <p:nvPr/>
        </p:nvSpPr>
        <p:spPr>
          <a:xfrm>
            <a:off x="0" y="1988820"/>
            <a:ext cx="9141714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Search, filters, pagination</a:t>
            </a:r>
            <a:endParaRPr sz="1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5"/>
          <p:cNvSpPr txBox="1"/>
          <p:nvPr/>
        </p:nvSpPr>
        <p:spPr>
          <a:xfrm>
            <a:off x="514350" y="240030"/>
            <a:ext cx="82296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What does search mean in a list API?</a:t>
            </a:r>
            <a:endParaRPr sz="1100"/>
          </a:p>
        </p:txBody>
      </p:sp>
      <p:sp>
        <p:nvSpPr>
          <p:cNvPr id="207" name="Google Shape;207;p35"/>
          <p:cNvSpPr txBox="1"/>
          <p:nvPr/>
        </p:nvSpPr>
        <p:spPr>
          <a:xfrm>
            <a:off x="617220" y="857250"/>
            <a:ext cx="8023800" cy="16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17145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b="1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list API</a:t>
            </a: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returns a collection</a:t>
            </a:r>
            <a:endParaRPr sz="1500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en" sz="15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Example: </a:t>
            </a:r>
            <a:r>
              <a:rPr lang="en" sz="15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GET /students returns a list of Students</a:t>
            </a: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100"/>
          </a:p>
          <a:p>
            <a:pPr indent="-17145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1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Search</a:t>
            </a: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means narrowing that collection using optional query parameters.</a:t>
            </a:r>
            <a:endParaRPr sz="1100"/>
          </a:p>
          <a:p>
            <a:pPr indent="-17145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The REST pattern is to keep the same list endpoint and add search inputs as query parameters.</a:t>
            </a:r>
            <a:endParaRPr sz="1100"/>
          </a:p>
          <a:p>
            <a:pPr indent="-171450" lvl="1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GET /students?name=riya</a:t>
            </a:r>
            <a:endParaRPr sz="1100"/>
          </a:p>
          <a:p>
            <a:pPr indent="-171450" lvl="1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GET /students?email=gmail.com</a:t>
            </a:r>
            <a:endParaRPr sz="1100"/>
          </a:p>
          <a:p>
            <a:pPr indent="-17145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 search API must clearly define matching rules so results are predictable.</a:t>
            </a:r>
            <a:endParaRPr sz="1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6"/>
          <p:cNvSpPr txBox="1"/>
          <p:nvPr/>
        </p:nvSpPr>
        <p:spPr>
          <a:xfrm>
            <a:off x="514350" y="240030"/>
            <a:ext cx="82296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Matching rules for </a:t>
            </a:r>
            <a:r>
              <a:rPr b="1" lang="en" sz="2600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our</a:t>
            </a:r>
            <a:r>
              <a:rPr b="1" i="0" lang="en" sz="26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 API</a:t>
            </a:r>
            <a:endParaRPr sz="1100"/>
          </a:p>
        </p:txBody>
      </p:sp>
      <p:sp>
        <p:nvSpPr>
          <p:cNvPr id="213" name="Google Shape;213;p36"/>
          <p:cNvSpPr txBox="1"/>
          <p:nvPr/>
        </p:nvSpPr>
        <p:spPr>
          <a:xfrm>
            <a:off x="617220" y="857250"/>
            <a:ext cx="8023860" cy="40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17145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Name filter rule</a:t>
            </a:r>
            <a:endParaRPr sz="1100"/>
          </a:p>
          <a:p>
            <a:pPr indent="-171450" lvl="1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match if student name contains the query value</a:t>
            </a:r>
            <a:endParaRPr sz="1100"/>
          </a:p>
          <a:p>
            <a:pPr indent="-171450" lvl="1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case-insensitive, and leading or trailing spaces are ignored</a:t>
            </a:r>
            <a:endParaRPr sz="1100"/>
          </a:p>
          <a:p>
            <a:pPr indent="-17145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Email filter rule</a:t>
            </a:r>
            <a:endParaRPr sz="1100"/>
          </a:p>
          <a:p>
            <a:pPr indent="-171450" lvl="1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match if student email contains the query value</a:t>
            </a:r>
            <a:endParaRPr sz="1100"/>
          </a:p>
          <a:p>
            <a:pPr indent="-171450" lvl="1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case-insensitive, and leading or trailing spaces are ignored</a:t>
            </a:r>
            <a:endParaRPr sz="1100"/>
          </a:p>
          <a:p>
            <a:pPr indent="-17145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Active filter rule</a:t>
            </a:r>
            <a:endParaRPr sz="1100"/>
          </a:p>
          <a:p>
            <a:pPr indent="-171450" lvl="1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match if student active equals the query value</a:t>
            </a:r>
            <a:endParaRPr sz="1100"/>
          </a:p>
          <a:p>
            <a:pPr indent="-171450" lvl="1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active=true returns only active students, active=false returns only inactive students</a:t>
            </a:r>
            <a:endParaRPr sz="1100"/>
          </a:p>
          <a:p>
            <a:pPr indent="-17145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Missing filters are not applied.</a:t>
            </a:r>
            <a:endParaRPr sz="1100"/>
          </a:p>
          <a:p>
            <a:pPr indent="-171450" lvl="1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no name means do not filter by name</a:t>
            </a:r>
            <a:endParaRPr sz="1100"/>
          </a:p>
          <a:p>
            <a:pPr indent="-171450" lvl="1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no email means do not filter by email</a:t>
            </a:r>
            <a:endParaRPr sz="1100"/>
          </a:p>
          <a:p>
            <a:pPr indent="-171450" lvl="1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no active means do not filter by active</a:t>
            </a:r>
            <a:endParaRPr sz="11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7"/>
          <p:cNvSpPr txBox="1"/>
          <p:nvPr/>
        </p:nvSpPr>
        <p:spPr>
          <a:xfrm>
            <a:off x="514350" y="240030"/>
            <a:ext cx="82296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Combining filters</a:t>
            </a:r>
            <a:endParaRPr sz="1100"/>
          </a:p>
        </p:txBody>
      </p:sp>
      <p:sp>
        <p:nvSpPr>
          <p:cNvPr id="219" name="Google Shape;219;p37"/>
          <p:cNvSpPr txBox="1"/>
          <p:nvPr/>
        </p:nvSpPr>
        <p:spPr>
          <a:xfrm>
            <a:off x="617220" y="857250"/>
            <a:ext cx="8023860" cy="40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17145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If the client sends multiple filters, the server applies all of them.</a:t>
            </a:r>
            <a:endParaRPr sz="1100"/>
          </a:p>
          <a:p>
            <a:pPr indent="-17145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This API uses AND logic.</a:t>
            </a:r>
            <a:endParaRPr sz="1100"/>
          </a:p>
          <a:p>
            <a:pPr indent="-171450" lvl="1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the student must match name, email, and active when those filters are provided</a:t>
            </a:r>
            <a:endParaRPr sz="1100"/>
          </a:p>
          <a:p>
            <a:pPr indent="-17145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AND is a safe default because it prevents unexpectedly large results.</a:t>
            </a:r>
            <a:endParaRPr sz="1100"/>
          </a:p>
          <a:p>
            <a:pPr indent="-17145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Example</a:t>
            </a:r>
            <a:endParaRPr sz="1100"/>
          </a:p>
          <a:p>
            <a:pPr indent="-171450" lvl="1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GET /students?name=riya&amp;email=gmail.com&amp;active=true</a:t>
            </a:r>
            <a:endParaRPr sz="1100"/>
          </a:p>
          <a:p>
            <a:pPr indent="-171450" lvl="1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returns only students that match all provided filters</a:t>
            </a:r>
            <a:endParaRPr sz="11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8"/>
          <p:cNvSpPr txBox="1"/>
          <p:nvPr/>
        </p:nvSpPr>
        <p:spPr>
          <a:xfrm>
            <a:off x="514350" y="240030"/>
            <a:ext cx="82296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Quick check</a:t>
            </a:r>
            <a:endParaRPr sz="1100"/>
          </a:p>
        </p:txBody>
      </p:sp>
      <p:sp>
        <p:nvSpPr>
          <p:cNvPr id="225" name="Google Shape;225;p38"/>
          <p:cNvSpPr txBox="1"/>
          <p:nvPr/>
        </p:nvSpPr>
        <p:spPr>
          <a:xfrm>
            <a:off x="617225" y="822942"/>
            <a:ext cx="8023800" cy="14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Using the below dataset, what does </a:t>
            </a:r>
            <a:r>
              <a:rPr b="0" i="1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GET /students?name=riya&amp;email=gmail.com</a:t>
            </a: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return?</a:t>
            </a:r>
            <a:b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5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1) Riya Menon, riya.menon@gmail.com, active=true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2) Priya Nair, priya.nair@yahoo.com, active=false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3) Rahul Das, rahul.das@gmail.com, active=true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4) Ananya Pillai, ananya.pillai@outlook.com, active=true</a:t>
            </a:r>
            <a:endParaRPr sz="1500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38"/>
          <p:cNvSpPr txBox="1"/>
          <p:nvPr/>
        </p:nvSpPr>
        <p:spPr>
          <a:xfrm>
            <a:off x="617225" y="2324596"/>
            <a:ext cx="8023800" cy="9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1) Student 1 only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2) Students 1 and 2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3) Students 1 and 3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4) All students</a:t>
            </a:r>
            <a:endParaRPr sz="1100"/>
          </a:p>
        </p:txBody>
      </p:sp>
      <p:sp>
        <p:nvSpPr>
          <p:cNvPr id="227" name="Google Shape;227;p38"/>
          <p:cNvSpPr txBox="1"/>
          <p:nvPr/>
        </p:nvSpPr>
        <p:spPr>
          <a:xfrm>
            <a:off x="617220" y="3531870"/>
            <a:ext cx="80238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Answer: 1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Why: name=riya matches 1 and 2, email=gmail.com matches 1 and 3, AND logic keeps only student 1.</a:t>
            </a:r>
            <a:endParaRPr sz="11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9"/>
          <p:cNvSpPr txBox="1"/>
          <p:nvPr/>
        </p:nvSpPr>
        <p:spPr>
          <a:xfrm>
            <a:off x="514350" y="240030"/>
            <a:ext cx="82296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Filters</a:t>
            </a:r>
            <a:r>
              <a:rPr b="1" lang="en" sz="2600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1" i="0" lang="en" sz="26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" sz="2600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="1" i="0" lang="en" sz="26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ptional </a:t>
            </a:r>
            <a:r>
              <a:rPr b="1" lang="en" sz="2600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1" i="0" lang="en" sz="26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ontrols</a:t>
            </a:r>
            <a:endParaRPr sz="1100"/>
          </a:p>
        </p:txBody>
      </p:sp>
      <p:sp>
        <p:nvSpPr>
          <p:cNvPr id="233" name="Google Shape;233;p39"/>
          <p:cNvSpPr txBox="1"/>
          <p:nvPr/>
        </p:nvSpPr>
        <p:spPr>
          <a:xfrm>
            <a:off x="617220" y="857250"/>
            <a:ext cx="8023800" cy="23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17145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b="1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filter</a:t>
            </a: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is optional input that changes which items appear in a list response.</a:t>
            </a:r>
            <a:endParaRPr sz="1100"/>
          </a:p>
          <a:p>
            <a:pPr indent="-17145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Filters belong in query parameters because they modify the list result, not the endpoint identity.</a:t>
            </a:r>
            <a:endParaRPr sz="1100"/>
          </a:p>
          <a:p>
            <a:pPr indent="-17145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en" sz="15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We’ll update our</a:t>
            </a: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API to support three filters</a:t>
            </a:r>
            <a:r>
              <a:rPr lang="en" sz="15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1100"/>
          </a:p>
          <a:p>
            <a:pPr indent="-171450" lvl="1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1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name</a:t>
            </a: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filters by student name</a:t>
            </a:r>
            <a:endParaRPr sz="1100"/>
          </a:p>
          <a:p>
            <a:pPr indent="-171450" lvl="1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1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email</a:t>
            </a: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filters by student email</a:t>
            </a:r>
            <a:endParaRPr sz="1100"/>
          </a:p>
          <a:p>
            <a:pPr indent="-171450" lvl="1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1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active</a:t>
            </a: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filters by student active status</a:t>
            </a:r>
            <a:endParaRPr sz="1100"/>
          </a:p>
          <a:p>
            <a:pPr indent="-17145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Examples</a:t>
            </a:r>
            <a:endParaRPr sz="1100"/>
          </a:p>
          <a:p>
            <a:pPr indent="-171450" lvl="1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GET /students?name=an</a:t>
            </a:r>
            <a:endParaRPr sz="1100"/>
          </a:p>
          <a:p>
            <a:pPr indent="-171450" lvl="1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GET /students?email=outlook</a:t>
            </a:r>
            <a:endParaRPr sz="1100"/>
          </a:p>
          <a:p>
            <a:pPr indent="-171450" lvl="1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GET /students?active=true</a:t>
            </a:r>
            <a:endParaRPr sz="11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0"/>
          <p:cNvSpPr txBox="1"/>
          <p:nvPr/>
        </p:nvSpPr>
        <p:spPr>
          <a:xfrm>
            <a:off x="514350" y="240030"/>
            <a:ext cx="82296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Server pipeline for list requests</a:t>
            </a:r>
            <a:endParaRPr sz="1100"/>
          </a:p>
        </p:txBody>
      </p:sp>
      <p:sp>
        <p:nvSpPr>
          <p:cNvPr id="239" name="Google Shape;239;p40"/>
          <p:cNvSpPr txBox="1"/>
          <p:nvPr/>
        </p:nvSpPr>
        <p:spPr>
          <a:xfrm>
            <a:off x="617220" y="857250"/>
            <a:ext cx="8023800" cy="3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17145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The server </a:t>
            </a:r>
            <a:r>
              <a:rPr lang="en" sz="15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must use</a:t>
            </a: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one consistent order for list responses. </a:t>
            </a:r>
            <a:r>
              <a:rPr lang="en" sz="15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The order we’ll implement</a:t>
            </a: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1100"/>
          </a:p>
          <a:p>
            <a:pPr indent="-3238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○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1. fetch all students from the repository</a:t>
            </a:r>
            <a:endParaRPr sz="1100"/>
          </a:p>
          <a:p>
            <a:pPr indent="-3238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○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2. apply filters (name, email, active)</a:t>
            </a:r>
            <a:endParaRPr sz="1100"/>
          </a:p>
          <a:p>
            <a:pPr indent="-3238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○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3. apply sorting</a:t>
            </a:r>
            <a:endParaRPr sz="1100"/>
          </a:p>
          <a:p>
            <a:pPr indent="-3238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○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4. apply pagination</a:t>
            </a:r>
            <a:endParaRPr sz="1100"/>
          </a:p>
          <a:p>
            <a:pPr indent="-17145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Pagination must run after filtering and sorting, otherwise results change across pages.</a:t>
            </a:r>
            <a:endParaRPr b="0" i="0" sz="1500" u="none" cap="none" strike="noStrike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n" sz="15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Preventing surprises with filters</a:t>
            </a:r>
            <a:endParaRPr sz="1500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Empty filter values behave like filter not provided.</a:t>
            </a:r>
            <a:endParaRPr sz="1100">
              <a:solidFill>
                <a:schemeClr val="dk1"/>
              </a:solidFill>
            </a:endParaRPr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</a:pPr>
            <a:r>
              <a:rPr lang="en" sz="15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name= behaves like no name filter</a:t>
            </a:r>
            <a:endParaRPr sz="11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Case-insensitive matching prevents confusing results.</a:t>
            </a:r>
            <a:endParaRPr sz="1100">
              <a:solidFill>
                <a:schemeClr val="dk1"/>
              </a:solidFill>
            </a:endParaRPr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</a:pPr>
            <a:r>
              <a:rPr lang="en" sz="15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email=GMAIL.COM matches rahul.das@gmail.com</a:t>
            </a:r>
            <a:endParaRPr sz="11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Trimming spaces prevents accidental mismatches.</a:t>
            </a:r>
            <a:endParaRPr sz="1500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Calibri"/>
              <a:buChar char="■"/>
            </a:pPr>
            <a:r>
              <a:rPr lang="en" sz="15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name=  riya   behaves like name=riya</a:t>
            </a:r>
            <a:endParaRPr sz="1500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1"/>
          <p:cNvSpPr txBox="1"/>
          <p:nvPr/>
        </p:nvSpPr>
        <p:spPr>
          <a:xfrm>
            <a:off x="514350" y="240030"/>
            <a:ext cx="82296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Quick check</a:t>
            </a:r>
            <a:endParaRPr sz="1100"/>
          </a:p>
        </p:txBody>
      </p:sp>
      <p:sp>
        <p:nvSpPr>
          <p:cNvPr id="245" name="Google Shape;245;p41"/>
          <p:cNvSpPr txBox="1"/>
          <p:nvPr/>
        </p:nvSpPr>
        <p:spPr>
          <a:xfrm>
            <a:off x="617220" y="822960"/>
            <a:ext cx="8023860" cy="5829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Which request applies two filters at the same time?</a:t>
            </a:r>
            <a:endParaRPr sz="1100"/>
          </a:p>
        </p:txBody>
      </p:sp>
      <p:sp>
        <p:nvSpPr>
          <p:cNvPr id="246" name="Google Shape;246;p41"/>
          <p:cNvSpPr txBox="1"/>
          <p:nvPr/>
        </p:nvSpPr>
        <p:spPr>
          <a:xfrm>
            <a:off x="617220" y="1577340"/>
            <a:ext cx="802386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1) GET /students?name=riya&amp;email=gmail.com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2) GET /students?name=riya&amp;page=1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3) GET /students?page=1&amp;size=5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4) GET /students?sortBy=name&amp;sortDir=asc</a:t>
            </a:r>
            <a:endParaRPr sz="1100"/>
          </a:p>
        </p:txBody>
      </p:sp>
      <p:sp>
        <p:nvSpPr>
          <p:cNvPr id="247" name="Google Shape;247;p41"/>
          <p:cNvSpPr txBox="1"/>
          <p:nvPr/>
        </p:nvSpPr>
        <p:spPr>
          <a:xfrm>
            <a:off x="617220" y="3531870"/>
            <a:ext cx="80238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Answer: 1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Why: name and email are filter parameters. The others are pagination or sorting inputs.</a:t>
            </a:r>
            <a:endParaRPr sz="11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2"/>
          <p:cNvSpPr txBox="1"/>
          <p:nvPr/>
        </p:nvSpPr>
        <p:spPr>
          <a:xfrm>
            <a:off x="514350" y="240030"/>
            <a:ext cx="82296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Why pagination exists in real APIs</a:t>
            </a:r>
            <a:endParaRPr sz="1100"/>
          </a:p>
        </p:txBody>
      </p:sp>
      <p:sp>
        <p:nvSpPr>
          <p:cNvPr id="253" name="Google Shape;253;p42"/>
          <p:cNvSpPr txBox="1"/>
          <p:nvPr/>
        </p:nvSpPr>
        <p:spPr>
          <a:xfrm>
            <a:off x="617220" y="857250"/>
            <a:ext cx="8023860" cy="40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17145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Without pagination, GET /students can return too many items.</a:t>
            </a:r>
            <a:endParaRPr sz="1100"/>
          </a:p>
          <a:p>
            <a:pPr indent="-17145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That causes slow responses and heavy network usage.</a:t>
            </a:r>
            <a:endParaRPr sz="1100"/>
          </a:p>
          <a:p>
            <a:pPr indent="-17145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Client screens can become slow or hard to render.</a:t>
            </a:r>
            <a:endParaRPr sz="1100"/>
          </a:p>
          <a:p>
            <a:pPr indent="-17145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Pagination returns results in pages so clients can fetch only what they need.</a:t>
            </a:r>
            <a:endParaRPr sz="1100"/>
          </a:p>
        </p:txBody>
      </p:sp>
      <p:pic>
        <p:nvPicPr>
          <p:cNvPr id="254" name="Google Shape;254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8525" y="2751754"/>
            <a:ext cx="5759899" cy="167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3"/>
          <p:cNvSpPr txBox="1"/>
          <p:nvPr/>
        </p:nvSpPr>
        <p:spPr>
          <a:xfrm>
            <a:off x="617220" y="857250"/>
            <a:ext cx="8023800" cy="19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17145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1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page</a:t>
            </a: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chooses which page of results to return.</a:t>
            </a:r>
            <a:endParaRPr sz="1100"/>
          </a:p>
          <a:p>
            <a:pPr indent="-171450" lvl="1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0-based, so page=0 is the first page</a:t>
            </a:r>
            <a:endParaRPr sz="1100"/>
          </a:p>
          <a:p>
            <a:pPr indent="-17145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1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size</a:t>
            </a: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chooses how many items appear in one page.</a:t>
            </a:r>
            <a:endParaRPr sz="1100"/>
          </a:p>
          <a:p>
            <a:pPr indent="-17145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Example</a:t>
            </a:r>
            <a:endParaRPr sz="1100"/>
          </a:p>
          <a:p>
            <a:pPr indent="-171450" lvl="1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GET /students?page=1&amp;size=5</a:t>
            </a:r>
            <a:endParaRPr sz="1100"/>
          </a:p>
          <a:p>
            <a:pPr indent="-171450" lvl="1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returns the second page with 5 items</a:t>
            </a:r>
            <a:endParaRPr b="0" i="0" sz="1500" u="none" cap="none" strike="noStrike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n" sz="15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Note: the keys, page &amp; size, are simply standard query parameters. These keys may not be used in all </a:t>
            </a:r>
            <a:r>
              <a:rPr lang="en" sz="15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applications</a:t>
            </a:r>
            <a:r>
              <a:rPr lang="en" sz="15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500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43"/>
          <p:cNvSpPr txBox="1"/>
          <p:nvPr/>
        </p:nvSpPr>
        <p:spPr>
          <a:xfrm>
            <a:off x="514350" y="240030"/>
            <a:ext cx="82296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Pagination parameters</a:t>
            </a:r>
            <a:endParaRPr sz="11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4"/>
          <p:cNvSpPr txBox="1"/>
          <p:nvPr/>
        </p:nvSpPr>
        <p:spPr>
          <a:xfrm>
            <a:off x="514350" y="240030"/>
            <a:ext cx="82296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How page and size map to indexes</a:t>
            </a:r>
            <a:endParaRPr sz="1100"/>
          </a:p>
        </p:txBody>
      </p:sp>
      <p:sp>
        <p:nvSpPr>
          <p:cNvPr id="266" name="Google Shape;266;p44"/>
          <p:cNvSpPr txBox="1"/>
          <p:nvPr/>
        </p:nvSpPr>
        <p:spPr>
          <a:xfrm>
            <a:off x="617220" y="857250"/>
            <a:ext cx="8023860" cy="40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17145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Pagination is a slice of the final list after filtering and sorting.</a:t>
            </a:r>
            <a:endParaRPr sz="1100"/>
          </a:p>
          <a:p>
            <a:pPr indent="-17145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Start index is page * size.</a:t>
            </a:r>
            <a:endParaRPr sz="1100"/>
          </a:p>
          <a:p>
            <a:pPr indent="-17145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End index is start + size.</a:t>
            </a:r>
            <a:endParaRPr sz="1100"/>
          </a:p>
          <a:p>
            <a:pPr indent="-17145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Returned items are indexes start to end - 1.</a:t>
            </a:r>
            <a:endParaRPr sz="1100"/>
          </a:p>
          <a:p>
            <a:pPr indent="-17145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Example</a:t>
            </a:r>
            <a:endParaRPr sz="1100"/>
          </a:p>
          <a:p>
            <a:pPr indent="-171450" lvl="1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page = 2, size = 5</a:t>
            </a:r>
            <a:endParaRPr sz="1100"/>
          </a:p>
          <a:p>
            <a:pPr indent="-171450" lvl="1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start = 10, end = 15</a:t>
            </a:r>
            <a:endParaRPr sz="1100"/>
          </a:p>
          <a:p>
            <a:pPr indent="-171450" lvl="1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returns indexes 10 to 14</a:t>
            </a:r>
            <a:endParaRPr sz="11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5"/>
          <p:cNvSpPr txBox="1"/>
          <p:nvPr/>
        </p:nvSpPr>
        <p:spPr>
          <a:xfrm>
            <a:off x="514350" y="240030"/>
            <a:ext cx="82296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Out-of-range pages and response shape</a:t>
            </a:r>
            <a:endParaRPr sz="1100"/>
          </a:p>
        </p:txBody>
      </p:sp>
      <p:sp>
        <p:nvSpPr>
          <p:cNvPr id="272" name="Google Shape;272;p45"/>
          <p:cNvSpPr txBox="1"/>
          <p:nvPr/>
        </p:nvSpPr>
        <p:spPr>
          <a:xfrm>
            <a:off x="617220" y="857250"/>
            <a:ext cx="802386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17145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If the client asks for a page beyond the total matched items, return an empty list and keep metadata consistent.</a:t>
            </a:r>
            <a:endParaRPr sz="1100"/>
          </a:p>
          <a:p>
            <a:pPr indent="-17145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 page response includes items, page, size, and total so client UI logic stays simple.</a:t>
            </a:r>
            <a:endParaRPr sz="1100"/>
          </a:p>
        </p:txBody>
      </p:sp>
      <p:sp>
        <p:nvSpPr>
          <p:cNvPr id="273" name="Google Shape;273;p45"/>
          <p:cNvSpPr/>
          <p:nvPr/>
        </p:nvSpPr>
        <p:spPr>
          <a:xfrm>
            <a:off x="617250" y="2023105"/>
            <a:ext cx="8023800" cy="1296000"/>
          </a:xfrm>
          <a:prstGeom prst="roundRect">
            <a:avLst>
              <a:gd fmla="val 16667" name="adj"/>
            </a:avLst>
          </a:prstGeom>
          <a:solidFill>
            <a:srgbClr val="F3F5F7"/>
          </a:solidFill>
          <a:ln cap="flat" cmpd="sng" w="9525">
            <a:solidFill>
              <a:srgbClr val="F3F5F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45"/>
          <p:cNvSpPr txBox="1"/>
          <p:nvPr/>
        </p:nvSpPr>
        <p:spPr>
          <a:xfrm>
            <a:off x="754410" y="2069954"/>
            <a:ext cx="7749600" cy="10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"items": [],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"page": 3,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"size": 5,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"total": 12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1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6"/>
          <p:cNvSpPr txBox="1"/>
          <p:nvPr/>
        </p:nvSpPr>
        <p:spPr>
          <a:xfrm>
            <a:off x="514350" y="240030"/>
            <a:ext cx="82296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Quick check</a:t>
            </a:r>
            <a:endParaRPr sz="1100"/>
          </a:p>
        </p:txBody>
      </p:sp>
      <p:sp>
        <p:nvSpPr>
          <p:cNvPr id="280" name="Google Shape;280;p46"/>
          <p:cNvSpPr txBox="1"/>
          <p:nvPr/>
        </p:nvSpPr>
        <p:spPr>
          <a:xfrm>
            <a:off x="617220" y="822960"/>
            <a:ext cx="8023860" cy="5829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If the filtered list has 20 items and the request is page=1&amp;size=5, which indexes are returned?</a:t>
            </a:r>
            <a:endParaRPr sz="1100"/>
          </a:p>
        </p:txBody>
      </p:sp>
      <p:sp>
        <p:nvSpPr>
          <p:cNvPr id="281" name="Google Shape;281;p46"/>
          <p:cNvSpPr txBox="1"/>
          <p:nvPr/>
        </p:nvSpPr>
        <p:spPr>
          <a:xfrm>
            <a:off x="617220" y="1577340"/>
            <a:ext cx="802386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1) 0 to 4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2) 5 to 9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3) 10 to 14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4) 15 to 19</a:t>
            </a:r>
            <a:endParaRPr sz="1100"/>
          </a:p>
        </p:txBody>
      </p:sp>
      <p:sp>
        <p:nvSpPr>
          <p:cNvPr id="282" name="Google Shape;282;p46"/>
          <p:cNvSpPr txBox="1"/>
          <p:nvPr/>
        </p:nvSpPr>
        <p:spPr>
          <a:xfrm>
            <a:off x="617220" y="3531870"/>
            <a:ext cx="80238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Answer: 2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Why: start is 1 * 5 = 5, so the response returns indexes 5 to 9.</a:t>
            </a:r>
            <a:endParaRPr sz="11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B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7"/>
          <p:cNvSpPr txBox="1"/>
          <p:nvPr/>
        </p:nvSpPr>
        <p:spPr>
          <a:xfrm>
            <a:off x="0" y="1988820"/>
            <a:ext cx="9141714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Sorting and full pipeline</a:t>
            </a:r>
            <a:endParaRPr sz="11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8"/>
          <p:cNvSpPr txBox="1"/>
          <p:nvPr/>
        </p:nvSpPr>
        <p:spPr>
          <a:xfrm>
            <a:off x="514350" y="240030"/>
            <a:ext cx="82296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Sorting in list APIs</a:t>
            </a:r>
            <a:endParaRPr sz="1100"/>
          </a:p>
        </p:txBody>
      </p:sp>
      <p:sp>
        <p:nvSpPr>
          <p:cNvPr id="293" name="Google Shape;293;p48"/>
          <p:cNvSpPr txBox="1"/>
          <p:nvPr/>
        </p:nvSpPr>
        <p:spPr>
          <a:xfrm>
            <a:off x="617220" y="857250"/>
            <a:ext cx="8023800" cy="14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17145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1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Sorting</a:t>
            </a: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controls the order of items in a list response.</a:t>
            </a:r>
            <a:endParaRPr sz="1100"/>
          </a:p>
          <a:p>
            <a:pPr indent="-17145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Sorting does not change which students are included. It only changes the sequence.</a:t>
            </a:r>
            <a:endParaRPr sz="1100"/>
          </a:p>
          <a:p>
            <a:pPr indent="-17145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Sorting is applied after filtering and before pagination.</a:t>
            </a:r>
            <a:endParaRPr sz="1100"/>
          </a:p>
          <a:p>
            <a:pPr indent="-171450" lvl="1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filtering decides what stays</a:t>
            </a:r>
            <a:endParaRPr sz="1100"/>
          </a:p>
          <a:p>
            <a:pPr indent="-171450" lvl="1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sorting decides the order</a:t>
            </a:r>
            <a:endParaRPr sz="1100"/>
          </a:p>
          <a:p>
            <a:pPr indent="-171450" lvl="1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pagination slices the ordered list</a:t>
            </a:r>
            <a:endParaRPr sz="11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9"/>
          <p:cNvSpPr txBox="1"/>
          <p:nvPr/>
        </p:nvSpPr>
        <p:spPr>
          <a:xfrm>
            <a:off x="514350" y="240030"/>
            <a:ext cx="82296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Sorting inputs for this API</a:t>
            </a:r>
            <a:endParaRPr sz="1100"/>
          </a:p>
        </p:txBody>
      </p:sp>
      <p:sp>
        <p:nvSpPr>
          <p:cNvPr id="299" name="Google Shape;299;p49"/>
          <p:cNvSpPr txBox="1"/>
          <p:nvPr/>
        </p:nvSpPr>
        <p:spPr>
          <a:xfrm>
            <a:off x="617220" y="857250"/>
            <a:ext cx="8023860" cy="40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17145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This API uses two query parameters for sorting.</a:t>
            </a:r>
            <a:endParaRPr sz="1100"/>
          </a:p>
          <a:p>
            <a:pPr indent="-171450" lvl="1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sortBy chooses the field to sort on</a:t>
            </a:r>
            <a:endParaRPr sz="1100"/>
          </a:p>
          <a:p>
            <a:pPr indent="-171450" lvl="1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sortDir chooses the direction</a:t>
            </a:r>
            <a:endParaRPr sz="1100"/>
          </a:p>
          <a:p>
            <a:pPr indent="-17145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Allowed values in this lecture</a:t>
            </a:r>
            <a:endParaRPr sz="1100"/>
          </a:p>
          <a:p>
            <a:pPr indent="-171450" lvl="1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sortBy can be name or email</a:t>
            </a:r>
            <a:endParaRPr sz="1100"/>
          </a:p>
          <a:p>
            <a:pPr indent="-171450" lvl="1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sortDir can be asc or desc</a:t>
            </a:r>
            <a:endParaRPr sz="1100"/>
          </a:p>
          <a:p>
            <a:pPr indent="-17145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Defaults if missing</a:t>
            </a:r>
            <a:endParaRPr sz="1100"/>
          </a:p>
          <a:p>
            <a:pPr indent="-171450" lvl="1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sortBy=name</a:t>
            </a:r>
            <a:endParaRPr sz="1100"/>
          </a:p>
          <a:p>
            <a:pPr indent="-171450" lvl="1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sortDir=asc</a:t>
            </a:r>
            <a:endParaRPr sz="1100"/>
          </a:p>
          <a:p>
            <a:pPr indent="-17145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Unsupported values are rejected as a client error.</a:t>
            </a:r>
            <a:endParaRPr sz="1100"/>
          </a:p>
          <a:p>
            <a:pPr indent="-171450" lvl="1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return 400 Bad Request with allowed values in the message</a:t>
            </a:r>
            <a:endParaRPr sz="1100"/>
          </a:p>
          <a:p>
            <a:pPr indent="-17145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Examples</a:t>
            </a:r>
            <a:endParaRPr sz="1100"/>
          </a:p>
          <a:p>
            <a:pPr indent="-171450" lvl="1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GET /students?sortBy=name&amp;sortDir=asc</a:t>
            </a:r>
            <a:endParaRPr sz="1100"/>
          </a:p>
          <a:p>
            <a:pPr indent="-171450" lvl="1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GET /students?sortBy=email&amp;sortDir=desc</a:t>
            </a:r>
            <a:endParaRPr sz="11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50"/>
          <p:cNvSpPr txBox="1"/>
          <p:nvPr/>
        </p:nvSpPr>
        <p:spPr>
          <a:xfrm>
            <a:off x="514350" y="240030"/>
            <a:ext cx="82296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Quick check</a:t>
            </a:r>
            <a:endParaRPr sz="1100"/>
          </a:p>
        </p:txBody>
      </p:sp>
      <p:sp>
        <p:nvSpPr>
          <p:cNvPr id="305" name="Google Shape;305;p50"/>
          <p:cNvSpPr txBox="1"/>
          <p:nvPr/>
        </p:nvSpPr>
        <p:spPr>
          <a:xfrm>
            <a:off x="617220" y="822960"/>
            <a:ext cx="8023860" cy="5829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Which request sorts students by email in descending order?</a:t>
            </a:r>
            <a:endParaRPr sz="1100"/>
          </a:p>
        </p:txBody>
      </p:sp>
      <p:sp>
        <p:nvSpPr>
          <p:cNvPr id="306" name="Google Shape;306;p50"/>
          <p:cNvSpPr txBox="1"/>
          <p:nvPr/>
        </p:nvSpPr>
        <p:spPr>
          <a:xfrm>
            <a:off x="617220" y="1577340"/>
            <a:ext cx="802386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1) GET /students?sortBy=email&amp;sortDir=desc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2) GET /students?sortBy=desc&amp;sortDir=email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3) GET /students?sortBy=email&amp;sortDir=asc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4) GET /students?email=desc</a:t>
            </a:r>
            <a:endParaRPr sz="1100"/>
          </a:p>
        </p:txBody>
      </p:sp>
      <p:sp>
        <p:nvSpPr>
          <p:cNvPr id="307" name="Google Shape;307;p50"/>
          <p:cNvSpPr txBox="1"/>
          <p:nvPr/>
        </p:nvSpPr>
        <p:spPr>
          <a:xfrm>
            <a:off x="617220" y="3531870"/>
            <a:ext cx="8023860" cy="106299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Answer: 1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Why: sortBy chooses the field and sortDir chooses the direction.</a:t>
            </a:r>
            <a:endParaRPr sz="11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51"/>
          <p:cNvSpPr txBox="1"/>
          <p:nvPr/>
        </p:nvSpPr>
        <p:spPr>
          <a:xfrm>
            <a:off x="514350" y="240030"/>
            <a:ext cx="82296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Contract for GET /students</a:t>
            </a:r>
            <a:endParaRPr sz="1100"/>
          </a:p>
        </p:txBody>
      </p:sp>
      <p:sp>
        <p:nvSpPr>
          <p:cNvPr id="313" name="Google Shape;313;p51"/>
          <p:cNvSpPr txBox="1"/>
          <p:nvPr/>
        </p:nvSpPr>
        <p:spPr>
          <a:xfrm>
            <a:off x="617220" y="857250"/>
            <a:ext cx="8023860" cy="40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17145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Endpoint</a:t>
            </a:r>
            <a:endParaRPr sz="1100"/>
          </a:p>
          <a:p>
            <a:pPr indent="-171450" lvl="1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GET /students</a:t>
            </a:r>
            <a:endParaRPr sz="1100"/>
          </a:p>
          <a:p>
            <a:pPr indent="-17145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Optional filters</a:t>
            </a:r>
            <a:endParaRPr sz="1100"/>
          </a:p>
          <a:p>
            <a:pPr indent="-171450" lvl="1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name</a:t>
            </a:r>
            <a:endParaRPr sz="1100"/>
          </a:p>
          <a:p>
            <a:pPr indent="-171450" lvl="1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email</a:t>
            </a:r>
            <a:endParaRPr sz="1100"/>
          </a:p>
          <a:p>
            <a:pPr indent="-171450" lvl="1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active</a:t>
            </a:r>
            <a:endParaRPr sz="1100"/>
          </a:p>
          <a:p>
            <a:pPr indent="-17145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Optional sorting</a:t>
            </a:r>
            <a:endParaRPr sz="1100"/>
          </a:p>
          <a:p>
            <a:pPr indent="-171450" lvl="1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sortBy</a:t>
            </a:r>
            <a:endParaRPr sz="1100"/>
          </a:p>
          <a:p>
            <a:pPr indent="-171450" lvl="1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sortDir</a:t>
            </a:r>
            <a:endParaRPr sz="1100"/>
          </a:p>
          <a:p>
            <a:pPr indent="-17145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Optional pagination</a:t>
            </a:r>
            <a:endParaRPr sz="1100"/>
          </a:p>
          <a:p>
            <a:pPr indent="-171450" lvl="1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page</a:t>
            </a:r>
            <a:endParaRPr sz="1100"/>
          </a:p>
          <a:p>
            <a:pPr indent="-171450" lvl="1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size</a:t>
            </a:r>
            <a:endParaRPr sz="1100"/>
          </a:p>
          <a:p>
            <a:pPr indent="-17145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All of these are query parameters because they modify how the list is returned.</a:t>
            </a:r>
            <a:endParaRPr sz="11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52"/>
          <p:cNvSpPr txBox="1"/>
          <p:nvPr/>
        </p:nvSpPr>
        <p:spPr>
          <a:xfrm>
            <a:off x="514350" y="240030"/>
            <a:ext cx="82296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Processing order with one full example</a:t>
            </a:r>
            <a:endParaRPr sz="1100"/>
          </a:p>
        </p:txBody>
      </p:sp>
      <p:sp>
        <p:nvSpPr>
          <p:cNvPr id="319" name="Google Shape;319;p52"/>
          <p:cNvSpPr txBox="1"/>
          <p:nvPr/>
        </p:nvSpPr>
        <p:spPr>
          <a:xfrm>
            <a:off x="617220" y="857250"/>
            <a:ext cx="802386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17145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Pipeline</a:t>
            </a:r>
            <a:endParaRPr sz="1100"/>
          </a:p>
          <a:p>
            <a:pPr indent="-171450" lvl="1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start with all students</a:t>
            </a:r>
            <a:endParaRPr sz="1100"/>
          </a:p>
          <a:p>
            <a:pPr indent="-171450" lvl="1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apply filters</a:t>
            </a:r>
            <a:endParaRPr sz="1100"/>
          </a:p>
          <a:p>
            <a:pPr indent="-171450" lvl="1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apply sorting</a:t>
            </a:r>
            <a:endParaRPr sz="1100"/>
          </a:p>
          <a:p>
            <a:pPr indent="-171450" lvl="1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apply pagination</a:t>
            </a:r>
            <a:endParaRPr sz="1100"/>
          </a:p>
          <a:p>
            <a:pPr indent="-17145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Meaning</a:t>
            </a:r>
            <a:endParaRPr sz="1100"/>
          </a:p>
          <a:p>
            <a:pPr indent="-171450" lvl="1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filter to students whose name contains riya</a:t>
            </a:r>
            <a:endParaRPr sz="1100"/>
          </a:p>
          <a:p>
            <a:pPr indent="-171450" lvl="1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keep only students with active=true</a:t>
            </a:r>
            <a:endParaRPr sz="1100"/>
          </a:p>
          <a:p>
            <a:pPr indent="-171450" lvl="1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order by email ascending</a:t>
            </a:r>
            <a:endParaRPr sz="1100"/>
          </a:p>
          <a:p>
            <a:pPr indent="-171450" lvl="1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return the first page with 3 students</a:t>
            </a:r>
            <a:endParaRPr sz="1100"/>
          </a:p>
        </p:txBody>
      </p:sp>
      <p:sp>
        <p:nvSpPr>
          <p:cNvPr id="320" name="Google Shape;320;p52"/>
          <p:cNvSpPr/>
          <p:nvPr/>
        </p:nvSpPr>
        <p:spPr>
          <a:xfrm>
            <a:off x="560100" y="3468576"/>
            <a:ext cx="8023800" cy="1338900"/>
          </a:xfrm>
          <a:prstGeom prst="roundRect">
            <a:avLst>
              <a:gd fmla="val 16667" name="adj"/>
            </a:avLst>
          </a:prstGeom>
          <a:solidFill>
            <a:srgbClr val="F3F5F7"/>
          </a:solidFill>
          <a:ln cap="flat" cmpd="sng" w="9525">
            <a:solidFill>
              <a:srgbClr val="F3F5F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52"/>
          <p:cNvSpPr txBox="1"/>
          <p:nvPr/>
        </p:nvSpPr>
        <p:spPr>
          <a:xfrm>
            <a:off x="697260" y="3516975"/>
            <a:ext cx="77496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GET /students?name=riya&amp;active=true&amp;sortBy=email&amp;sortDir=asc&amp;page=0&amp;size=3 HTTP/1.1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Host: localhost:8080</a:t>
            </a:r>
            <a:endParaRPr sz="11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53"/>
          <p:cNvSpPr txBox="1"/>
          <p:nvPr/>
        </p:nvSpPr>
        <p:spPr>
          <a:xfrm>
            <a:off x="514350" y="240030"/>
            <a:ext cx="82296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Quick check</a:t>
            </a:r>
            <a:endParaRPr sz="1100"/>
          </a:p>
        </p:txBody>
      </p:sp>
      <p:sp>
        <p:nvSpPr>
          <p:cNvPr id="327" name="Google Shape;327;p53"/>
          <p:cNvSpPr txBox="1"/>
          <p:nvPr/>
        </p:nvSpPr>
        <p:spPr>
          <a:xfrm>
            <a:off x="617220" y="822960"/>
            <a:ext cx="8023860" cy="5829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Which part of the query controls the page size?</a:t>
            </a:r>
            <a:endParaRPr sz="1100"/>
          </a:p>
        </p:txBody>
      </p:sp>
      <p:sp>
        <p:nvSpPr>
          <p:cNvPr id="328" name="Google Shape;328;p53"/>
          <p:cNvSpPr txBox="1"/>
          <p:nvPr/>
        </p:nvSpPr>
        <p:spPr>
          <a:xfrm>
            <a:off x="617220" y="1577340"/>
            <a:ext cx="802386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1) page=0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2) size=3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3) sortDir=asc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4) name=riya</a:t>
            </a:r>
            <a:endParaRPr sz="1100"/>
          </a:p>
        </p:txBody>
      </p:sp>
      <p:sp>
        <p:nvSpPr>
          <p:cNvPr id="329" name="Google Shape;329;p53"/>
          <p:cNvSpPr txBox="1"/>
          <p:nvPr/>
        </p:nvSpPr>
        <p:spPr>
          <a:xfrm>
            <a:off x="617220" y="3531870"/>
            <a:ext cx="80238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Answer: 2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Why: size controls how many items appear in a page.</a:t>
            </a:r>
            <a:endParaRPr sz="11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B"/>
        </a:solid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4"/>
          <p:cNvSpPr txBox="1"/>
          <p:nvPr/>
        </p:nvSpPr>
        <p:spPr>
          <a:xfrm>
            <a:off x="0" y="1988820"/>
            <a:ext cx="91416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Live </a:t>
            </a:r>
            <a:r>
              <a:rPr b="1" lang="en" sz="3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1" i="0" lang="en" sz="3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oding</a:t>
            </a:r>
            <a:endParaRPr sz="11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55"/>
          <p:cNvSpPr txBox="1"/>
          <p:nvPr/>
        </p:nvSpPr>
        <p:spPr>
          <a:xfrm>
            <a:off x="514350" y="240030"/>
            <a:ext cx="82296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Live coding objective</a:t>
            </a:r>
            <a:endParaRPr sz="1100"/>
          </a:p>
        </p:txBody>
      </p:sp>
      <p:sp>
        <p:nvSpPr>
          <p:cNvPr id="340" name="Google Shape;340;p55"/>
          <p:cNvSpPr txBox="1"/>
          <p:nvPr/>
        </p:nvSpPr>
        <p:spPr>
          <a:xfrm>
            <a:off x="617220" y="857250"/>
            <a:ext cx="8023800" cy="23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17145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Objective</a:t>
            </a:r>
            <a:endParaRPr sz="1100"/>
          </a:p>
          <a:p>
            <a:pPr indent="-171450" lvl="1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extend GET /students to support filtering, sorting, and pagination using query parameters</a:t>
            </a:r>
            <a:endParaRPr sz="1100"/>
          </a:p>
          <a:p>
            <a:pPr indent="-17145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Why do we keep search on GET /students endpoint?</a:t>
            </a:r>
            <a:endParaRPr sz="1100"/>
          </a:p>
          <a:p>
            <a:pPr indent="-171450" lvl="1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en" sz="15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It</a:t>
            </a: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is still the same resource collection</a:t>
            </a:r>
            <a:endParaRPr sz="1100"/>
          </a:p>
          <a:p>
            <a:pPr indent="-171450" lvl="1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query parameters modify how the list is returned, not what the resource is</a:t>
            </a:r>
            <a:endParaRPr sz="1100"/>
          </a:p>
          <a:p>
            <a:pPr indent="-17145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By the end, the client can call</a:t>
            </a:r>
            <a:endParaRPr sz="1100"/>
          </a:p>
          <a:p>
            <a:pPr indent="-171450" lvl="1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en" sz="15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GET /students -&gt; List of ALL students</a:t>
            </a:r>
            <a:endParaRPr sz="1500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1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GET /students?name=riya&amp;email=gmail.com&amp;active=true</a:t>
            </a:r>
            <a:endParaRPr sz="1100"/>
          </a:p>
          <a:p>
            <a:pPr indent="-171450" lvl="1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GET /students?sortBy=name&amp;sortDir=asc</a:t>
            </a:r>
            <a:endParaRPr sz="1100"/>
          </a:p>
          <a:p>
            <a:pPr indent="-171450" lvl="1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GET /students?page=1&amp;size=5</a:t>
            </a:r>
            <a:endParaRPr sz="11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56"/>
          <p:cNvSpPr txBox="1"/>
          <p:nvPr/>
        </p:nvSpPr>
        <p:spPr>
          <a:xfrm>
            <a:off x="514350" y="240030"/>
            <a:ext cx="82296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Changes to be made </a:t>
            </a:r>
            <a:r>
              <a:rPr b="1" i="0" lang="en" sz="26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during live coding</a:t>
            </a:r>
            <a:endParaRPr sz="1100"/>
          </a:p>
        </p:txBody>
      </p:sp>
      <p:sp>
        <p:nvSpPr>
          <p:cNvPr id="346" name="Google Shape;346;p56"/>
          <p:cNvSpPr txBox="1"/>
          <p:nvPr/>
        </p:nvSpPr>
        <p:spPr>
          <a:xfrm>
            <a:off x="617220" y="857250"/>
            <a:ext cx="8023860" cy="40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17145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endParaRPr sz="1100"/>
          </a:p>
          <a:p>
            <a:pPr indent="-171450" lvl="1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add active field to Student</a:t>
            </a:r>
            <a:endParaRPr sz="1100"/>
          </a:p>
          <a:p>
            <a:pPr indent="-17145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Startup seed data</a:t>
            </a:r>
            <a:endParaRPr sz="1100"/>
          </a:p>
          <a:p>
            <a:pPr indent="-171450" lvl="1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seed enough students so pagination is meaningful</a:t>
            </a:r>
            <a:endParaRPr sz="1100"/>
          </a:p>
          <a:p>
            <a:pPr indent="-17145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Controller</a:t>
            </a:r>
            <a:endParaRPr sz="1100"/>
          </a:p>
          <a:p>
            <a:pPr indent="-171450" lvl="1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read optional query parameters using @RequestParam</a:t>
            </a:r>
            <a:endParaRPr sz="1100"/>
          </a:p>
          <a:p>
            <a:pPr indent="-17145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Service</a:t>
            </a:r>
            <a:endParaRPr sz="1100"/>
          </a:p>
          <a:p>
            <a:pPr indent="-171450" lvl="1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implement the pipeline and matching rules</a:t>
            </a:r>
            <a:endParaRPr sz="1100"/>
          </a:p>
          <a:p>
            <a:pPr indent="-171450" lvl="1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apply defaults for sorting and pagination</a:t>
            </a:r>
            <a:endParaRPr sz="1100"/>
          </a:p>
          <a:p>
            <a:pPr indent="-171450" lvl="1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reject unsupported sortBy and sortDir with 400 Bad Request</a:t>
            </a:r>
            <a:endParaRPr sz="11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57"/>
          <p:cNvSpPr txBox="1"/>
          <p:nvPr/>
        </p:nvSpPr>
        <p:spPr>
          <a:xfrm>
            <a:off x="514350" y="240030"/>
            <a:ext cx="82296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Response shape for the list endpoint</a:t>
            </a:r>
            <a:endParaRPr sz="1100"/>
          </a:p>
        </p:txBody>
      </p:sp>
      <p:sp>
        <p:nvSpPr>
          <p:cNvPr id="352" name="Google Shape;352;p57"/>
          <p:cNvSpPr txBox="1"/>
          <p:nvPr/>
        </p:nvSpPr>
        <p:spPr>
          <a:xfrm>
            <a:off x="617220" y="857250"/>
            <a:ext cx="802386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17145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Return both items and metadata so clients can build a UI.</a:t>
            </a:r>
            <a:endParaRPr sz="1100"/>
          </a:p>
          <a:p>
            <a:pPr indent="-17145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This API returns items, page, size, and total.</a:t>
            </a:r>
            <a:endParaRPr sz="1100"/>
          </a:p>
        </p:txBody>
      </p:sp>
      <p:sp>
        <p:nvSpPr>
          <p:cNvPr id="353" name="Google Shape;353;p57"/>
          <p:cNvSpPr/>
          <p:nvPr/>
        </p:nvSpPr>
        <p:spPr>
          <a:xfrm>
            <a:off x="617225" y="2023104"/>
            <a:ext cx="8023800" cy="1724400"/>
          </a:xfrm>
          <a:prstGeom prst="roundRect">
            <a:avLst>
              <a:gd fmla="val 16667" name="adj"/>
            </a:avLst>
          </a:prstGeom>
          <a:solidFill>
            <a:srgbClr val="F3F5F7"/>
          </a:solidFill>
          <a:ln cap="flat" cmpd="sng" w="9525">
            <a:solidFill>
              <a:srgbClr val="F3F5F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57"/>
          <p:cNvSpPr txBox="1"/>
          <p:nvPr/>
        </p:nvSpPr>
        <p:spPr>
          <a:xfrm>
            <a:off x="754385" y="2085433"/>
            <a:ext cx="7749600" cy="14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"items": [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{ "id": 1, "name": "Riya Menon", "email": "riya.menon@gmail.com", "active": true }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],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"page": 0,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"size": 3,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"total": 12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1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B"/>
        </a:solid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58"/>
          <p:cNvSpPr txBox="1"/>
          <p:nvPr/>
        </p:nvSpPr>
        <p:spPr>
          <a:xfrm>
            <a:off x="0" y="1988820"/>
            <a:ext cx="91416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Coding A</a:t>
            </a:r>
            <a:r>
              <a:rPr b="1" i="0" lang="en" sz="3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ctivity</a:t>
            </a:r>
            <a:endParaRPr sz="11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59"/>
          <p:cNvSpPr txBox="1"/>
          <p:nvPr/>
        </p:nvSpPr>
        <p:spPr>
          <a:xfrm>
            <a:off x="514350" y="240030"/>
            <a:ext cx="82296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1" i="0" lang="en" sz="26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ctivity</a:t>
            </a:r>
            <a:endParaRPr sz="1100"/>
          </a:p>
        </p:txBody>
      </p:sp>
      <p:sp>
        <p:nvSpPr>
          <p:cNvPr id="365" name="Google Shape;365;p59"/>
          <p:cNvSpPr txBox="1"/>
          <p:nvPr/>
        </p:nvSpPr>
        <p:spPr>
          <a:xfrm>
            <a:off x="617220" y="857250"/>
            <a:ext cx="8023860" cy="40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17145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Follow the same contract used in the demo.</a:t>
            </a:r>
            <a:endParaRPr sz="1100"/>
          </a:p>
          <a:p>
            <a:pPr indent="-17145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Do not create a new endpoint like /students/search.</a:t>
            </a:r>
            <a:endParaRPr sz="1100"/>
          </a:p>
          <a:p>
            <a:pPr indent="-17145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Keep behavior predictable.</a:t>
            </a:r>
            <a:endParaRPr sz="1100"/>
          </a:p>
          <a:p>
            <a:pPr indent="-171450" lvl="1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filters use AND logic</a:t>
            </a:r>
            <a:endParaRPr sz="1100"/>
          </a:p>
          <a:p>
            <a:pPr indent="-171450" lvl="1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sorting runs before pagination</a:t>
            </a:r>
            <a:endParaRPr sz="1100"/>
          </a:p>
          <a:p>
            <a:pPr indent="-171450" lvl="1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pagination runs after filtering and sorting</a:t>
            </a:r>
            <a:endParaRPr sz="11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B"/>
        </a:solid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60"/>
          <p:cNvSpPr txBox="1"/>
          <p:nvPr/>
        </p:nvSpPr>
        <p:spPr>
          <a:xfrm>
            <a:off x="0" y="1988820"/>
            <a:ext cx="91416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That’s a wrap!</a:t>
            </a:r>
            <a:endParaRPr sz="11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61"/>
          <p:cNvSpPr txBox="1"/>
          <p:nvPr/>
        </p:nvSpPr>
        <p:spPr>
          <a:xfrm>
            <a:off x="514350" y="240030"/>
            <a:ext cx="82296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rgbClr val="0B1F3B"/>
                </a:solidFill>
                <a:latin typeface="Calibri"/>
                <a:ea typeface="Calibri"/>
                <a:cs typeface="Calibri"/>
                <a:sym typeface="Calibri"/>
              </a:rPr>
              <a:t>Key takeaways</a:t>
            </a:r>
            <a:endParaRPr sz="1100"/>
          </a:p>
        </p:txBody>
      </p:sp>
      <p:sp>
        <p:nvSpPr>
          <p:cNvPr id="376" name="Google Shape;376;p61"/>
          <p:cNvSpPr txBox="1"/>
          <p:nvPr/>
        </p:nvSpPr>
        <p:spPr>
          <a:xfrm>
            <a:off x="617220" y="857250"/>
            <a:ext cx="8023860" cy="40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17145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Search is a filtered list endpoint with clear matching rules.</a:t>
            </a:r>
            <a:endParaRPr sz="1100"/>
          </a:p>
          <a:p>
            <a:pPr indent="-17145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Filters belong in query parameters because they modify list results.</a:t>
            </a:r>
            <a:endParaRPr sz="1100"/>
          </a:p>
          <a:p>
            <a:pPr indent="-17145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Pagination uses page and size to return predictable slices.</a:t>
            </a:r>
            <a:endParaRPr sz="1100"/>
          </a:p>
          <a:p>
            <a:pPr indent="-17145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Sorting uses sortBy and sortDir to control order, not membership.</a:t>
            </a:r>
            <a:endParaRPr sz="1100"/>
          </a:p>
          <a:p>
            <a:pPr indent="-17145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 predictable pipeline makes APIs easier to use and easier to debug.</a:t>
            </a:r>
            <a:endParaRPr sz="1100"/>
          </a:p>
          <a:p>
            <a:pPr indent="-171450" lvl="1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filter</a:t>
            </a:r>
            <a:endParaRPr sz="1100"/>
          </a:p>
          <a:p>
            <a:pPr indent="-171450" lvl="1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sort</a:t>
            </a:r>
            <a:endParaRPr sz="1100"/>
          </a:p>
          <a:p>
            <a:pPr indent="-171450" lvl="1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paginate</a:t>
            </a: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